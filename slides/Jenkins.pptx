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12"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13"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xfrm>
            <a:off x="23558499" y="1246072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Curved, white arches on a gray reflective floor"/>
          <p:cNvSpPr/>
          <p:nvPr>
            <p:ph type="pic" idx="21"/>
          </p:nvPr>
        </p:nvSpPr>
        <p:spPr>
          <a:xfrm>
            <a:off x="-76200" y="-558800"/>
            <a:ext cx="24574500" cy="14839510"/>
          </a:xfrm>
          <a:prstGeom prst="rect">
            <a:avLst/>
          </a:prstGeom>
        </p:spPr>
        <p:txBody>
          <a:bodyPr lIns="91439" tIns="45719" rIns="91439" bIns="45719">
            <a:noAutofit/>
          </a:bodyPr>
          <a:lstStyle/>
          <a:p>
            <a:pPr/>
          </a:p>
        </p:txBody>
      </p:sp>
      <p:sp>
        <p:nvSpPr>
          <p:cNvPr id="22" name="Author and Date"/>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23"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24"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Low angle view of a tall building with mirrored glass windows"/>
          <p:cNvSpPr/>
          <p:nvPr>
            <p:ph type="pic" idx="21"/>
          </p:nvPr>
        </p:nvSpPr>
        <p:spPr>
          <a:xfrm>
            <a:off x="8140700" y="-1"/>
            <a:ext cx="20574000" cy="13716001"/>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43" name="Slide Title"/>
          <p:cNvSpPr txBox="1"/>
          <p:nvPr>
            <p:ph type="title" hasCustomPrompt="1"/>
          </p:nvPr>
        </p:nvSpPr>
        <p:spPr>
          <a:prstGeom prst="rect">
            <a:avLst/>
          </a:prstGeom>
        </p:spPr>
        <p:txBody>
          <a:bodyPr/>
          <a:lstStyle/>
          <a:p>
            <a:pPr/>
            <a:r>
              <a:t>Slide 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Partial view of a ceiling with wood paneling"/>
          <p:cNvSpPr/>
          <p:nvPr>
            <p:ph type="pic" idx="21"/>
          </p:nvPr>
        </p:nvSpPr>
        <p:spPr>
          <a:xfrm>
            <a:off x="9588500" y="-482600"/>
            <a:ext cx="21513800" cy="14300200"/>
          </a:xfrm>
          <a:prstGeom prst="rect">
            <a:avLst/>
          </a:prstGeom>
        </p:spPr>
        <p:txBody>
          <a:bodyPr lIns="91439" tIns="45719" rIns="91439" bIns="45719">
            <a:noAutofit/>
          </a:bodyPr>
          <a:lstStyle/>
          <a:p>
            <a:pPr/>
          </a:p>
        </p:txBody>
      </p:sp>
      <p:sp>
        <p:nvSpPr>
          <p:cNvPr id="61" name="Slide Subtitle"/>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72" name="Slide Title"/>
          <p:cNvSpPr txBox="1"/>
          <p:nvPr>
            <p:ph type="title" hasCustomPrompt="1"/>
          </p:nvPr>
        </p:nvSpPr>
        <p:spPr>
          <a:prstGeom prst="rect">
            <a:avLst/>
          </a:prstGeom>
        </p:spPr>
        <p:txBody>
          <a:bodyPr/>
          <a:lstStyle/>
          <a:p>
            <a:pPr/>
            <a:r>
              <a:t>Slide 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3911600"/>
            <a:ext cx="21971004" cy="4648200"/>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100" name="Slide Title"/>
          <p:cNvSpPr txBox="1"/>
          <p:nvPr>
            <p:ph type="title" hasCustomPrompt="1"/>
          </p:nvPr>
        </p:nvSpPr>
        <p:spPr>
          <a:prstGeom prst="rect">
            <a:avLst/>
          </a:prstGeom>
        </p:spPr>
        <p:txBody>
          <a:bodyPr/>
          <a:lstStyle/>
          <a:p>
            <a:pPr/>
            <a:r>
              <a:t>Slide 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Agenda Subtitle</a:t>
            </a:r>
          </a:p>
        </p:txBody>
      </p:sp>
      <p:sp>
        <p:nvSpPr>
          <p:cNvPr id="109" name="Body Level One…"/>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Agenda Topics</a:t>
            </a:r>
          </a:p>
          <a:p>
            <a:pPr lvl="1"/>
            <a:r>
              <a:t/>
            </a:r>
          </a:p>
          <a:p>
            <a:pPr lvl="2"/>
            <a:r>
              <a:t/>
            </a:r>
          </a:p>
          <a:p>
            <a:pPr lvl="3"/>
            <a:r>
              <a:t/>
            </a:r>
          </a:p>
          <a:p>
            <a:pPr lvl="4"/>
            <a:r>
              <a:t/>
            </a:r>
          </a:p>
        </p:txBody>
      </p:sp>
      <p:sp>
        <p:nvSpPr>
          <p:cNvPr id="110" name="Agenda Title"/>
          <p:cNvSpPr txBox="1"/>
          <p:nvPr>
            <p:ph type="title" hasCustomPrompt="1"/>
          </p:nvPr>
        </p:nvSpPr>
        <p:spPr>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6" name="Body Level One…"/>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orridor of an open-air stone building under a pink and purple sky"/>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Black and white close-up of a curved roof"/>
          <p:cNvSpPr/>
          <p:nvPr>
            <p:ph type="pic" sz="half" idx="22"/>
          </p:nvPr>
        </p:nvSpPr>
        <p:spPr>
          <a:xfrm>
            <a:off x="6577500" y="3632200"/>
            <a:ext cx="11228999" cy="6451600"/>
          </a:xfrm>
          <a:prstGeom prst="rect">
            <a:avLst/>
          </a:prstGeom>
        </p:spPr>
        <p:txBody>
          <a:bodyPr lIns="91439" tIns="45719" rIns="91439" bIns="45719">
            <a:noAutofit/>
          </a:bodyPr>
          <a:lstStyle/>
          <a:p>
            <a:pPr/>
          </a:p>
        </p:txBody>
      </p:sp>
      <p:sp>
        <p:nvSpPr>
          <p:cNvPr id="146" name="Low angle view of a metal spiral staircase"/>
          <p:cNvSpPr/>
          <p:nvPr>
            <p:ph type="pic" sz="quarter" idx="23"/>
          </p:nvPr>
        </p:nvSpPr>
        <p:spPr>
          <a:xfrm>
            <a:off x="14643100" y="3632200"/>
            <a:ext cx="9677400" cy="64516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Futuristic, white corridor with shadows"/>
          <p:cNvSpPr/>
          <p:nvPr>
            <p:ph type="pic" idx="21"/>
          </p:nvPr>
        </p:nvSpPr>
        <p:spPr>
          <a:xfrm>
            <a:off x="-38100" y="-520700"/>
            <a:ext cx="24447500" cy="1476331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Qingsong Zhang, Ph. D.                                          9/24/2025"/>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Qingsong Zhang, Ph. D.                                          9/24/2025</a:t>
            </a:r>
          </a:p>
        </p:txBody>
      </p:sp>
      <p:sp>
        <p:nvSpPr>
          <p:cNvPr id="172" name="Presentation Subtitle"/>
          <p:cNvSpPr txBox="1"/>
          <p:nvPr>
            <p:ph type="subTitle" sz="quarter" idx="1"/>
          </p:nvPr>
        </p:nvSpPr>
        <p:spPr>
          <a:prstGeom prst="rect">
            <a:avLst/>
          </a:prstGeom>
        </p:spPr>
        <p:txBody>
          <a:bodyPr/>
          <a:lstStyle/>
          <a:p>
            <a:pPr/>
          </a:p>
        </p:txBody>
      </p:sp>
      <p:sp>
        <p:nvSpPr>
          <p:cNvPr id="173" name="Jenkins and Pipeline"/>
          <p:cNvSpPr txBox="1"/>
          <p:nvPr>
            <p:ph type="ctrTitle"/>
          </p:nvPr>
        </p:nvSpPr>
        <p:spPr>
          <a:prstGeom prst="rect">
            <a:avLst/>
          </a:prstGeom>
        </p:spPr>
        <p:txBody>
          <a:bodyPr/>
          <a:lstStyle/>
          <a:p>
            <a:pPr/>
            <a:r>
              <a:t>Jenkins and Pipeline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Core Concepts"/>
          <p:cNvSpPr txBox="1"/>
          <p:nvPr>
            <p:ph type="title"/>
          </p:nvPr>
        </p:nvSpPr>
        <p:spPr>
          <a:prstGeom prst="rect">
            <a:avLst/>
          </a:prstGeom>
        </p:spPr>
        <p:txBody>
          <a:bodyPr/>
          <a:lstStyle>
            <a:lvl1pPr defTabSz="2316479">
              <a:defRPr spc="-95" sz="9500"/>
            </a:lvl1pPr>
          </a:lstStyle>
          <a:p>
            <a:pPr/>
            <a:r>
              <a:t>Core Concepts</a:t>
            </a:r>
          </a:p>
        </p:txBody>
      </p:sp>
      <p:sp>
        <p:nvSpPr>
          <p:cNvPr id="176" name="Jenkins Controller (Formerly Master)…"/>
          <p:cNvSpPr txBox="1"/>
          <p:nvPr>
            <p:ph type="body" idx="1"/>
          </p:nvPr>
        </p:nvSpPr>
        <p:spPr>
          <a:prstGeom prst="rect">
            <a:avLst/>
          </a:prstGeom>
        </p:spPr>
        <p:txBody>
          <a:bodyPr/>
          <a:lstStyle/>
          <a:p>
            <a:pPr marL="310895" indent="-310895" defTabSz="241808">
              <a:spcBef>
                <a:spcPts val="3100"/>
              </a:spcBef>
              <a:defRPr sz="2720"/>
            </a:pPr>
            <a:r>
              <a:t>Jenkins </a:t>
            </a:r>
            <a:r>
              <a:rPr b="1">
                <a:latin typeface="Graphik"/>
                <a:ea typeface="Graphik"/>
                <a:cs typeface="Graphik"/>
                <a:sym typeface="Graphik"/>
              </a:rPr>
              <a:t>Controller</a:t>
            </a:r>
            <a:r>
              <a:t> (Formerly Master)</a:t>
            </a:r>
          </a:p>
          <a:p>
            <a:pPr lvl="1" marL="0" indent="310895" defTabSz="241808">
              <a:spcBef>
                <a:spcPts val="3100"/>
              </a:spcBef>
              <a:buSzTx/>
              <a:buNone/>
              <a:defRPr sz="2720"/>
            </a:pPr>
            <a:r>
              <a:t>The Jenkins Controller serves as the central system for managing a Jenkins instance, often referred to as its "heart." It oversees agents and their connections, determining the tasks they should perform. Additionally, the Jenkins Controller loads plugins and ensures that jobs run in the correct sequence.</a:t>
            </a:r>
          </a:p>
          <a:p>
            <a:pPr marL="310895" indent="-310895" defTabSz="241808">
              <a:spcBef>
                <a:spcPts val="3100"/>
              </a:spcBef>
              <a:defRPr sz="2720"/>
            </a:pPr>
            <a:r>
              <a:t>Jenkins </a:t>
            </a:r>
            <a:r>
              <a:rPr b="1">
                <a:latin typeface="Graphik"/>
                <a:ea typeface="Graphik"/>
                <a:cs typeface="Graphik"/>
                <a:sym typeface="Graphik"/>
              </a:rPr>
              <a:t>Agent</a:t>
            </a:r>
            <a:r>
              <a:t> (Formerly Slave)</a:t>
            </a:r>
          </a:p>
          <a:p>
            <a:pPr lvl="1" marL="0" indent="310895" defTabSz="241808">
              <a:spcBef>
                <a:spcPts val="3100"/>
              </a:spcBef>
              <a:buSzTx/>
              <a:buNone/>
              <a:defRPr sz="2720"/>
            </a:pPr>
            <a:r>
              <a:t>Jenkins Agent is a machine that performs tasks like running scripts, executing tests, or building components, etc. These tasks are assigned by the Jenkins Controller. Each agent can have its setup, like different operating systems, software, or hardware. This helps Jenkins handle many types of tasks and work faster by spreading the load.</a:t>
            </a:r>
          </a:p>
          <a:p>
            <a:pPr lvl="1" marL="0" indent="310895" defTabSz="241808">
              <a:spcBef>
                <a:spcPts val="3100"/>
              </a:spcBef>
              <a:buSzTx/>
              <a:buNone/>
              <a:defRPr sz="2720"/>
            </a:pPr>
            <a:r>
              <a:t>There are two main types of agents:</a:t>
            </a:r>
          </a:p>
          <a:p>
            <a:pPr lvl="4" marL="954757" indent="-479777" defTabSz="241808">
              <a:spcBef>
                <a:spcPts val="3100"/>
              </a:spcBef>
              <a:buClr>
                <a:srgbClr val="273239"/>
              </a:buClr>
              <a:buFont typeface="Helvetica"/>
              <a:defRPr sz="2720"/>
            </a:pPr>
            <a:r>
              <a:rPr b="1">
                <a:latin typeface="Graphik"/>
                <a:ea typeface="Graphik"/>
                <a:cs typeface="Graphik"/>
                <a:sym typeface="Graphik"/>
              </a:rPr>
              <a:t>Permanent Agents:</a:t>
            </a:r>
            <a:r>
              <a:t> These are always ready and connected to Jenkins. They’re like dedicated workers who are always on standby.</a:t>
            </a:r>
          </a:p>
          <a:p>
            <a:pPr lvl="4" marL="954757" indent="-479777" defTabSz="241808">
              <a:spcBef>
                <a:spcPts val="3100"/>
              </a:spcBef>
              <a:buClr>
                <a:srgbClr val="273239"/>
              </a:buClr>
              <a:buFont typeface="Helvetica"/>
              <a:defRPr sz="2720"/>
            </a:pPr>
            <a:r>
              <a:rPr b="1">
                <a:latin typeface="Graphik"/>
                <a:ea typeface="Graphik"/>
                <a:cs typeface="Graphik"/>
                <a:sym typeface="Graphik"/>
              </a:rPr>
              <a:t>Ephemeral Agents:</a:t>
            </a:r>
            <a:r>
              <a:t> These are temporary. Jenkins starts them only when needed, usually in the cloud or using tools like Docker. When the job is done, they’re shut down.</a:t>
            </a:r>
          </a:p>
        </p:txBody>
      </p:sp>
      <p:pic>
        <p:nvPicPr>
          <p:cNvPr id="177" name="pasted-movie.png" descr="pasted-movie.png"/>
          <p:cNvPicPr>
            <a:picLocks noChangeAspect="1"/>
          </p:cNvPicPr>
          <p:nvPr/>
        </p:nvPicPr>
        <p:blipFill>
          <a:blip r:embed="rId2">
            <a:extLst/>
          </a:blip>
          <a:stretch>
            <a:fillRect/>
          </a:stretch>
        </p:blipFill>
        <p:spPr>
          <a:xfrm>
            <a:off x="15430264" y="502186"/>
            <a:ext cx="8626187" cy="4318478"/>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Core Concepts"/>
          <p:cNvSpPr txBox="1"/>
          <p:nvPr>
            <p:ph type="title"/>
          </p:nvPr>
        </p:nvSpPr>
        <p:spPr>
          <a:prstGeom prst="rect">
            <a:avLst/>
          </a:prstGeom>
        </p:spPr>
        <p:txBody>
          <a:bodyPr/>
          <a:lstStyle>
            <a:lvl1pPr defTabSz="2316479">
              <a:defRPr spc="-95" sz="9500"/>
            </a:lvl1pPr>
          </a:lstStyle>
          <a:p>
            <a:pPr/>
            <a:r>
              <a:t>Core Concepts</a:t>
            </a:r>
          </a:p>
        </p:txBody>
      </p:sp>
      <p:sp>
        <p:nvSpPr>
          <p:cNvPr id="180" name="3. Jenkins Node…"/>
          <p:cNvSpPr txBox="1"/>
          <p:nvPr>
            <p:ph type="body" idx="1"/>
          </p:nvPr>
        </p:nvSpPr>
        <p:spPr>
          <a:xfrm>
            <a:off x="849362" y="3139355"/>
            <a:ext cx="22328138" cy="9365161"/>
          </a:xfrm>
          <a:prstGeom prst="rect">
            <a:avLst/>
          </a:prstGeom>
        </p:spPr>
        <p:txBody>
          <a:bodyPr/>
          <a:lstStyle/>
          <a:p>
            <a:pPr marL="0" indent="0">
              <a:buSzTx/>
              <a:buNone/>
            </a:pPr>
            <a:r>
              <a:t>3. Jenkins </a:t>
            </a:r>
            <a:r>
              <a:rPr b="1">
                <a:latin typeface="Graphik"/>
                <a:ea typeface="Graphik"/>
                <a:cs typeface="Graphik"/>
                <a:sym typeface="Graphik"/>
              </a:rPr>
              <a:t>Node</a:t>
            </a:r>
          </a:p>
          <a:p>
            <a:pPr marL="0" indent="0">
              <a:buSzTx/>
              <a:buNone/>
            </a:pPr>
            <a:r>
              <a:t>A Jenkins Node is a term that is used in Jenkins 2.0 to mean any system that can run Jenkins jobs. This is mainly used in Controllers and Agents and sometimes used instead of those terms. A node is a machine that Jenkins uses to run jobs like building and testing projects. If a node isn’t performing well or its health drops below a certain threshold level, Jenkins will take that node offline to prevent any problems.</a:t>
            </a:r>
          </a:p>
          <a:p>
            <a:pPr marL="0" indent="0">
              <a:buSzTx/>
              <a:buNone/>
            </a:pPr>
            <a:r>
              <a:t>4. Jenkins </a:t>
            </a:r>
            <a:r>
              <a:rPr b="1">
                <a:latin typeface="Graphik"/>
                <a:ea typeface="Graphik"/>
                <a:cs typeface="Graphik"/>
                <a:sym typeface="Graphik"/>
              </a:rPr>
              <a:t>Job</a:t>
            </a:r>
          </a:p>
          <a:p>
            <a:pPr marL="0" indent="0">
              <a:buSzTx/>
              <a:buNone/>
            </a:pPr>
            <a:r>
              <a:t>Jenkins jobs are used to perform the work in the Jenkins system. A jenkins jobs is an automated job that you set up in jenkins to do things like build, test or deploy your code. Instead of doing these steps manually every time, Jenkins can do them for you whenever there’s a change in your code. This helps save time and reduces mistakes.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Core Concepts"/>
          <p:cNvSpPr txBox="1"/>
          <p:nvPr>
            <p:ph type="title"/>
          </p:nvPr>
        </p:nvSpPr>
        <p:spPr>
          <a:prstGeom prst="rect">
            <a:avLst/>
          </a:prstGeom>
        </p:spPr>
        <p:txBody>
          <a:bodyPr/>
          <a:lstStyle>
            <a:lvl1pPr defTabSz="2316479">
              <a:defRPr spc="-95" sz="9500"/>
            </a:lvl1pPr>
          </a:lstStyle>
          <a:p>
            <a:pPr/>
            <a:r>
              <a:t>Core Concepts</a:t>
            </a:r>
          </a:p>
        </p:txBody>
      </p:sp>
      <p:sp>
        <p:nvSpPr>
          <p:cNvPr id="183" name="5. Jenkins Plugins…"/>
          <p:cNvSpPr txBox="1"/>
          <p:nvPr>
            <p:ph type="body" idx="1"/>
          </p:nvPr>
        </p:nvSpPr>
        <p:spPr>
          <a:xfrm>
            <a:off x="849362" y="3139355"/>
            <a:ext cx="22328138" cy="9365161"/>
          </a:xfrm>
          <a:prstGeom prst="rect">
            <a:avLst/>
          </a:prstGeom>
        </p:spPr>
        <p:txBody>
          <a:bodyPr/>
          <a:lstStyle/>
          <a:p>
            <a:pPr marL="0" indent="0">
              <a:buSzTx/>
              <a:buNone/>
            </a:pPr>
            <a:r>
              <a:t>5. Jenkins </a:t>
            </a:r>
            <a:r>
              <a:rPr b="1">
                <a:latin typeface="Graphik"/>
                <a:ea typeface="Graphik"/>
                <a:cs typeface="Graphik"/>
                <a:sym typeface="Graphik"/>
              </a:rPr>
              <a:t>Plugins</a:t>
            </a:r>
          </a:p>
          <a:p>
            <a:pPr marL="0" indent="0">
              <a:buSzTx/>
              <a:buNone/>
            </a:pPr>
            <a:r>
              <a:t>Jenkins provides </a:t>
            </a:r>
            <a:r>
              <a:rPr b="1">
                <a:latin typeface="Graphik"/>
                <a:ea typeface="Graphik"/>
                <a:cs typeface="Graphik"/>
                <a:sym typeface="Graphik"/>
              </a:rPr>
              <a:t>2000+</a:t>
            </a:r>
            <a:r>
              <a:t> community contributed Jenkins plugins which developers can use for building, deploying and automating any project. You can connect to GitHub, Slack, AWS, Docker, and more—instantly amplifying Jenkins’ power.. You can easily install and upgrade these available plugins easily from the Jenkins Dashboard.</a:t>
            </a:r>
          </a:p>
          <a:p>
            <a:pPr marL="0" indent="0">
              <a:buSzTx/>
              <a:buNone/>
            </a:pPr>
            <a:r>
              <a:t>6. Jenkins </a:t>
            </a:r>
            <a:r>
              <a:rPr b="1">
                <a:latin typeface="Graphik"/>
                <a:ea typeface="Graphik"/>
                <a:cs typeface="Graphik"/>
                <a:sym typeface="Graphik"/>
              </a:rPr>
              <a:t>Pipeline</a:t>
            </a:r>
          </a:p>
          <a:p>
            <a:pPr marL="0" indent="0">
              <a:buSzTx/>
              <a:buNone/>
            </a:pPr>
            <a:r>
              <a:t>DevOps professionals mostly work with pipelines because pipelines can automate the processes like building, testing, and deploying the application. With the help of Continuous Integration / Continuous Deployment (CI/CD) Pipeline scripts we can automate the whole process which will increase productivity and save lots of time for the organization and can deliver quality applications to the end users.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Jenkins Pipeline"/>
          <p:cNvSpPr txBox="1"/>
          <p:nvPr>
            <p:ph type="title"/>
          </p:nvPr>
        </p:nvSpPr>
        <p:spPr>
          <a:prstGeom prst="rect">
            <a:avLst/>
          </a:prstGeom>
        </p:spPr>
        <p:txBody>
          <a:bodyPr/>
          <a:lstStyle>
            <a:lvl1pPr defTabSz="2316479">
              <a:defRPr spc="-95" sz="9500"/>
            </a:lvl1pPr>
          </a:lstStyle>
          <a:p>
            <a:pPr/>
            <a:r>
              <a:t>Jenkins Pipeline</a:t>
            </a:r>
          </a:p>
        </p:txBody>
      </p:sp>
      <p:sp>
        <p:nvSpPr>
          <p:cNvPr id="186" name="Code: Developers write source code and manage it in Git repositories, which track all changes. Webhooks notify Jenkins on new commits, triggering build pipelines automatically.…"/>
          <p:cNvSpPr txBox="1"/>
          <p:nvPr>
            <p:ph type="body" idx="1"/>
          </p:nvPr>
        </p:nvSpPr>
        <p:spPr>
          <a:prstGeom prst="rect">
            <a:avLst/>
          </a:prstGeom>
        </p:spPr>
        <p:txBody>
          <a:bodyPr/>
          <a:lstStyle/>
          <a:p>
            <a:pPr marL="659299" indent="-550333" defTabSz="277368">
              <a:spcBef>
                <a:spcPts val="3600"/>
              </a:spcBef>
              <a:buClr>
                <a:srgbClr val="273239"/>
              </a:buClr>
              <a:buFont typeface="Helvetica"/>
              <a:defRPr sz="3120"/>
            </a:pPr>
            <a:r>
              <a:rPr b="1">
                <a:latin typeface="Graphik"/>
                <a:ea typeface="Graphik"/>
                <a:cs typeface="Graphik"/>
                <a:sym typeface="Graphik"/>
              </a:rPr>
              <a:t>Code:</a:t>
            </a:r>
            <a:r>
              <a:t> Developers write source code and manage it in Git repositories, which track all changes. Webhooks notify Jenkins on new commits, triggering build pipelines automatically.</a:t>
            </a:r>
          </a:p>
          <a:p>
            <a:pPr marL="659299" indent="-550333" defTabSz="277368">
              <a:spcBef>
                <a:spcPts val="3600"/>
              </a:spcBef>
              <a:buClr>
                <a:srgbClr val="273239"/>
              </a:buClr>
              <a:buFont typeface="Helvetica"/>
              <a:defRPr sz="3120"/>
            </a:pPr>
            <a:r>
              <a:rPr b="1">
                <a:latin typeface="Graphik"/>
                <a:ea typeface="Graphik"/>
                <a:cs typeface="Graphik"/>
                <a:sym typeface="Graphik"/>
              </a:rPr>
              <a:t>Build:</a:t>
            </a:r>
            <a:r>
              <a:t> Jenkins fetches the latest code and uses build tools like Maven, Gradle, or MSBuild via plugins to compile, package (JARs, WARs, containers), and run unit tests and code checks.</a:t>
            </a:r>
          </a:p>
          <a:p>
            <a:pPr marL="659299" indent="-550333" defTabSz="277368">
              <a:spcBef>
                <a:spcPts val="3600"/>
              </a:spcBef>
              <a:buClr>
                <a:srgbClr val="273239"/>
              </a:buClr>
              <a:buFont typeface="Helvetica"/>
              <a:defRPr sz="3120"/>
            </a:pPr>
            <a:r>
              <a:rPr b="1">
                <a:latin typeface="Graphik"/>
                <a:ea typeface="Graphik"/>
                <a:cs typeface="Graphik"/>
                <a:sym typeface="Graphik"/>
              </a:rPr>
              <a:t>Test:</a:t>
            </a:r>
            <a:r>
              <a:t> Jenkins coordinates different test types (UI, performance, security, compatibility) using frameworks like Selenium, providing detailed reports, logs, and metrics.</a:t>
            </a:r>
          </a:p>
          <a:p>
            <a:pPr marL="659299" indent="-550333" defTabSz="277368">
              <a:spcBef>
                <a:spcPts val="3600"/>
              </a:spcBef>
              <a:buClr>
                <a:srgbClr val="273239"/>
              </a:buClr>
              <a:buFont typeface="Helvetica"/>
              <a:defRPr sz="3120"/>
            </a:pPr>
            <a:r>
              <a:rPr b="1">
                <a:latin typeface="Graphik"/>
                <a:ea typeface="Graphik"/>
                <a:cs typeface="Graphik"/>
                <a:sym typeface="Graphik"/>
              </a:rPr>
              <a:t>Signing/Security:</a:t>
            </a:r>
            <a:r>
              <a:t> Builds undergo code signing, vulnerability scans, and manual approvals to enforce governance and security policies.</a:t>
            </a:r>
          </a:p>
          <a:p>
            <a:pPr marL="659299" indent="-550333" defTabSz="277368">
              <a:spcBef>
                <a:spcPts val="3600"/>
              </a:spcBef>
              <a:buClr>
                <a:srgbClr val="273239"/>
              </a:buClr>
              <a:buFont typeface="Helvetica"/>
              <a:defRPr sz="3120"/>
            </a:pPr>
            <a:r>
              <a:rPr b="1">
                <a:latin typeface="Graphik"/>
                <a:ea typeface="Graphik"/>
                <a:cs typeface="Graphik"/>
                <a:sym typeface="Graphik"/>
              </a:rPr>
              <a:t>Deploy:</a:t>
            </a:r>
            <a:r>
              <a:t> Jenkins deploys validated code to testing, staging, or production using containers or cloud platforms like AWS, Azure, Kubernetes, and Docker.</a:t>
            </a:r>
          </a:p>
          <a:p>
            <a:pPr marL="659299" indent="-550333" defTabSz="277368">
              <a:spcBef>
                <a:spcPts val="3600"/>
              </a:spcBef>
              <a:buClr>
                <a:srgbClr val="273239"/>
              </a:buClr>
              <a:buFont typeface="Helvetica"/>
              <a:defRPr sz="3120"/>
            </a:pPr>
            <a:r>
              <a:rPr b="1">
                <a:latin typeface="Graphik"/>
                <a:ea typeface="Graphik"/>
                <a:cs typeface="Graphik"/>
                <a:sym typeface="Graphik"/>
              </a:rPr>
              <a:t>Inform:</a:t>
            </a:r>
            <a:r>
              <a:t> Teams get automated email updates and dashboards showing pipeline status, logs, and reports.</a:t>
            </a:r>
          </a:p>
        </p:txBody>
      </p:sp>
      <p:pic>
        <p:nvPicPr>
          <p:cNvPr id="187" name="pasted-movie.png" descr="pasted-movie.png"/>
          <p:cNvPicPr>
            <a:picLocks noChangeAspect="1"/>
          </p:cNvPicPr>
          <p:nvPr/>
        </p:nvPicPr>
        <p:blipFill>
          <a:blip r:embed="rId2">
            <a:extLst/>
          </a:blip>
          <a:stretch>
            <a:fillRect/>
          </a:stretch>
        </p:blipFill>
        <p:spPr>
          <a:xfrm>
            <a:off x="16221225" y="-24717"/>
            <a:ext cx="8137751" cy="4068877"/>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Create Jenkins Job"/>
          <p:cNvSpPr txBox="1"/>
          <p:nvPr>
            <p:ph type="title"/>
          </p:nvPr>
        </p:nvSpPr>
        <p:spPr>
          <a:prstGeom prst="rect">
            <a:avLst/>
          </a:prstGeom>
        </p:spPr>
        <p:txBody>
          <a:bodyPr/>
          <a:lstStyle>
            <a:lvl1pPr defTabSz="2316479">
              <a:defRPr spc="-95" sz="9500"/>
            </a:lvl1pPr>
          </a:lstStyle>
          <a:p>
            <a:pPr/>
            <a:r>
              <a:t>Create Jenkins Job</a:t>
            </a:r>
          </a:p>
        </p:txBody>
      </p:sp>
      <p:sp>
        <p:nvSpPr>
          <p:cNvPr id="190" name="First, you'll want to log into your Jenkins dashboard. This is like entering a workshop full of tools to help build your software. Once inside, click &quot;New Item&quot; to start a new project. Give your job a nice name - maybe after your favorite movie character"/>
          <p:cNvSpPr txBox="1"/>
          <p:nvPr>
            <p:ph type="body" idx="1"/>
          </p:nvPr>
        </p:nvSpPr>
        <p:spPr>
          <a:prstGeom prst="rect">
            <a:avLst/>
          </a:prstGeom>
        </p:spPr>
        <p:txBody>
          <a:bodyPr/>
          <a:lstStyle/>
          <a:p>
            <a:pPr marL="0" indent="0" defTabSz="337820">
              <a:spcBef>
                <a:spcPts val="4400"/>
              </a:spcBef>
              <a:buSzTx/>
              <a:buNone/>
              <a:defRPr sz="3800"/>
            </a:pPr>
            <a:r>
              <a:t>First, you'll want to log into your Jenkins dashboard. This is like entering a workshop full of tools to help build your software. Once inside, click "New Item" to start a new project. Give your job a nice name - maybe after your favorite movie character or snack food.</a:t>
            </a:r>
          </a:p>
          <a:p>
            <a:pPr marL="0" indent="0" defTabSz="337820">
              <a:spcBef>
                <a:spcPts val="4400"/>
              </a:spcBef>
              <a:buSzTx/>
              <a:buNone/>
              <a:defRPr sz="3800"/>
            </a:pPr>
            <a:r>
              <a:t>Than picking your job type. There are a few options here that do different things:</a:t>
            </a:r>
          </a:p>
          <a:p>
            <a:pPr marL="802992" indent="-670277" defTabSz="337820">
              <a:spcBef>
                <a:spcPts val="4400"/>
              </a:spcBef>
              <a:buClr>
                <a:srgbClr val="273239"/>
              </a:buClr>
              <a:buFont typeface="Helvetica"/>
              <a:defRPr sz="3800"/>
            </a:pPr>
            <a:r>
              <a:rPr b="1">
                <a:latin typeface="Graphik"/>
                <a:ea typeface="Graphik"/>
                <a:cs typeface="Graphik"/>
                <a:sym typeface="Graphik"/>
              </a:rPr>
              <a:t>Freestyle project - </a:t>
            </a:r>
            <a:r>
              <a:t>Lets you run custom commands and scripts. Like following a recipe step-by-step.</a:t>
            </a:r>
          </a:p>
          <a:p>
            <a:pPr marL="802992" indent="-670277" defTabSz="337820">
              <a:spcBef>
                <a:spcPts val="4400"/>
              </a:spcBef>
              <a:buClr>
                <a:srgbClr val="273239"/>
              </a:buClr>
              <a:buFont typeface="Helvetica"/>
              <a:defRPr sz="3800"/>
            </a:pPr>
            <a:r>
              <a:rPr b="1">
                <a:latin typeface="Graphik"/>
                <a:ea typeface="Graphik"/>
                <a:cs typeface="Graphik"/>
                <a:sym typeface="Graphik"/>
              </a:rPr>
              <a:t>Pipeline -</a:t>
            </a:r>
            <a:r>
              <a:t> For stacking tasks together into an automated workflow. Kind of like an assembly line!</a:t>
            </a:r>
          </a:p>
          <a:p>
            <a:pPr marL="802992" indent="-670277" defTabSz="337820">
              <a:spcBef>
                <a:spcPts val="4400"/>
              </a:spcBef>
              <a:buClr>
                <a:srgbClr val="273239"/>
              </a:buClr>
              <a:buFont typeface="Helvetica"/>
              <a:defRPr sz="3800"/>
            </a:pPr>
            <a:r>
              <a:rPr b="1">
                <a:latin typeface="Graphik"/>
                <a:ea typeface="Graphik"/>
                <a:cs typeface="Graphik"/>
                <a:sym typeface="Graphik"/>
              </a:rPr>
              <a:t>Multibranch Pipeline - </a:t>
            </a:r>
            <a:r>
              <a:t>When you have code in multiple branches, and want to build from each. Like building several models of a toy from different molds.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Job Options"/>
          <p:cNvSpPr txBox="1"/>
          <p:nvPr>
            <p:ph type="title"/>
          </p:nvPr>
        </p:nvSpPr>
        <p:spPr>
          <a:prstGeom prst="rect">
            <a:avLst/>
          </a:prstGeom>
        </p:spPr>
        <p:txBody>
          <a:bodyPr/>
          <a:lstStyle>
            <a:lvl1pPr defTabSz="2316479">
              <a:defRPr spc="-95" sz="9500"/>
            </a:lvl1pPr>
          </a:lstStyle>
          <a:p>
            <a:pPr/>
            <a:r>
              <a:t>Job Options</a:t>
            </a:r>
          </a:p>
        </p:txBody>
      </p:sp>
      <p:sp>
        <p:nvSpPr>
          <p:cNvPr id="193" name="There are a few more types too, but these cover most use cases. Next, configure your job's settings. Here you can pick and choose what you want it to do - things like:…"/>
          <p:cNvSpPr txBox="1"/>
          <p:nvPr>
            <p:ph type="body" idx="1"/>
          </p:nvPr>
        </p:nvSpPr>
        <p:spPr>
          <a:prstGeom prst="rect">
            <a:avLst/>
          </a:prstGeom>
        </p:spPr>
        <p:txBody>
          <a:bodyPr/>
          <a:lstStyle/>
          <a:p>
            <a:pPr marL="0" indent="0" defTabSz="320039">
              <a:spcBef>
                <a:spcPts val="4200"/>
              </a:spcBef>
              <a:buSzTx/>
              <a:buNone/>
              <a:defRPr sz="3600"/>
            </a:pPr>
            <a:r>
              <a:t>There are a few more types too, but these cover most use cases. Next, configure your job's settings. Here you can pick and choose what you want it to do - things like:</a:t>
            </a:r>
          </a:p>
          <a:p>
            <a:pPr marL="760730" indent="-635000" defTabSz="320039">
              <a:spcBef>
                <a:spcPts val="4200"/>
              </a:spcBef>
              <a:buClr>
                <a:srgbClr val="273239"/>
              </a:buClr>
              <a:buFont typeface="Helvetica"/>
              <a:defRPr sz="3600"/>
            </a:pPr>
            <a:r>
              <a:t>Fetch code from version control</a:t>
            </a:r>
          </a:p>
          <a:p>
            <a:pPr marL="760730" indent="-635000" defTabSz="320039">
              <a:spcBef>
                <a:spcPts val="4200"/>
              </a:spcBef>
              <a:buClr>
                <a:srgbClr val="273239"/>
              </a:buClr>
              <a:buFont typeface="Helvetica"/>
              <a:defRPr sz="3600"/>
            </a:pPr>
            <a:r>
              <a:t>Build and compile the code</a:t>
            </a:r>
          </a:p>
          <a:p>
            <a:pPr marL="760730" indent="-635000" defTabSz="320039">
              <a:spcBef>
                <a:spcPts val="4200"/>
              </a:spcBef>
              <a:buClr>
                <a:srgbClr val="273239"/>
              </a:buClr>
              <a:buFont typeface="Helvetica"/>
              <a:defRPr sz="3600"/>
            </a:pPr>
            <a:r>
              <a:t>Run automated tests</a:t>
            </a:r>
          </a:p>
          <a:p>
            <a:pPr marL="760730" indent="-635000" defTabSz="320039">
              <a:spcBef>
                <a:spcPts val="4200"/>
              </a:spcBef>
              <a:buClr>
                <a:srgbClr val="273239"/>
              </a:buClr>
              <a:buFont typeface="Helvetica"/>
              <a:defRPr sz="3600"/>
            </a:pPr>
            <a:r>
              <a:t>Deploy it somewhere after a successful build</a:t>
            </a:r>
          </a:p>
          <a:p>
            <a:pPr marL="0" indent="0" defTabSz="320039">
              <a:spcBef>
                <a:spcPts val="4200"/>
              </a:spcBef>
              <a:buSzTx/>
              <a:buNone/>
              <a:defRPr sz="3600"/>
            </a:pPr>
            <a:r>
              <a:t>The options are endless. Set up your job just as you need it. Finally, save your job and click "Build Now" to test it out. Watch your job execute each step and voila - you've successfully automated the build process!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5" name="pasted-movie.png" descr="pasted-movie.png"/>
          <p:cNvPicPr>
            <a:picLocks noChangeAspect="1"/>
          </p:cNvPicPr>
          <p:nvPr/>
        </p:nvPicPr>
        <p:blipFill>
          <a:blip r:embed="rId2">
            <a:extLst/>
          </a:blip>
          <a:stretch>
            <a:fillRect/>
          </a:stretch>
        </p:blipFill>
        <p:spPr>
          <a:xfrm>
            <a:off x="11428028" y="475698"/>
            <a:ext cx="12787577" cy="4693754"/>
          </a:xfrm>
          <a:prstGeom prst="rect">
            <a:avLst/>
          </a:prstGeom>
          <a:ln w="12700">
            <a:miter lim="400000"/>
          </a:ln>
        </p:spPr>
      </p:pic>
      <p:sp>
        <p:nvSpPr>
          <p:cNvPr id="196" name="Pipeline"/>
          <p:cNvSpPr txBox="1"/>
          <p:nvPr>
            <p:ph type="title"/>
          </p:nvPr>
        </p:nvSpPr>
        <p:spPr>
          <a:prstGeom prst="rect">
            <a:avLst/>
          </a:prstGeom>
        </p:spPr>
        <p:txBody>
          <a:bodyPr/>
          <a:lstStyle>
            <a:lvl1pPr defTabSz="2316479">
              <a:defRPr spc="-95" sz="9500"/>
            </a:lvl1pPr>
          </a:lstStyle>
          <a:p>
            <a:pPr/>
            <a:r>
              <a:t>Pipeline</a:t>
            </a:r>
          </a:p>
        </p:txBody>
      </p:sp>
      <p:sp>
        <p:nvSpPr>
          <p:cNvPr id="197" name="pipeline {…"/>
          <p:cNvSpPr txBox="1"/>
          <p:nvPr>
            <p:ph type="body" sz="half" idx="1"/>
          </p:nvPr>
        </p:nvSpPr>
        <p:spPr>
          <a:xfrm>
            <a:off x="1188972" y="2409350"/>
            <a:ext cx="9864396" cy="11305263"/>
          </a:xfrm>
          <a:prstGeom prst="rect">
            <a:avLst/>
          </a:prstGeom>
        </p:spPr>
        <p:txBody>
          <a:bodyPr/>
          <a:lstStyle/>
          <a:p>
            <a:pPr marL="0" indent="0" defTabSz="448055">
              <a:spcBef>
                <a:spcPts val="0"/>
              </a:spcBef>
              <a:buSzTx/>
              <a:buNone/>
              <a:defRPr sz="2450">
                <a:solidFill>
                  <a:srgbClr val="000000">
                    <a:alpha val="90196"/>
                  </a:srgbClr>
                </a:solidFill>
                <a:latin typeface="Courier"/>
                <a:ea typeface="Courier"/>
                <a:cs typeface="Courier"/>
                <a:sym typeface="Courier"/>
              </a:defRPr>
            </a:pPr>
            <a:r>
              <a:t>pipeline {</a:t>
            </a:r>
          </a:p>
          <a:p>
            <a:pPr marL="0" indent="0" defTabSz="448055">
              <a:spcBef>
                <a:spcPts val="0"/>
              </a:spcBef>
              <a:buSzTx/>
              <a:buNone/>
              <a:defRPr sz="2450">
                <a:solidFill>
                  <a:srgbClr val="000000">
                    <a:alpha val="90196"/>
                  </a:srgbClr>
                </a:solidFill>
                <a:latin typeface="Courier"/>
                <a:ea typeface="Courier"/>
                <a:cs typeface="Courier"/>
                <a:sym typeface="Courier"/>
              </a:defRPr>
            </a:pPr>
            <a:r>
              <a:t>  agent any</a:t>
            </a:r>
          </a:p>
          <a:p>
            <a:pPr marL="0" indent="0" defTabSz="448055">
              <a:spcBef>
                <a:spcPts val="0"/>
              </a:spcBef>
              <a:buSzTx/>
              <a:buNone/>
              <a:defRPr sz="2450">
                <a:solidFill>
                  <a:srgbClr val="000000">
                    <a:alpha val="90196"/>
                  </a:srgbClr>
                </a:solidFill>
                <a:latin typeface="Courier"/>
                <a:ea typeface="Courier"/>
                <a:cs typeface="Courier"/>
                <a:sym typeface="Courier"/>
              </a:defRPr>
            </a:pPr>
            <a:r>
              <a:t>  stages {</a:t>
            </a:r>
          </a:p>
          <a:p>
            <a:pPr marL="0" indent="0" defTabSz="448055">
              <a:spcBef>
                <a:spcPts val="0"/>
              </a:spcBef>
              <a:buSzTx/>
              <a:buNone/>
              <a:defRPr sz="2450">
                <a:solidFill>
                  <a:srgbClr val="000000">
                    <a:alpha val="90196"/>
                  </a:srgbClr>
                </a:solidFill>
                <a:latin typeface="Courier"/>
                <a:ea typeface="Courier"/>
                <a:cs typeface="Courier"/>
                <a:sym typeface="Courier"/>
              </a:defRPr>
            </a:pPr>
            <a:r>
              <a:t>    stage('Checkout') {</a:t>
            </a:r>
          </a:p>
          <a:p>
            <a:pPr marL="0" indent="0" defTabSz="448055">
              <a:spcBef>
                <a:spcPts val="0"/>
              </a:spcBef>
              <a:buSzTx/>
              <a:buNone/>
              <a:defRPr sz="2450">
                <a:solidFill>
                  <a:srgbClr val="000000">
                    <a:alpha val="90196"/>
                  </a:srgbClr>
                </a:solidFill>
                <a:latin typeface="Courier"/>
                <a:ea typeface="Courier"/>
                <a:cs typeface="Courier"/>
                <a:sym typeface="Courier"/>
              </a:defRPr>
            </a:pPr>
            <a:r>
              <a:t>      steps {</a:t>
            </a:r>
          </a:p>
          <a:p>
            <a:pPr marL="0" indent="0" defTabSz="448055">
              <a:spcBef>
                <a:spcPts val="0"/>
              </a:spcBef>
              <a:buSzTx/>
              <a:buNone/>
              <a:defRPr sz="2450">
                <a:solidFill>
                  <a:srgbClr val="000000">
                    <a:alpha val="90196"/>
                  </a:srgbClr>
                </a:solidFill>
                <a:latin typeface="Courier"/>
                <a:ea typeface="Courier"/>
                <a:cs typeface="Courier"/>
                <a:sym typeface="Courier"/>
              </a:defRPr>
            </a:pPr>
            <a:r>
              <a:t>        git 'https://github.com/org/repo'</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stage('Build') {</a:t>
            </a:r>
          </a:p>
          <a:p>
            <a:pPr marL="0" indent="0" defTabSz="448055">
              <a:spcBef>
                <a:spcPts val="0"/>
              </a:spcBef>
              <a:buSzTx/>
              <a:buNone/>
              <a:defRPr sz="2450">
                <a:solidFill>
                  <a:srgbClr val="000000">
                    <a:alpha val="90196"/>
                  </a:srgbClr>
                </a:solidFill>
                <a:latin typeface="Courier"/>
                <a:ea typeface="Courier"/>
                <a:cs typeface="Courier"/>
                <a:sym typeface="Courier"/>
              </a:defRPr>
            </a:pPr>
            <a:r>
              <a:t>      steps {</a:t>
            </a:r>
          </a:p>
          <a:p>
            <a:pPr marL="0" indent="0" defTabSz="448055">
              <a:spcBef>
                <a:spcPts val="0"/>
              </a:spcBef>
              <a:buSzTx/>
              <a:buNone/>
              <a:defRPr sz="2450">
                <a:solidFill>
                  <a:srgbClr val="000000">
                    <a:alpha val="90196"/>
                  </a:srgbClr>
                </a:solidFill>
                <a:latin typeface="Courier"/>
                <a:ea typeface="Courier"/>
                <a:cs typeface="Courier"/>
                <a:sym typeface="Courier"/>
              </a:defRPr>
            </a:pPr>
            <a:r>
              <a:t>        // compile code</a:t>
            </a:r>
          </a:p>
          <a:p>
            <a:pPr marL="0" indent="0" defTabSz="448055">
              <a:spcBef>
                <a:spcPts val="0"/>
              </a:spcBef>
              <a:buSzTx/>
              <a:buNone/>
              <a:defRPr sz="2450">
                <a:solidFill>
                  <a:srgbClr val="000000">
                    <a:alpha val="90196"/>
                  </a:srgbClr>
                </a:solidFill>
                <a:latin typeface="Courier"/>
                <a:ea typeface="Courier"/>
                <a:cs typeface="Courier"/>
                <a:sym typeface="Courier"/>
              </a:defRPr>
            </a:pPr>
            <a:r>
              <a:t>        // save build artifacts to S3 bucket</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stage('Test') {</a:t>
            </a:r>
          </a:p>
          <a:p>
            <a:pPr marL="0" indent="0" defTabSz="448055">
              <a:spcBef>
                <a:spcPts val="0"/>
              </a:spcBef>
              <a:buSzTx/>
              <a:buNone/>
              <a:defRPr sz="2450">
                <a:solidFill>
                  <a:srgbClr val="000000">
                    <a:alpha val="90196"/>
                  </a:srgbClr>
                </a:solidFill>
                <a:latin typeface="Courier"/>
                <a:ea typeface="Courier"/>
                <a:cs typeface="Courier"/>
                <a:sym typeface="Courier"/>
              </a:defRPr>
            </a:pPr>
            <a:r>
              <a:t>      steps {</a:t>
            </a:r>
          </a:p>
          <a:p>
            <a:pPr marL="0" indent="0" defTabSz="448055">
              <a:spcBef>
                <a:spcPts val="0"/>
              </a:spcBef>
              <a:buSzTx/>
              <a:buNone/>
              <a:defRPr sz="2450">
                <a:solidFill>
                  <a:srgbClr val="000000">
                    <a:alpha val="90196"/>
                  </a:srgbClr>
                </a:solidFill>
                <a:latin typeface="Courier"/>
                <a:ea typeface="Courier"/>
                <a:cs typeface="Courier"/>
                <a:sym typeface="Courier"/>
              </a:defRPr>
            </a:pPr>
            <a:r>
              <a:t>        // download artifacts from S3</a:t>
            </a:r>
          </a:p>
          <a:p>
            <a:pPr marL="0" indent="0" defTabSz="448055">
              <a:spcBef>
                <a:spcPts val="0"/>
              </a:spcBef>
              <a:buSzTx/>
              <a:buNone/>
              <a:defRPr sz="2450">
                <a:solidFill>
                  <a:srgbClr val="000000">
                    <a:alpha val="90196"/>
                  </a:srgbClr>
                </a:solidFill>
                <a:latin typeface="Courier"/>
                <a:ea typeface="Courier"/>
                <a:cs typeface="Courier"/>
                <a:sym typeface="Courier"/>
              </a:defRPr>
            </a:pPr>
            <a:r>
              <a:t>        // load test data into Postgres DB</a:t>
            </a:r>
          </a:p>
          <a:p>
            <a:pPr marL="0" indent="0" defTabSz="448055">
              <a:spcBef>
                <a:spcPts val="0"/>
              </a:spcBef>
              <a:buSzTx/>
              <a:buNone/>
              <a:defRPr sz="2450">
                <a:solidFill>
                  <a:srgbClr val="000000">
                    <a:alpha val="90196"/>
                  </a:srgbClr>
                </a:solidFill>
                <a:latin typeface="Courier"/>
                <a:ea typeface="Courier"/>
                <a:cs typeface="Courier"/>
                <a:sym typeface="Courier"/>
              </a:defRPr>
            </a:pPr>
            <a:r>
              <a:t>        // run integration tests</a:t>
            </a:r>
          </a:p>
          <a:p>
            <a:pPr marL="0" indent="0" defTabSz="448055">
              <a:spcBef>
                <a:spcPts val="0"/>
              </a:spcBef>
              <a:buSzTx/>
              <a:buNone/>
              <a:defRPr sz="2450">
                <a:solidFill>
                  <a:srgbClr val="000000">
                    <a:alpha val="90196"/>
                  </a:srgbClr>
                </a:solidFill>
                <a:latin typeface="Courier"/>
                <a:ea typeface="Courier"/>
                <a:cs typeface="Courier"/>
                <a:sym typeface="Courier"/>
              </a:defRPr>
            </a:pPr>
            <a:r>
              <a:t>        // continue only if all tests pass</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stage('Deploy') {</a:t>
            </a:r>
          </a:p>
          <a:p>
            <a:pPr marL="0" indent="0" defTabSz="448055">
              <a:spcBef>
                <a:spcPts val="0"/>
              </a:spcBef>
              <a:buSzTx/>
              <a:buNone/>
              <a:defRPr sz="2450">
                <a:solidFill>
                  <a:srgbClr val="000000">
                    <a:alpha val="90196"/>
                  </a:srgbClr>
                </a:solidFill>
                <a:latin typeface="Courier"/>
                <a:ea typeface="Courier"/>
                <a:cs typeface="Courier"/>
                <a:sym typeface="Courier"/>
              </a:defRPr>
            </a:pPr>
            <a:r>
              <a:t>      steps {</a:t>
            </a:r>
          </a:p>
          <a:p>
            <a:pPr marL="0" indent="0" defTabSz="448055">
              <a:spcBef>
                <a:spcPts val="0"/>
              </a:spcBef>
              <a:buSzTx/>
              <a:buNone/>
              <a:defRPr sz="2450">
                <a:solidFill>
                  <a:srgbClr val="000000">
                    <a:alpha val="90196"/>
                  </a:srgbClr>
                </a:solidFill>
                <a:latin typeface="Courier"/>
                <a:ea typeface="Courier"/>
                <a:cs typeface="Courier"/>
                <a:sym typeface="Courier"/>
              </a:defRPr>
            </a:pPr>
            <a:r>
              <a:t>        // download artifacts from S3</a:t>
            </a:r>
          </a:p>
          <a:p>
            <a:pPr marL="0" indent="0" defTabSz="448055">
              <a:spcBef>
                <a:spcPts val="0"/>
              </a:spcBef>
              <a:buSzTx/>
              <a:buNone/>
              <a:defRPr sz="2450">
                <a:solidFill>
                  <a:srgbClr val="000000">
                    <a:alpha val="90196"/>
                  </a:srgbClr>
                </a:solidFill>
                <a:latin typeface="Courier"/>
                <a:ea typeface="Courier"/>
                <a:cs typeface="Courier"/>
                <a:sym typeface="Courier"/>
              </a:defRPr>
            </a:pPr>
            <a:r>
              <a:t>        // deploy to Kubernetes cluster</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  }</a:t>
            </a:r>
          </a:p>
          <a:p>
            <a:pPr marL="0" indent="0" defTabSz="448055">
              <a:spcBef>
                <a:spcPts val="0"/>
              </a:spcBef>
              <a:buSzTx/>
              <a:buNone/>
              <a:defRPr sz="2450">
                <a:solidFill>
                  <a:srgbClr val="000000">
                    <a:alpha val="90196"/>
                  </a:srgbClr>
                </a:solidFill>
                <a:latin typeface="Courier"/>
                <a:ea typeface="Courier"/>
                <a:cs typeface="Courier"/>
                <a:sym typeface="Courier"/>
              </a:defRPr>
            </a:pPr>
            <a:r>
              <a:t>}</a:t>
            </a:r>
          </a:p>
        </p:txBody>
      </p:sp>
      <p:sp>
        <p:nvSpPr>
          <p:cNvPr id="198" name="Get latest code: Uses the git step to check out code from a Git repository. Provides the URL to the repo as a parameter. Clones the latest commit to the local workspace. Ensures all subsequent steps have access to the freshest source code.…"/>
          <p:cNvSpPr txBox="1"/>
          <p:nvPr/>
        </p:nvSpPr>
        <p:spPr>
          <a:xfrm>
            <a:off x="11384167" y="5852270"/>
            <a:ext cx="12600743" cy="7099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457200" indent="-317500" defTabSz="457200">
              <a:spcBef>
                <a:spcPts val="0"/>
              </a:spcBef>
              <a:buClr>
                <a:srgbClr val="273239"/>
              </a:buClr>
              <a:buSzPct val="100000"/>
              <a:buFont typeface="Helvetica"/>
              <a:buChar char="•"/>
              <a:defRPr sz="2400">
                <a:solidFill>
                  <a:srgbClr val="273239"/>
                </a:solidFill>
                <a:latin typeface="Helvetica"/>
                <a:ea typeface="Helvetica"/>
                <a:cs typeface="Helvetica"/>
                <a:sym typeface="Helvetica"/>
              </a:defRPr>
            </a:pPr>
            <a:r>
              <a:rPr b="1"/>
              <a:t>Get latest code: </a:t>
            </a:r>
            <a:r>
              <a:t>Uses the git step to check out code from a Git repository. Provides the URL to the repo as a parameter. Clones the latest commit to the local workspace. Ensures all subsequent steps have access to the freshest source code.</a:t>
            </a:r>
          </a:p>
          <a:p>
            <a:pPr defTabSz="457200">
              <a:spcBef>
                <a:spcPts val="0"/>
              </a:spcBef>
              <a:defRPr sz="2400">
                <a:solidFill>
                  <a:srgbClr val="273239"/>
                </a:solidFill>
                <a:latin typeface="Helvetica"/>
                <a:ea typeface="Helvetica"/>
                <a:cs typeface="Helvetica"/>
                <a:sym typeface="Helvetica"/>
              </a:defRPr>
            </a:pPr>
          </a:p>
          <a:p>
            <a:pPr marL="457200" indent="-317500" defTabSz="457200">
              <a:spcBef>
                <a:spcPts val="0"/>
              </a:spcBef>
              <a:buClr>
                <a:srgbClr val="273239"/>
              </a:buClr>
              <a:buSzPct val="100000"/>
              <a:buFont typeface="Helvetica"/>
              <a:buChar char="•"/>
              <a:defRPr sz="2400">
                <a:solidFill>
                  <a:srgbClr val="273239"/>
                </a:solidFill>
                <a:latin typeface="Helvetica"/>
                <a:ea typeface="Helvetica"/>
                <a:cs typeface="Helvetica"/>
                <a:sym typeface="Helvetica"/>
              </a:defRPr>
            </a:pPr>
            <a:r>
              <a:rPr b="1"/>
              <a:t>Build code</a:t>
            </a:r>
            <a:r>
              <a:t>: Compiles the application source code into executables/packages. Saves the build artifacts like JARs, containers, etc to cloud storage. Uses S3 or an equivalent object store for storing the outputs. Makes the build outputs available for later stages.</a:t>
            </a:r>
          </a:p>
          <a:p>
            <a:pPr defTabSz="457200">
              <a:spcBef>
                <a:spcPts val="0"/>
              </a:spcBef>
              <a:defRPr sz="2400">
                <a:solidFill>
                  <a:srgbClr val="273239"/>
                </a:solidFill>
                <a:latin typeface="Helvetica"/>
                <a:ea typeface="Helvetica"/>
                <a:cs typeface="Helvetica"/>
                <a:sym typeface="Helvetica"/>
              </a:defRPr>
            </a:pPr>
          </a:p>
          <a:p>
            <a:pPr marL="457200" indent="-317500" defTabSz="457200">
              <a:spcBef>
                <a:spcPts val="0"/>
              </a:spcBef>
              <a:buClr>
                <a:srgbClr val="273239"/>
              </a:buClr>
              <a:buSzPct val="100000"/>
              <a:buFont typeface="Helvetica"/>
              <a:buChar char="•"/>
              <a:defRPr sz="2400">
                <a:solidFill>
                  <a:srgbClr val="273239"/>
                </a:solidFill>
                <a:latin typeface="Helvetica"/>
                <a:ea typeface="Helvetica"/>
                <a:cs typeface="Helvetica"/>
                <a:sym typeface="Helvetica"/>
              </a:defRPr>
            </a:pPr>
            <a:r>
              <a:rPr b="1"/>
              <a:t>Test code</a:t>
            </a:r>
            <a:r>
              <a:t>: Fetches the build artifacts from the storage location. Loads test data and schemas into a Postgres database. Executes automated integration tests against the application. Continues only if all test cases pass as expected. Gates deployment on successfully passing tests.</a:t>
            </a:r>
          </a:p>
          <a:p>
            <a:pPr defTabSz="457200">
              <a:spcBef>
                <a:spcPts val="0"/>
              </a:spcBef>
              <a:defRPr sz="2400">
                <a:solidFill>
                  <a:srgbClr val="273239"/>
                </a:solidFill>
                <a:latin typeface="Helvetica"/>
                <a:ea typeface="Helvetica"/>
                <a:cs typeface="Helvetica"/>
                <a:sym typeface="Helvetica"/>
              </a:defRPr>
            </a:pPr>
          </a:p>
          <a:p>
            <a:pPr marL="457200" indent="-317500" defTabSz="457200">
              <a:spcBef>
                <a:spcPts val="0"/>
              </a:spcBef>
              <a:buClr>
                <a:srgbClr val="273239"/>
              </a:buClr>
              <a:buSzPct val="100000"/>
              <a:buFont typeface="Helvetica"/>
              <a:buChar char="•"/>
              <a:defRPr sz="2400">
                <a:solidFill>
                  <a:srgbClr val="273239"/>
                </a:solidFill>
                <a:latin typeface="Helvetica"/>
                <a:ea typeface="Helvetica"/>
                <a:cs typeface="Helvetica"/>
                <a:sym typeface="Helvetica"/>
              </a:defRPr>
            </a:pPr>
            <a:r>
              <a:rPr b="1"/>
              <a:t>Deploy code</a:t>
            </a:r>
            <a:r>
              <a:t>: Downloads the vetted build artifacts for deployment. Deploys the application to a Kubernetes cluster. Pushes the containers to the target runtime environment. Makes the built and tested application available to users. This pipeline has discrete steps for each major phase of the CD process - repo checkout, build, test, and deploy. Each stage focuses on one concern and uses standard tools. This modular design enables extensibility and maintainability.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Declarative vs Scripted Pipeline"/>
          <p:cNvSpPr txBox="1"/>
          <p:nvPr>
            <p:ph type="title"/>
          </p:nvPr>
        </p:nvSpPr>
        <p:spPr>
          <a:prstGeom prst="rect">
            <a:avLst/>
          </a:prstGeom>
        </p:spPr>
        <p:txBody>
          <a:bodyPr/>
          <a:lstStyle>
            <a:lvl1pPr defTabSz="2316479">
              <a:defRPr spc="-95" sz="9500"/>
            </a:lvl1pPr>
          </a:lstStyle>
          <a:p>
            <a:pPr/>
            <a:r>
              <a:t>Declarative vs Scripted Pipeline</a:t>
            </a:r>
          </a:p>
        </p:txBody>
      </p:sp>
      <p:sp>
        <p:nvSpPr>
          <p:cNvPr id="201" name="Declarative pipelines take a more structured, easy-to-visualize approach. The Jenkinsfile format allows you to lay out pipeline stages, such as build, test, and deploy, in a linear, sequential order. Each stage has a clean block defining what steps shoul"/>
          <p:cNvSpPr txBox="1"/>
          <p:nvPr>
            <p:ph type="body" idx="1"/>
          </p:nvPr>
        </p:nvSpPr>
        <p:spPr>
          <a:xfrm>
            <a:off x="1206500" y="2729994"/>
            <a:ext cx="21971000" cy="8256012"/>
          </a:xfrm>
          <a:prstGeom prst="rect">
            <a:avLst/>
          </a:prstGeom>
        </p:spPr>
        <p:txBody>
          <a:bodyPr numCol="2" spcCol="1098550"/>
          <a:lstStyle/>
          <a:p>
            <a:pPr marL="0" indent="0">
              <a:buSzTx/>
              <a:buNone/>
            </a:pPr>
            <a:r>
              <a:rPr b="1">
                <a:latin typeface="Graphik"/>
                <a:ea typeface="Graphik"/>
                <a:cs typeface="Graphik"/>
                <a:sym typeface="Graphik"/>
              </a:rPr>
              <a:t>Declarative</a:t>
            </a:r>
            <a:r>
              <a:t> pipelines take a more structured, easy-to-visualize approach. The Jenkinsfile format allows you to lay out pipeline stages, such as build, test, and deploy, in a linear, sequential order. Each stage has a clean block defining what steps should occur within that stage. To me, this maps very cleanly to the progression of taking code from version control, through build, validation, and release processes. I can look at the Jenkinsfile like a flowchart and understand the logical order of events.</a:t>
            </a:r>
          </a:p>
          <a:p>
            <a:pPr marL="0" indent="0">
              <a:buSzTx/>
              <a:buNone/>
            </a:pPr>
            <a:r>
              <a:rPr b="1">
                <a:latin typeface="Graphik"/>
                <a:ea typeface="Graphik"/>
                <a:cs typeface="Graphik"/>
                <a:sym typeface="Graphik"/>
              </a:rPr>
              <a:t>Scripted</a:t>
            </a:r>
            <a:r>
              <a:t> pipelines offer much more flexibility and customization capability, at the cost of increased complexity. Steps are defined procedurally using Groovy code encapsulated within methods like build(), test(), etc. The logic flow is harder for me to follow, as I have to trace through the method calls to see the overall sequence. The highly customizable nature of scripted pipelines enables much more sophisticated orchestration, but requires more Groovy programming expertise.</a:t>
            </a:r>
          </a:p>
        </p:txBody>
      </p:sp>
      <p:sp>
        <p:nvSpPr>
          <p:cNvPr id="202" name="Declarative pipelines are best for simple, linear CI/CD workflows, while scripted pipelines offer greater flexibility and customization for complex scenarios."/>
          <p:cNvSpPr txBox="1"/>
          <p:nvPr/>
        </p:nvSpPr>
        <p:spPr>
          <a:xfrm>
            <a:off x="542036" y="11720439"/>
            <a:ext cx="23553929" cy="14427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Declarative pipelines are best for simple, linear CI/CD workflows, while scripted pipelines offer greater flexibility and customization for complex scenarios.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Declarative vs Scripted Pipeline"/>
          <p:cNvSpPr txBox="1"/>
          <p:nvPr>
            <p:ph type="title"/>
          </p:nvPr>
        </p:nvSpPr>
        <p:spPr>
          <a:prstGeom prst="rect">
            <a:avLst/>
          </a:prstGeom>
        </p:spPr>
        <p:txBody>
          <a:bodyPr/>
          <a:lstStyle>
            <a:lvl1pPr defTabSz="2316479">
              <a:defRPr spc="-95" sz="9500"/>
            </a:lvl1pPr>
          </a:lstStyle>
          <a:p>
            <a:pPr/>
            <a:r>
              <a:t>Declarative vs Scripted Pipeline</a:t>
            </a:r>
          </a:p>
        </p:txBody>
      </p:sp>
      <p:sp>
        <p:nvSpPr>
          <p:cNvPr id="205" name="pipeline {…"/>
          <p:cNvSpPr txBox="1"/>
          <p:nvPr>
            <p:ph type="body" idx="1"/>
          </p:nvPr>
        </p:nvSpPr>
        <p:spPr>
          <a:xfrm>
            <a:off x="1206500" y="2729994"/>
            <a:ext cx="21971000" cy="8256012"/>
          </a:xfrm>
          <a:prstGeom prst="rect">
            <a:avLst/>
          </a:prstGeom>
        </p:spPr>
        <p:txBody>
          <a:bodyPr numCol="2" spcCol="1098550"/>
          <a:lstStyle/>
          <a:p>
            <a:pPr marL="0" indent="0" defTabSz="457200">
              <a:spcBef>
                <a:spcPts val="0"/>
              </a:spcBef>
              <a:buSzTx/>
              <a:buNone/>
              <a:defRPr sz="2700">
                <a:solidFill>
                  <a:srgbClr val="000000">
                    <a:alpha val="90196"/>
                  </a:srgbClr>
                </a:solidFill>
                <a:latin typeface="Courier"/>
                <a:ea typeface="Courier"/>
                <a:cs typeface="Courier"/>
                <a:sym typeface="Courier"/>
              </a:defRPr>
            </a:pPr>
            <a:r>
              <a:t>pipeline {</a:t>
            </a:r>
          </a:p>
          <a:p>
            <a:pPr marL="0" indent="0" defTabSz="457200">
              <a:spcBef>
                <a:spcPts val="0"/>
              </a:spcBef>
              <a:buSzTx/>
              <a:buNone/>
              <a:defRPr sz="2700">
                <a:solidFill>
                  <a:srgbClr val="000000">
                    <a:alpha val="90196"/>
                  </a:srgbClr>
                </a:solidFill>
                <a:latin typeface="Courier"/>
                <a:ea typeface="Courier"/>
                <a:cs typeface="Courier"/>
                <a:sym typeface="Courier"/>
              </a:defRPr>
            </a:pPr>
            <a:r>
              <a:t>  agent any</a:t>
            </a:r>
          </a:p>
          <a:p>
            <a:pPr marL="0" indent="0" defTabSz="457200">
              <a:spcBef>
                <a:spcPts val="0"/>
              </a:spcBef>
              <a:buSzTx/>
              <a:buNone/>
              <a:defRPr sz="2700">
                <a:solidFill>
                  <a:srgbClr val="000000">
                    <a:alpha val="90196"/>
                  </a:srgbClr>
                </a:solidFill>
                <a:latin typeface="Courier"/>
                <a:ea typeface="Courier"/>
                <a:cs typeface="Courier"/>
                <a:sym typeface="Courier"/>
              </a:defRPr>
            </a:pPr>
            <a:r>
              <a:t>  stages {</a:t>
            </a:r>
          </a:p>
          <a:p>
            <a:pPr marL="0" indent="0" defTabSz="457200">
              <a:spcBef>
                <a:spcPts val="0"/>
              </a:spcBef>
              <a:buSzTx/>
              <a:buNone/>
              <a:defRPr sz="2700">
                <a:solidFill>
                  <a:srgbClr val="000000">
                    <a:alpha val="90196"/>
                  </a:srgbClr>
                </a:solidFill>
                <a:latin typeface="Courier"/>
                <a:ea typeface="Courier"/>
                <a:cs typeface="Courier"/>
                <a:sym typeface="Courier"/>
              </a:defRPr>
            </a:pPr>
            <a:r>
              <a:t>    stage('Build') {</a:t>
            </a:r>
          </a:p>
          <a:p>
            <a:pPr marL="0" indent="0" defTabSz="457200">
              <a:spcBef>
                <a:spcPts val="0"/>
              </a:spcBef>
              <a:buSzTx/>
              <a:buNone/>
              <a:defRPr sz="2700">
                <a:solidFill>
                  <a:srgbClr val="000000">
                    <a:alpha val="90196"/>
                  </a:srgbClr>
                </a:solidFill>
                <a:latin typeface="Courier"/>
                <a:ea typeface="Courier"/>
                <a:cs typeface="Courier"/>
                <a:sym typeface="Courier"/>
              </a:defRPr>
            </a:pPr>
            <a:r>
              <a:t>      steps {</a:t>
            </a:r>
          </a:p>
          <a:p>
            <a:pPr marL="0" indent="0" defTabSz="457200">
              <a:spcBef>
                <a:spcPts val="0"/>
              </a:spcBef>
              <a:buSzTx/>
              <a:buNone/>
              <a:defRPr sz="2700">
                <a:solidFill>
                  <a:srgbClr val="000000">
                    <a:alpha val="90196"/>
                  </a:srgbClr>
                </a:solidFill>
                <a:latin typeface="Courier"/>
                <a:ea typeface="Courier"/>
                <a:cs typeface="Courier"/>
                <a:sym typeface="Courier"/>
              </a:defRPr>
            </a:pPr>
            <a:r>
              <a:t>        // build steps</a:t>
            </a:r>
          </a:p>
          <a:p>
            <a:pPr marL="0" indent="0" defTabSz="457200">
              <a:spcBef>
                <a:spcPts val="0"/>
              </a:spcBef>
              <a:buSzTx/>
              <a:buNone/>
              <a:defRPr sz="2700">
                <a:solidFill>
                  <a:srgbClr val="000000">
                    <a:alpha val="90196"/>
                  </a:srgbClr>
                </a:solidFill>
                <a:latin typeface="Courier"/>
                <a:ea typeface="Courier"/>
                <a:cs typeface="Courier"/>
                <a:sym typeface="Courier"/>
              </a:defRPr>
            </a:pPr>
            <a:r>
              <a:t>      }</a:t>
            </a:r>
          </a:p>
          <a:p>
            <a:pPr marL="0" indent="0" defTabSz="457200">
              <a:spcBef>
                <a:spcPts val="0"/>
              </a:spcBef>
              <a:buSzTx/>
              <a:buNone/>
              <a:defRPr sz="2700">
                <a:solidFill>
                  <a:srgbClr val="000000">
                    <a:alpha val="90196"/>
                  </a:srgbClr>
                </a:solidFill>
                <a:latin typeface="Courier"/>
                <a:ea typeface="Courier"/>
                <a:cs typeface="Courier"/>
                <a:sym typeface="Courier"/>
              </a:defRPr>
            </a:pPr>
            <a:r>
              <a:t>    }</a:t>
            </a:r>
          </a:p>
          <a:p>
            <a:pPr marL="0" indent="0" defTabSz="457200">
              <a:spcBef>
                <a:spcPts val="0"/>
              </a:spcBef>
              <a:buSzTx/>
              <a:buNone/>
              <a:defRPr sz="2700">
                <a:solidFill>
                  <a:srgbClr val="000000">
                    <a:alpha val="90196"/>
                  </a:srgbClr>
                </a:solidFill>
                <a:latin typeface="Courier"/>
                <a:ea typeface="Courier"/>
                <a:cs typeface="Courier"/>
                <a:sym typeface="Courier"/>
              </a:defRPr>
            </a:pPr>
            <a:r>
              <a:t>    stage('Test') {</a:t>
            </a:r>
          </a:p>
          <a:p>
            <a:pPr marL="0" indent="0" defTabSz="457200">
              <a:spcBef>
                <a:spcPts val="0"/>
              </a:spcBef>
              <a:buSzTx/>
              <a:buNone/>
              <a:defRPr sz="2700">
                <a:solidFill>
                  <a:srgbClr val="000000">
                    <a:alpha val="90196"/>
                  </a:srgbClr>
                </a:solidFill>
                <a:latin typeface="Courier"/>
                <a:ea typeface="Courier"/>
                <a:cs typeface="Courier"/>
                <a:sym typeface="Courier"/>
              </a:defRPr>
            </a:pPr>
            <a:r>
              <a:t>      steps { </a:t>
            </a:r>
          </a:p>
          <a:p>
            <a:pPr marL="0" indent="0" defTabSz="457200">
              <a:spcBef>
                <a:spcPts val="0"/>
              </a:spcBef>
              <a:buSzTx/>
              <a:buNone/>
              <a:defRPr sz="2700">
                <a:solidFill>
                  <a:srgbClr val="000000">
                    <a:alpha val="90196"/>
                  </a:srgbClr>
                </a:solidFill>
                <a:latin typeface="Courier"/>
                <a:ea typeface="Courier"/>
                <a:cs typeface="Courier"/>
                <a:sym typeface="Courier"/>
              </a:defRPr>
            </a:pPr>
            <a:r>
              <a:t>        // test steps  </a:t>
            </a:r>
          </a:p>
          <a:p>
            <a:pPr marL="0" indent="0" defTabSz="457200">
              <a:spcBef>
                <a:spcPts val="0"/>
              </a:spcBef>
              <a:buSzTx/>
              <a:buNone/>
              <a:defRPr sz="2700">
                <a:solidFill>
                  <a:srgbClr val="000000">
                    <a:alpha val="90196"/>
                  </a:srgbClr>
                </a:solidFill>
                <a:latin typeface="Courier"/>
                <a:ea typeface="Courier"/>
                <a:cs typeface="Courier"/>
                <a:sym typeface="Courier"/>
              </a:defRPr>
            </a:pPr>
            <a:r>
              <a:t>      }</a:t>
            </a:r>
          </a:p>
          <a:p>
            <a:pPr marL="0" indent="0" defTabSz="457200">
              <a:spcBef>
                <a:spcPts val="0"/>
              </a:spcBef>
              <a:buSzTx/>
              <a:buNone/>
              <a:defRPr sz="2700">
                <a:solidFill>
                  <a:srgbClr val="000000">
                    <a:alpha val="90196"/>
                  </a:srgbClr>
                </a:solidFill>
                <a:latin typeface="Courier"/>
                <a:ea typeface="Courier"/>
                <a:cs typeface="Courier"/>
                <a:sym typeface="Courier"/>
              </a:defRPr>
            </a:pPr>
            <a:r>
              <a:t>    }</a:t>
            </a:r>
          </a:p>
          <a:p>
            <a:pPr marL="0" indent="0" defTabSz="457200">
              <a:spcBef>
                <a:spcPts val="0"/>
              </a:spcBef>
              <a:buSzTx/>
              <a:buNone/>
              <a:defRPr sz="2700">
                <a:solidFill>
                  <a:srgbClr val="000000">
                    <a:alpha val="90196"/>
                  </a:srgbClr>
                </a:solidFill>
                <a:latin typeface="Courier"/>
                <a:ea typeface="Courier"/>
                <a:cs typeface="Courier"/>
                <a:sym typeface="Courier"/>
              </a:defRPr>
            </a:pPr>
            <a:r>
              <a:t>    stage('Deploy') {</a:t>
            </a:r>
          </a:p>
          <a:p>
            <a:pPr marL="0" indent="0" defTabSz="457200">
              <a:spcBef>
                <a:spcPts val="0"/>
              </a:spcBef>
              <a:buSzTx/>
              <a:buNone/>
              <a:defRPr sz="2700">
                <a:solidFill>
                  <a:srgbClr val="000000">
                    <a:alpha val="90196"/>
                  </a:srgbClr>
                </a:solidFill>
                <a:latin typeface="Courier"/>
                <a:ea typeface="Courier"/>
                <a:cs typeface="Courier"/>
                <a:sym typeface="Courier"/>
              </a:defRPr>
            </a:pPr>
            <a:r>
              <a:t>      steps {</a:t>
            </a:r>
          </a:p>
          <a:p>
            <a:pPr marL="0" indent="0" defTabSz="457200">
              <a:spcBef>
                <a:spcPts val="0"/>
              </a:spcBef>
              <a:buSzTx/>
              <a:buNone/>
              <a:defRPr sz="2700">
                <a:solidFill>
                  <a:srgbClr val="000000">
                    <a:alpha val="90196"/>
                  </a:srgbClr>
                </a:solidFill>
                <a:latin typeface="Courier"/>
                <a:ea typeface="Courier"/>
                <a:cs typeface="Courier"/>
                <a:sym typeface="Courier"/>
              </a:defRPr>
            </a:pPr>
            <a:r>
              <a:t>        // deploy steps</a:t>
            </a:r>
          </a:p>
          <a:p>
            <a:pPr marL="0" indent="0" defTabSz="457200">
              <a:spcBef>
                <a:spcPts val="0"/>
              </a:spcBef>
              <a:buSzTx/>
              <a:buNone/>
              <a:defRPr sz="2700">
                <a:solidFill>
                  <a:srgbClr val="000000">
                    <a:alpha val="90196"/>
                  </a:srgbClr>
                </a:solidFill>
                <a:latin typeface="Courier"/>
                <a:ea typeface="Courier"/>
                <a:cs typeface="Courier"/>
                <a:sym typeface="Courier"/>
              </a:defRPr>
            </a:pPr>
            <a:r>
              <a:t>      }</a:t>
            </a:r>
          </a:p>
          <a:p>
            <a:pPr marL="0" indent="0" defTabSz="457200">
              <a:spcBef>
                <a:spcPts val="0"/>
              </a:spcBef>
              <a:buSzTx/>
              <a:buNone/>
              <a:defRPr sz="2700">
                <a:solidFill>
                  <a:srgbClr val="000000">
                    <a:alpha val="90196"/>
                  </a:srgbClr>
                </a:solidFill>
                <a:latin typeface="Courier"/>
                <a:ea typeface="Courier"/>
                <a:cs typeface="Courier"/>
                <a:sym typeface="Courier"/>
              </a:defRPr>
            </a:pPr>
            <a:r>
              <a:t>    }</a:t>
            </a:r>
          </a:p>
          <a:p>
            <a:pPr marL="0" indent="0" defTabSz="457200">
              <a:spcBef>
                <a:spcPts val="0"/>
              </a:spcBef>
              <a:buSzTx/>
              <a:buNone/>
              <a:defRPr sz="2700">
                <a:solidFill>
                  <a:srgbClr val="000000">
                    <a:alpha val="90196"/>
                  </a:srgbClr>
                </a:solidFill>
                <a:latin typeface="Courier"/>
                <a:ea typeface="Courier"/>
                <a:cs typeface="Courier"/>
                <a:sym typeface="Courier"/>
              </a:defRPr>
            </a:pPr>
            <a:r>
              <a:t>  }</a:t>
            </a:r>
          </a:p>
          <a:p>
            <a:pPr marL="0" indent="0" defTabSz="457200">
              <a:spcBef>
                <a:spcPts val="0"/>
              </a:spcBef>
              <a:buSzTx/>
              <a:buNone/>
              <a:defRPr sz="2700">
                <a:solidFill>
                  <a:srgbClr val="000000">
                    <a:alpha val="90196"/>
                  </a:srgbClr>
                </a:solidFill>
                <a:latin typeface="Courier"/>
                <a:ea typeface="Courier"/>
                <a:cs typeface="Courier"/>
                <a:sym typeface="Courier"/>
              </a:defRPr>
            </a:pPr>
            <a:r>
              <a:t>}</a:t>
            </a:r>
          </a:p>
          <a:p>
            <a:pPr marL="0" indent="0" defTabSz="457200">
              <a:spcBef>
                <a:spcPts val="0"/>
              </a:spcBef>
              <a:buSzTx/>
              <a:buNone/>
              <a:defRPr sz="3300">
                <a:solidFill>
                  <a:srgbClr val="000000">
                    <a:alpha val="90196"/>
                  </a:srgbClr>
                </a:solidFill>
                <a:latin typeface="Courier"/>
                <a:ea typeface="Courier"/>
                <a:cs typeface="Courier"/>
                <a:sym typeface="Courier"/>
              </a:defRPr>
            </a:pPr>
            <a:r>
              <a:t>node {</a:t>
            </a:r>
          </a:p>
          <a:p>
            <a:pPr marL="0" indent="0" defTabSz="457200">
              <a:spcBef>
                <a:spcPts val="0"/>
              </a:spcBef>
              <a:buSzTx/>
              <a:buNone/>
              <a:defRPr sz="3300">
                <a:solidFill>
                  <a:srgbClr val="000000">
                    <a:alpha val="90196"/>
                  </a:srgbClr>
                </a:solidFill>
                <a:latin typeface="Courier"/>
                <a:ea typeface="Courier"/>
                <a:cs typeface="Courier"/>
                <a:sym typeface="Courier"/>
              </a:defRPr>
            </a:pPr>
          </a:p>
          <a:p>
            <a:pPr marL="0" indent="0" defTabSz="457200">
              <a:spcBef>
                <a:spcPts val="0"/>
              </a:spcBef>
              <a:buSzTx/>
              <a:buNone/>
              <a:defRPr sz="3300">
                <a:solidFill>
                  <a:srgbClr val="000000">
                    <a:alpha val="90196"/>
                  </a:srgbClr>
                </a:solidFill>
                <a:latin typeface="Courier"/>
                <a:ea typeface="Courier"/>
                <a:cs typeface="Courier"/>
                <a:sym typeface="Courier"/>
              </a:defRPr>
            </a:pPr>
            <a:r>
              <a:t>  stage('Build') {</a:t>
            </a:r>
          </a:p>
          <a:p>
            <a:pPr marL="0" indent="0" defTabSz="457200">
              <a:spcBef>
                <a:spcPts val="0"/>
              </a:spcBef>
              <a:buSzTx/>
              <a:buNone/>
              <a:defRPr sz="3300">
                <a:solidFill>
                  <a:srgbClr val="000000">
                    <a:alpha val="90196"/>
                  </a:srgbClr>
                </a:solidFill>
                <a:latin typeface="Courier"/>
                <a:ea typeface="Courier"/>
                <a:cs typeface="Courier"/>
                <a:sym typeface="Courier"/>
              </a:defRPr>
            </a:pPr>
            <a:r>
              <a:t>    // build steps</a:t>
            </a:r>
          </a:p>
          <a:p>
            <a:pPr marL="0" indent="0" defTabSz="457200">
              <a:spcBef>
                <a:spcPts val="0"/>
              </a:spcBef>
              <a:buSzTx/>
              <a:buNone/>
              <a:defRPr sz="3300">
                <a:solidFill>
                  <a:srgbClr val="000000">
                    <a:alpha val="90196"/>
                  </a:srgbClr>
                </a:solidFill>
                <a:latin typeface="Courier"/>
                <a:ea typeface="Courier"/>
                <a:cs typeface="Courier"/>
                <a:sym typeface="Courier"/>
              </a:defRPr>
            </a:pPr>
            <a:r>
              <a:t>  }</a:t>
            </a:r>
          </a:p>
          <a:p>
            <a:pPr marL="0" indent="0" defTabSz="457200">
              <a:spcBef>
                <a:spcPts val="0"/>
              </a:spcBef>
              <a:buSzTx/>
              <a:buNone/>
              <a:defRPr sz="3300">
                <a:solidFill>
                  <a:srgbClr val="000000">
                    <a:alpha val="90196"/>
                  </a:srgbClr>
                </a:solidFill>
                <a:latin typeface="Courier"/>
                <a:ea typeface="Courier"/>
                <a:cs typeface="Courier"/>
                <a:sym typeface="Courier"/>
              </a:defRPr>
            </a:pPr>
          </a:p>
          <a:p>
            <a:pPr marL="0" indent="0" defTabSz="457200">
              <a:spcBef>
                <a:spcPts val="0"/>
              </a:spcBef>
              <a:buSzTx/>
              <a:buNone/>
              <a:defRPr sz="3300">
                <a:solidFill>
                  <a:srgbClr val="000000">
                    <a:alpha val="90196"/>
                  </a:srgbClr>
                </a:solidFill>
                <a:latin typeface="Courier"/>
                <a:ea typeface="Courier"/>
                <a:cs typeface="Courier"/>
                <a:sym typeface="Courier"/>
              </a:defRPr>
            </a:pPr>
            <a:r>
              <a:t>  stage('Test') {</a:t>
            </a:r>
          </a:p>
          <a:p>
            <a:pPr marL="0" indent="0" defTabSz="457200">
              <a:spcBef>
                <a:spcPts val="0"/>
              </a:spcBef>
              <a:buSzTx/>
              <a:buNone/>
              <a:defRPr sz="3300">
                <a:solidFill>
                  <a:srgbClr val="000000">
                    <a:alpha val="90196"/>
                  </a:srgbClr>
                </a:solidFill>
                <a:latin typeface="Courier"/>
                <a:ea typeface="Courier"/>
                <a:cs typeface="Courier"/>
                <a:sym typeface="Courier"/>
              </a:defRPr>
            </a:pPr>
            <a:r>
              <a:t>    // test steps</a:t>
            </a:r>
          </a:p>
          <a:p>
            <a:pPr marL="0" indent="0" defTabSz="457200">
              <a:spcBef>
                <a:spcPts val="0"/>
              </a:spcBef>
              <a:buSzTx/>
              <a:buNone/>
              <a:defRPr sz="3300">
                <a:solidFill>
                  <a:srgbClr val="000000">
                    <a:alpha val="90196"/>
                  </a:srgbClr>
                </a:solidFill>
                <a:latin typeface="Courier"/>
                <a:ea typeface="Courier"/>
                <a:cs typeface="Courier"/>
                <a:sym typeface="Courier"/>
              </a:defRPr>
            </a:pPr>
            <a:r>
              <a:t>  }</a:t>
            </a:r>
          </a:p>
          <a:p>
            <a:pPr marL="0" indent="0" defTabSz="457200">
              <a:spcBef>
                <a:spcPts val="0"/>
              </a:spcBef>
              <a:buSzTx/>
              <a:buNone/>
              <a:defRPr sz="3300">
                <a:solidFill>
                  <a:srgbClr val="000000">
                    <a:alpha val="90196"/>
                  </a:srgbClr>
                </a:solidFill>
                <a:latin typeface="Courier"/>
                <a:ea typeface="Courier"/>
                <a:cs typeface="Courier"/>
                <a:sym typeface="Courier"/>
              </a:defRPr>
            </a:pPr>
          </a:p>
          <a:p>
            <a:pPr marL="0" indent="0" defTabSz="457200">
              <a:spcBef>
                <a:spcPts val="0"/>
              </a:spcBef>
              <a:buSzTx/>
              <a:buNone/>
              <a:defRPr sz="3300">
                <a:solidFill>
                  <a:srgbClr val="000000">
                    <a:alpha val="90196"/>
                  </a:srgbClr>
                </a:solidFill>
                <a:latin typeface="Courier"/>
                <a:ea typeface="Courier"/>
                <a:cs typeface="Courier"/>
                <a:sym typeface="Courier"/>
              </a:defRPr>
            </a:pPr>
            <a:r>
              <a:t>  stage('Deploy') {</a:t>
            </a:r>
          </a:p>
          <a:p>
            <a:pPr marL="0" indent="0" defTabSz="457200">
              <a:spcBef>
                <a:spcPts val="0"/>
              </a:spcBef>
              <a:buSzTx/>
              <a:buNone/>
              <a:defRPr sz="3300">
                <a:solidFill>
                  <a:srgbClr val="000000">
                    <a:alpha val="90196"/>
                  </a:srgbClr>
                </a:solidFill>
                <a:latin typeface="Courier"/>
                <a:ea typeface="Courier"/>
                <a:cs typeface="Courier"/>
                <a:sym typeface="Courier"/>
              </a:defRPr>
            </a:pPr>
            <a:r>
              <a:t>    // deploy steps</a:t>
            </a:r>
          </a:p>
          <a:p>
            <a:pPr marL="0" indent="0" defTabSz="457200">
              <a:spcBef>
                <a:spcPts val="0"/>
              </a:spcBef>
              <a:buSzTx/>
              <a:buNone/>
              <a:defRPr sz="3300">
                <a:solidFill>
                  <a:srgbClr val="000000">
                    <a:alpha val="90196"/>
                  </a:srgbClr>
                </a:solidFill>
                <a:latin typeface="Courier"/>
                <a:ea typeface="Courier"/>
                <a:cs typeface="Courier"/>
                <a:sym typeface="Courier"/>
              </a:defRPr>
            </a:pPr>
            <a:r>
              <a:t>  }</a:t>
            </a:r>
          </a:p>
          <a:p>
            <a:pPr marL="0" indent="0" defTabSz="457200">
              <a:spcBef>
                <a:spcPts val="0"/>
              </a:spcBef>
              <a:buSzTx/>
              <a:buNone/>
              <a:defRPr sz="3300">
                <a:solidFill>
                  <a:srgbClr val="000000">
                    <a:alpha val="90196"/>
                  </a:srgbClr>
                </a:solidFill>
                <a:latin typeface="Courier"/>
                <a:ea typeface="Courier"/>
                <a:cs typeface="Courier"/>
                <a:sym typeface="Courier"/>
              </a:defRPr>
            </a:pPr>
            <a:r>
              <a: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Pipeline Sample"/>
          <p:cNvSpPr txBox="1"/>
          <p:nvPr>
            <p:ph type="title"/>
          </p:nvPr>
        </p:nvSpPr>
        <p:spPr>
          <a:prstGeom prst="rect">
            <a:avLst/>
          </a:prstGeom>
        </p:spPr>
        <p:txBody>
          <a:bodyPr/>
          <a:lstStyle>
            <a:lvl1pPr defTabSz="2316479">
              <a:defRPr spc="-95" sz="9500"/>
            </a:lvl1pPr>
          </a:lstStyle>
          <a:p>
            <a:pPr/>
            <a:r>
              <a:t>Pipeline Sample</a:t>
            </a:r>
          </a:p>
        </p:txBody>
      </p:sp>
      <p:sp>
        <p:nvSpPr>
          <p:cNvPr id="208" name="node {…"/>
          <p:cNvSpPr txBox="1"/>
          <p:nvPr/>
        </p:nvSpPr>
        <p:spPr>
          <a:xfrm>
            <a:off x="1294385" y="2784222"/>
            <a:ext cx="15250864" cy="10515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spcBef>
                <a:spcPts val="0"/>
              </a:spcBef>
              <a:defRPr sz="1700">
                <a:solidFill>
                  <a:srgbClr val="000000"/>
                </a:solidFill>
                <a:latin typeface="Courier"/>
                <a:ea typeface="Courier"/>
                <a:cs typeface="Courier"/>
                <a:sym typeface="Courier"/>
              </a:defRPr>
            </a:pPr>
            <a:r>
              <a:t>node {</a:t>
            </a:r>
          </a:p>
          <a:p>
            <a:pPr>
              <a:spcBef>
                <a:spcPts val="0"/>
              </a:spcBef>
              <a:defRPr sz="1700">
                <a:solidFill>
                  <a:srgbClr val="000000"/>
                </a:solidFill>
                <a:latin typeface="Courier"/>
                <a:ea typeface="Courier"/>
                <a:cs typeface="Courier"/>
                <a:sym typeface="Courier"/>
              </a:defRPr>
            </a:pPr>
            <a:r>
              <a:t>       // Define the Maven tool used for the build process</a:t>
            </a:r>
          </a:p>
          <a:p>
            <a:pPr>
              <a:spcBef>
                <a:spcPts val="0"/>
              </a:spcBef>
              <a:defRPr sz="1700">
                <a:solidFill>
                  <a:srgbClr val="000000"/>
                </a:solidFill>
                <a:latin typeface="Courier"/>
                <a:ea typeface="Courier"/>
                <a:cs typeface="Courier"/>
                <a:sym typeface="Courier"/>
              </a:defRPr>
            </a:pPr>
            <a:r>
              <a:t>       def mavenHome = tool name: 'Maven 3.8.6'</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 Configure build properties (e.g., log rotation and SCM polling)</a:t>
            </a:r>
          </a:p>
          <a:p>
            <a:pPr>
              <a:spcBef>
                <a:spcPts val="0"/>
              </a:spcBef>
              <a:defRPr sz="1700">
                <a:solidFill>
                  <a:srgbClr val="000000"/>
                </a:solidFill>
                <a:latin typeface="Courier"/>
                <a:ea typeface="Courier"/>
                <a:cs typeface="Courier"/>
                <a:sym typeface="Courier"/>
              </a:defRPr>
            </a:pPr>
            <a:r>
              <a:t>       properties([</a:t>
            </a:r>
          </a:p>
          <a:p>
            <a:pPr>
              <a:spcBef>
                <a:spcPts val="0"/>
              </a:spcBef>
              <a:defRPr sz="1700">
                <a:solidFill>
                  <a:srgbClr val="000000"/>
                </a:solidFill>
                <a:latin typeface="Courier"/>
                <a:ea typeface="Courier"/>
                <a:cs typeface="Courier"/>
                <a:sym typeface="Courier"/>
              </a:defRPr>
            </a:pPr>
            <a:r>
              <a:t>           buildDiscarder(logRotator(artifactDaysToKeepStr: '', artifactNumToKeepStr: '5', daysToKeepStr: '', numToKeepStr: '5')),</a:t>
            </a:r>
          </a:p>
          <a:p>
            <a:pPr>
              <a:spcBef>
                <a:spcPts val="0"/>
              </a:spcBef>
              <a:defRPr sz="1700">
                <a:solidFill>
                  <a:srgbClr val="000000"/>
                </a:solidFill>
                <a:latin typeface="Courier"/>
                <a:ea typeface="Courier"/>
                <a:cs typeface="Courier"/>
                <a:sym typeface="Courier"/>
              </a:defRPr>
            </a:pPr>
            <a:r>
              <a:t>           pipelineTriggers([pollSCM('* * * * *')])</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 Checkout code from the Git repository</a:t>
            </a:r>
          </a:p>
          <a:p>
            <a:pPr>
              <a:spcBef>
                <a:spcPts val="0"/>
              </a:spcBef>
              <a:defRPr sz="1700">
                <a:solidFill>
                  <a:srgbClr val="000000"/>
                </a:solidFill>
                <a:latin typeface="Courier"/>
                <a:ea typeface="Courier"/>
                <a:cs typeface="Courier"/>
                <a:sym typeface="Courier"/>
              </a:defRPr>
            </a:pPr>
            <a:r>
              <a:t>      stage('Checkout Code') {</a:t>
            </a:r>
          </a:p>
          <a:p>
            <a:pPr>
              <a:spcBef>
                <a:spcPts val="0"/>
              </a:spcBef>
              <a:defRPr sz="1700">
                <a:solidFill>
                  <a:srgbClr val="000000"/>
                </a:solidFill>
                <a:latin typeface="Courier"/>
                <a:ea typeface="Courier"/>
                <a:cs typeface="Courier"/>
                <a:sym typeface="Courier"/>
              </a:defRPr>
            </a:pPr>
            <a:r>
              <a:t>          git branch: 'development', credentialsId: 'github-credentials-id', url: 'https://github.com/your-username/your-repository.git'</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 Build the project using Maven</a:t>
            </a:r>
          </a:p>
          <a:p>
            <a:pPr>
              <a:spcBef>
                <a:spcPts val="0"/>
              </a:spcBef>
              <a:defRPr sz="1700">
                <a:solidFill>
                  <a:srgbClr val="000000"/>
                </a:solidFill>
                <a:latin typeface="Courier"/>
                <a:ea typeface="Courier"/>
                <a:cs typeface="Courier"/>
                <a:sym typeface="Courier"/>
              </a:defRPr>
            </a:pPr>
            <a:r>
              <a:t>      stage('Build') {</a:t>
            </a:r>
          </a:p>
          <a:p>
            <a:pPr>
              <a:spcBef>
                <a:spcPts val="0"/>
              </a:spcBef>
              <a:defRPr sz="1700">
                <a:solidFill>
                  <a:srgbClr val="000000"/>
                </a:solidFill>
                <a:latin typeface="Courier"/>
                <a:ea typeface="Courier"/>
                <a:cs typeface="Courier"/>
                <a:sym typeface="Courier"/>
              </a:defRPr>
            </a:pPr>
            <a:r>
              <a:t>          sh "${mavenHome}/bin/mvn clean package"</a:t>
            </a:r>
          </a:p>
          <a:p>
            <a:pPr>
              <a:spcBef>
                <a:spcPts val="0"/>
              </a:spcBef>
              <a:defRPr sz="1700">
                <a:solidFill>
                  <a:srgbClr val="000000"/>
                </a:solidFill>
                <a:latin typeface="Courier"/>
                <a:ea typeface="Courier"/>
                <a:cs typeface="Courier"/>
                <a:sym typeface="Courier"/>
              </a:defRPr>
            </a:pPr>
            <a:r>
              <a:t>      }</a:t>
            </a:r>
          </a:p>
          <a:p>
            <a:pPr>
              <a:spcBef>
                <a:spcPts val="0"/>
              </a:spcBef>
              <a:defRPr sz="1700">
                <a:latin typeface="Courier"/>
                <a:ea typeface="Courier"/>
                <a:cs typeface="Courier"/>
                <a:sym typeface="Courier"/>
              </a:defRPr>
            </a:pPr>
            <a:r>
              <a:t>  </a:t>
            </a:r>
            <a:endParaRPr>
              <a:solidFill>
                <a:srgbClr val="FFF0A5"/>
              </a:solidFill>
            </a:endParaRPr>
          </a:p>
          <a:p>
            <a:pPr>
              <a:spcBef>
                <a:spcPts val="0"/>
              </a:spcBef>
              <a:defRPr sz="1700">
                <a:solidFill>
                  <a:srgbClr val="000000"/>
                </a:solidFill>
                <a:latin typeface="Courier"/>
                <a:ea typeface="Courier"/>
                <a:cs typeface="Courier"/>
                <a:sym typeface="Courier"/>
              </a:defRPr>
            </a:pPr>
            <a:r>
              <a:t>      // Execute code quality analysis with SonarQube</a:t>
            </a:r>
          </a:p>
          <a:p>
            <a:pPr>
              <a:spcBef>
                <a:spcPts val="0"/>
              </a:spcBef>
              <a:defRPr sz="1700">
                <a:solidFill>
                  <a:srgbClr val="000000"/>
                </a:solidFill>
                <a:latin typeface="Courier"/>
                <a:ea typeface="Courier"/>
                <a:cs typeface="Courier"/>
                <a:sym typeface="Courier"/>
              </a:defRPr>
            </a:pPr>
            <a:r>
              <a:t>      stage('Execute SonarQube Analysis') {</a:t>
            </a:r>
          </a:p>
          <a:p>
            <a:pPr>
              <a:spcBef>
                <a:spcPts val="0"/>
              </a:spcBef>
              <a:defRPr sz="1700">
                <a:solidFill>
                  <a:srgbClr val="000000"/>
                </a:solidFill>
                <a:latin typeface="Courier"/>
                <a:ea typeface="Courier"/>
                <a:cs typeface="Courier"/>
                <a:sym typeface="Courier"/>
              </a:defRPr>
            </a:pPr>
            <a:r>
              <a:t>          sh "${mavenHome}/bin/mvn clean sonar:sonar"</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 Upload the build artifact to Nexus repository</a:t>
            </a:r>
          </a:p>
          <a:p>
            <a:pPr>
              <a:spcBef>
                <a:spcPts val="0"/>
              </a:spcBef>
              <a:defRPr sz="1700">
                <a:solidFill>
                  <a:srgbClr val="000000"/>
                </a:solidFill>
                <a:latin typeface="Courier"/>
                <a:ea typeface="Courier"/>
                <a:cs typeface="Courier"/>
                <a:sym typeface="Courier"/>
              </a:defRPr>
            </a:pPr>
            <a:r>
              <a:t>      stage('Upload Build Artifact') {</a:t>
            </a:r>
          </a:p>
          <a:p>
            <a:pPr>
              <a:spcBef>
                <a:spcPts val="0"/>
              </a:spcBef>
              <a:defRPr sz="1700">
                <a:solidFill>
                  <a:srgbClr val="000000"/>
                </a:solidFill>
                <a:latin typeface="Courier"/>
                <a:ea typeface="Courier"/>
                <a:cs typeface="Courier"/>
                <a:sym typeface="Courier"/>
              </a:defRPr>
            </a:pPr>
            <a:r>
              <a:t>          sh "${mavenHome}/bin/mvn clean deploy"</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 Deploy the application to Tomcat using SCP</a:t>
            </a:r>
          </a:p>
          <a:p>
            <a:pPr>
              <a:spcBef>
                <a:spcPts val="0"/>
              </a:spcBef>
              <a:defRPr sz="1700">
                <a:solidFill>
                  <a:srgbClr val="000000"/>
                </a:solidFill>
                <a:latin typeface="Courier"/>
                <a:ea typeface="Courier"/>
                <a:cs typeface="Courier"/>
                <a:sym typeface="Courier"/>
              </a:defRPr>
            </a:pPr>
            <a:r>
              <a:t>      stage('Deploy to Tomcat') {</a:t>
            </a:r>
          </a:p>
          <a:p>
            <a:pPr>
              <a:spcBef>
                <a:spcPts val="0"/>
              </a:spcBef>
              <a:defRPr sz="1700">
                <a:solidFill>
                  <a:srgbClr val="000000"/>
                </a:solidFill>
                <a:latin typeface="Courier"/>
                <a:ea typeface="Courier"/>
                <a:cs typeface="Courier"/>
                <a:sym typeface="Courier"/>
              </a:defRPr>
            </a:pPr>
            <a:r>
              <a:t>          sshagent(['your-ssh-credentials-id']) {</a:t>
            </a:r>
          </a:p>
          <a:p>
            <a:pPr>
              <a:spcBef>
                <a:spcPts val="0"/>
              </a:spcBef>
              <a:defRPr sz="1700">
                <a:solidFill>
                  <a:srgbClr val="000000"/>
                </a:solidFill>
                <a:latin typeface="Courier"/>
                <a:ea typeface="Courier"/>
                <a:cs typeface="Courier"/>
                <a:sym typeface="Courier"/>
              </a:defRPr>
            </a:pPr>
            <a:r>
              <a:t>              sh "scp -o StrictHostKeyChecking=no target/maven-web-application.war ec2-user@your-server:/opt/apache-tomcat-9.0.64/webapps/"</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a:t>
            </a:r>
          </a:p>
          <a:p>
            <a:pPr>
              <a:spcBef>
                <a:spcPts val="0"/>
              </a:spcBef>
              <a:defRPr sz="1700">
                <a:solidFill>
                  <a:srgbClr val="000000"/>
                </a:solidFill>
                <a:latin typeface="Courier"/>
                <a:ea typeface="Courier"/>
                <a:cs typeface="Courier"/>
                <a:sym typeface="Courier"/>
              </a:defRPr>
            </a:pPr>
            <a:r>
              <a:t> }</a:t>
            </a:r>
            <a:endParaRPr>
              <a:solidFill>
                <a:srgbClr val="FFF0A5"/>
              </a:solidFill>
            </a:endParaRPr>
          </a:p>
        </p:txBody>
      </p:sp>
      <p:sp>
        <p:nvSpPr>
          <p:cNvPr id="209" name="Steps:…"/>
          <p:cNvSpPr txBox="1"/>
          <p:nvPr/>
        </p:nvSpPr>
        <p:spPr>
          <a:xfrm>
            <a:off x="17030740" y="2315845"/>
            <a:ext cx="7073780" cy="11006202"/>
          </a:xfrm>
          <a:prstGeom prst="rect">
            <a:avLst/>
          </a:prstGeom>
          <a:ln w="63500">
            <a:solidFill>
              <a:schemeClr val="accent2">
                <a:hueOff val="-357243"/>
                <a:satOff val="7293"/>
                <a:lumOff val="8906"/>
              </a:schemeClr>
            </a:solidFill>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Steps:</a:t>
            </a:r>
          </a:p>
          <a:p>
            <a:pPr>
              <a:spcBef>
                <a:spcPts val="200"/>
              </a:spcBef>
            </a:pPr>
          </a:p>
          <a:p>
            <a:pPr marL="698500" indent="-698500">
              <a:spcBef>
                <a:spcPts val="100"/>
              </a:spcBef>
              <a:buSzPct val="100000"/>
              <a:buAutoNum type="arabicPeriod" startAt="1"/>
              <a:defRPr sz="3700"/>
            </a:pPr>
            <a:r>
              <a:t>Login to Jenkins</a:t>
            </a:r>
          </a:p>
          <a:p>
            <a:pPr marL="698500" indent="-698500">
              <a:spcBef>
                <a:spcPts val="100"/>
              </a:spcBef>
              <a:buSzPct val="100000"/>
              <a:buAutoNum type="arabicPeriod" startAt="1"/>
              <a:defRPr sz="3700"/>
            </a:pPr>
            <a:r>
              <a:t>Redirected to the Jenkins Dashboard</a:t>
            </a:r>
          </a:p>
          <a:p>
            <a:pPr marL="698500" indent="-698500">
              <a:spcBef>
                <a:spcPts val="100"/>
              </a:spcBef>
              <a:buSzPct val="100000"/>
              <a:buAutoNum type="arabicPeriod" startAt="1"/>
              <a:defRPr sz="3700"/>
            </a:pPr>
            <a:r>
              <a:t>Create a New Project</a:t>
            </a:r>
          </a:p>
          <a:p>
            <a:pPr marL="698500" indent="-698500">
              <a:spcBef>
                <a:spcPts val="100"/>
              </a:spcBef>
              <a:buSzPct val="100000"/>
              <a:buAutoNum type="arabicPeriod" startAt="1"/>
              <a:defRPr sz="3700"/>
            </a:pPr>
            <a:r>
              <a:t>Configure the Project Type</a:t>
            </a:r>
          </a:p>
          <a:p>
            <a:pPr marL="698500" indent="-698500">
              <a:spcBef>
                <a:spcPts val="100"/>
              </a:spcBef>
              <a:buSzPct val="100000"/>
              <a:buAutoNum type="arabicPeriod" startAt="1"/>
              <a:defRPr sz="3700"/>
            </a:pPr>
            <a:r>
              <a:t>Configure the General Section</a:t>
            </a:r>
          </a:p>
          <a:p>
            <a:pPr marL="698500" indent="-698500">
              <a:spcBef>
                <a:spcPts val="100"/>
              </a:spcBef>
              <a:buSzPct val="100000"/>
              <a:buAutoNum type="arabicPeriod" startAt="1"/>
              <a:defRPr sz="3700"/>
            </a:pPr>
            <a:r>
              <a:t>Set the build Triggers</a:t>
            </a:r>
          </a:p>
          <a:p>
            <a:pPr marL="698500" indent="-698500">
              <a:spcBef>
                <a:spcPts val="100"/>
              </a:spcBef>
              <a:buSzPct val="100000"/>
              <a:buAutoNum type="arabicPeriod" startAt="1"/>
              <a:defRPr sz="3700"/>
            </a:pPr>
            <a:r>
              <a:t>Advanced Project Options</a:t>
            </a:r>
          </a:p>
          <a:p>
            <a:pPr marL="698500" indent="-698500">
              <a:spcBef>
                <a:spcPts val="100"/>
              </a:spcBef>
              <a:buSzPct val="100000"/>
              <a:buAutoNum type="arabicPeriod" startAt="1"/>
              <a:defRPr sz="3700"/>
            </a:pPr>
            <a:r>
              <a:t>Configure the pipeline Section</a:t>
            </a:r>
          </a:p>
          <a:p>
            <a:pPr marL="698500" indent="-698500">
              <a:spcBef>
                <a:spcPts val="100"/>
              </a:spcBef>
              <a:buSzPct val="100000"/>
              <a:buAutoNum type="arabicPeriod" startAt="1"/>
              <a:defRPr sz="3700"/>
            </a:pPr>
            <a:r>
              <a:t>Save the Pipeline and Run it</a:t>
            </a:r>
          </a:p>
          <a:p>
            <a:pPr marL="698500" indent="-698500">
              <a:spcBef>
                <a:spcPts val="100"/>
              </a:spcBef>
              <a:buSzPct val="100000"/>
              <a:buAutoNum type="arabicPeriod" startAt="1"/>
              <a:defRPr sz="3700"/>
            </a:pPr>
            <a:r>
              <a:t>Monitor the Pipeline Execution</a:t>
            </a:r>
          </a:p>
          <a:p>
            <a:pPr marL="698500" indent="-698500">
              <a:spcBef>
                <a:spcPts val="100"/>
              </a:spcBef>
              <a:buSzPct val="100000"/>
              <a:buAutoNum type="arabicPeriod" startAt="1"/>
              <a:defRPr sz="3700"/>
            </a:pPr>
            <a:r>
              <a:t>Review the Build Status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Example"/>
          <p:cNvSpPr txBox="1"/>
          <p:nvPr>
            <p:ph type="title"/>
          </p:nvPr>
        </p:nvSpPr>
        <p:spPr>
          <a:prstGeom prst="rect">
            <a:avLst/>
          </a:prstGeom>
        </p:spPr>
        <p:txBody>
          <a:bodyPr/>
          <a:lstStyle>
            <a:lvl1pPr defTabSz="2316479">
              <a:defRPr spc="-95" sz="9500"/>
            </a:lvl1pPr>
          </a:lstStyle>
          <a:p>
            <a:pPr/>
            <a:r>
              <a:t>Example</a:t>
            </a:r>
          </a:p>
        </p:txBody>
      </p:sp>
      <p:sp>
        <p:nvSpPr>
          <p:cNvPr id="212" name="Pipeline {…"/>
          <p:cNvSpPr txBox="1"/>
          <p:nvPr>
            <p:ph type="body" idx="1"/>
          </p:nvPr>
        </p:nvSpPr>
        <p:spPr>
          <a:xfrm>
            <a:off x="1069222" y="2811107"/>
            <a:ext cx="21971001" cy="10208201"/>
          </a:xfrm>
          <a:prstGeom prst="rect">
            <a:avLst/>
          </a:prstGeom>
        </p:spPr>
        <p:txBody>
          <a:bodyPr numCol="2" spcCol="1098550"/>
          <a:lstStyle/>
          <a:p>
            <a:pPr marL="0" indent="0" defTabSz="188467">
              <a:spcBef>
                <a:spcPts val="0"/>
              </a:spcBef>
              <a:buSzTx/>
              <a:buNone/>
              <a:defRPr sz="2120"/>
            </a:pPr>
            <a:r>
              <a:t>Pipeline {</a:t>
            </a:r>
          </a:p>
          <a:p>
            <a:pPr marL="0" indent="0" defTabSz="188467">
              <a:spcBef>
                <a:spcPts val="0"/>
              </a:spcBef>
              <a:buSzTx/>
              <a:buNone/>
              <a:defRPr sz="2120"/>
            </a:pPr>
            <a:r>
              <a:t>    Agent {</a:t>
            </a:r>
          </a:p>
          <a:p>
            <a:pPr marL="0" indent="0" defTabSz="188467">
              <a:spcBef>
                <a:spcPts val="0"/>
              </a:spcBef>
              <a:buSzTx/>
              <a:buNone/>
              <a:defRPr sz="2120"/>
            </a:pPr>
            <a:r>
              <a:t>        Node {</a:t>
            </a:r>
          </a:p>
          <a:p>
            <a:pPr marL="0" indent="0" defTabSz="188467">
              <a:spcBef>
                <a:spcPts val="0"/>
              </a:spcBef>
              <a:buSzTx/>
              <a:buNone/>
              <a:defRPr sz="2120"/>
            </a:pPr>
            <a:r>
              <a:t>            Label </a:t>
            </a:r>
            <a:r>
              <a:rPr>
                <a:solidFill>
                  <a:srgbClr val="C41A16"/>
                </a:solidFill>
              </a:rPr>
              <a:t>'SLAVE01'</a:t>
            </a: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p>
          <a:p>
            <a:pPr marL="0" indent="0" defTabSz="188467">
              <a:spcBef>
                <a:spcPts val="0"/>
              </a:spcBef>
              <a:buSzTx/>
              <a:buNone/>
              <a:defRPr sz="2120"/>
            </a:pPr>
            <a:r>
              <a:t>    Tools {</a:t>
            </a:r>
          </a:p>
          <a:p>
            <a:pPr marL="0" indent="0" defTabSz="188467">
              <a:spcBef>
                <a:spcPts val="0"/>
              </a:spcBef>
              <a:buSzTx/>
              <a:buNone/>
              <a:defRPr sz="2120"/>
            </a:pPr>
            <a:r>
              <a:t>        Maven </a:t>
            </a:r>
            <a:r>
              <a:rPr>
                <a:solidFill>
                  <a:srgbClr val="C41A16"/>
                </a:solidFill>
              </a:rPr>
              <a:t>'maven3'</a:t>
            </a:r>
          </a:p>
          <a:p>
            <a:pPr marL="0" indent="0" defTabSz="188467">
              <a:spcBef>
                <a:spcPts val="0"/>
              </a:spcBef>
              <a:buSzTx/>
              <a:buNone/>
              <a:defRPr sz="2120"/>
            </a:pPr>
            <a:r>
              <a:t>    }</a:t>
            </a:r>
          </a:p>
          <a:p>
            <a:pPr marL="0" indent="0" defTabSz="188467">
              <a:spcBef>
                <a:spcPts val="0"/>
              </a:spcBef>
              <a:buSzTx/>
              <a:buNone/>
              <a:defRPr sz="2120"/>
            </a:pPr>
          </a:p>
          <a:p>
            <a:pPr marL="0" indent="0" defTabSz="188467">
              <a:spcBef>
                <a:spcPts val="0"/>
              </a:spcBef>
              <a:buSzTx/>
              <a:buNone/>
              <a:defRPr sz="2120"/>
            </a:pPr>
            <a:r>
              <a:t>    Options {</a:t>
            </a:r>
          </a:p>
          <a:p>
            <a:pPr marL="0" indent="0" defTabSz="188467">
              <a:spcBef>
                <a:spcPts val="0"/>
              </a:spcBef>
              <a:buSzTx/>
              <a:buNone/>
              <a:defRPr sz="2120"/>
            </a:pPr>
            <a:r>
              <a:t>        BuildDiscarder LogRotator(</a:t>
            </a:r>
          </a:p>
          <a:p>
            <a:pPr marL="0" indent="0" defTabSz="188467">
              <a:spcBef>
                <a:spcPts val="0"/>
              </a:spcBef>
              <a:buSzTx/>
              <a:buNone/>
              <a:defRPr sz="2120"/>
            </a:pPr>
            <a:r>
              <a:t>            DaysToKeepStr: </a:t>
            </a:r>
            <a:r>
              <a:rPr>
                <a:solidFill>
                  <a:srgbClr val="C41A16"/>
                </a:solidFill>
              </a:rPr>
              <a:t>'15'</a:t>
            </a:r>
            <a:r>
              <a:t>,</a:t>
            </a:r>
          </a:p>
          <a:p>
            <a:pPr marL="0" indent="0" defTabSz="188467">
              <a:spcBef>
                <a:spcPts val="0"/>
              </a:spcBef>
              <a:buSzTx/>
              <a:buNone/>
              <a:defRPr sz="2120"/>
            </a:pPr>
            <a:r>
              <a:t>            NumToKeepStr: </a:t>
            </a:r>
            <a:r>
              <a:rPr>
                <a:solidFill>
                  <a:srgbClr val="C41A16"/>
                </a:solidFill>
              </a:rPr>
              <a:t>'10'</a:t>
            </a: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p>
          <a:p>
            <a:pPr marL="0" indent="0" defTabSz="188467">
              <a:spcBef>
                <a:spcPts val="0"/>
              </a:spcBef>
              <a:buSzTx/>
              <a:buNone/>
              <a:defRPr sz="2120"/>
            </a:pPr>
            <a:r>
              <a:t>    Environment {</a:t>
            </a:r>
          </a:p>
          <a:p>
            <a:pPr marL="0" indent="0" defTabSz="188467">
              <a:spcBef>
                <a:spcPts val="0"/>
              </a:spcBef>
              <a:buSzTx/>
              <a:buNone/>
              <a:defRPr sz="2120"/>
            </a:pPr>
            <a:r>
              <a:t>        APP_NAME = </a:t>
            </a:r>
            <a:r>
              <a:rPr>
                <a:solidFill>
                  <a:srgbClr val="C41A16"/>
                </a:solidFill>
              </a:rPr>
              <a:t>"CSTU_APP"</a:t>
            </a:r>
          </a:p>
          <a:p>
            <a:pPr marL="0" indent="0" defTabSz="188467">
              <a:spcBef>
                <a:spcPts val="0"/>
              </a:spcBef>
              <a:buSzTx/>
              <a:buNone/>
              <a:defRPr sz="2120"/>
            </a:pPr>
            <a:r>
              <a:t>        APP_ENV = </a:t>
            </a:r>
            <a:r>
              <a:rPr>
                <a:solidFill>
                  <a:srgbClr val="C41A16"/>
                </a:solidFill>
              </a:rPr>
              <a:t>"DEV"</a:t>
            </a:r>
          </a:p>
          <a:p>
            <a:pPr marL="0" indent="0" defTabSz="188467">
              <a:spcBef>
                <a:spcPts val="0"/>
              </a:spcBef>
              <a:buSzTx/>
              <a:buNone/>
              <a:defRPr sz="2120"/>
            </a:pPr>
            <a:r>
              <a:t>    }</a:t>
            </a:r>
          </a:p>
          <a:p>
            <a:pPr marL="0" indent="0" defTabSz="188467">
              <a:spcBef>
                <a:spcPts val="0"/>
              </a:spcBef>
              <a:buSzTx/>
              <a:buNone/>
              <a:defRPr sz="2120"/>
            </a:pPr>
          </a:p>
          <a:p>
            <a:pPr marL="0" indent="0" defTabSz="188467">
              <a:spcBef>
                <a:spcPts val="0"/>
              </a:spcBef>
              <a:buSzTx/>
              <a:buNone/>
              <a:defRPr sz="2120"/>
            </a:pPr>
            <a:r>
              <a:t>    Stages {</a:t>
            </a:r>
          </a:p>
          <a:p>
            <a:pPr marL="0" indent="0" defTabSz="188467">
              <a:spcBef>
                <a:spcPts val="0"/>
              </a:spcBef>
              <a:buSzTx/>
              <a:buNone/>
              <a:defRPr sz="2120"/>
            </a:pPr>
            <a:r>
              <a:rPr>
                <a:solidFill>
                  <a:srgbClr val="242424"/>
                </a:solidFill>
              </a:rPr>
              <a:t>        Stage(</a:t>
            </a:r>
            <a:r>
              <a:t>'Cleanup Workspace'</a:t>
            </a:r>
            <a:r>
              <a:rPr>
                <a:solidFill>
                  <a:srgbClr val="242424"/>
                </a:solidFill>
              </a:rPr>
              <a:t>) {</a:t>
            </a:r>
            <a:endParaRPr>
              <a:solidFill>
                <a:srgbClr val="242424"/>
              </a:solidFill>
            </a:endParaRPr>
          </a:p>
          <a:p>
            <a:pPr marL="0" indent="0" defTabSz="188467">
              <a:spcBef>
                <a:spcPts val="0"/>
              </a:spcBef>
              <a:buSzTx/>
              <a:buNone/>
              <a:defRPr sz="2120"/>
            </a:pPr>
            <a:r>
              <a:t>            Steps {</a:t>
            </a:r>
          </a:p>
          <a:p>
            <a:pPr marL="0" indent="0" defTabSz="188467">
              <a:spcBef>
                <a:spcPts val="0"/>
              </a:spcBef>
              <a:buSzTx/>
              <a:buNone/>
              <a:defRPr sz="2120"/>
            </a:pPr>
            <a:r>
              <a:t>                CleanWs()</a:t>
            </a:r>
          </a:p>
          <a:p>
            <a:pPr marL="0" indent="0" defTabSz="188467">
              <a:spcBef>
                <a:spcPts val="0"/>
              </a:spcBef>
              <a:buSzTx/>
              <a:buNone/>
              <a:defRPr sz="2120"/>
            </a:pPr>
            <a:r>
              <a:rPr>
                <a:solidFill>
                  <a:srgbClr val="242424"/>
                </a:solidFill>
              </a:rPr>
              <a:t>                Sh </a:t>
            </a:r>
            <a:r>
              <a:t>'echo "Cleaned Up Workspace for ${APP_NAME}"'</a:t>
            </a:r>
            <a:endParaRPr>
              <a:solidFill>
                <a:srgbClr val="242424"/>
              </a:solidFill>
            </a:endParaRP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p>
          <a:p>
            <a:pPr marL="0" indent="0" defTabSz="188467">
              <a:spcBef>
                <a:spcPts val="0"/>
              </a:spcBef>
              <a:buSzTx/>
              <a:buNone/>
              <a:defRPr sz="2120"/>
            </a:pPr>
            <a:r>
              <a:rPr>
                <a:solidFill>
                  <a:srgbClr val="242424"/>
                </a:solidFill>
              </a:rPr>
              <a:t>        Stage(</a:t>
            </a:r>
            <a:r>
              <a:t>'Code Checkout'</a:t>
            </a:r>
            <a:r>
              <a:rPr>
                <a:solidFill>
                  <a:srgbClr val="242424"/>
                </a:solidFill>
              </a:rPr>
              <a:t>) {</a:t>
            </a:r>
            <a:endParaRPr>
              <a:solidFill>
                <a:srgbClr val="242424"/>
              </a:solidFill>
            </a:endParaRPr>
          </a:p>
          <a:p>
            <a:pPr marL="0" indent="0" defTabSz="188467">
              <a:spcBef>
                <a:spcPts val="0"/>
              </a:spcBef>
              <a:buSzTx/>
              <a:buNone/>
              <a:defRPr sz="2120"/>
            </a:pPr>
            <a:r>
              <a:t>            Steps {</a:t>
            </a:r>
          </a:p>
          <a:p>
            <a:pPr marL="0" indent="0" defTabSz="188467">
              <a:spcBef>
                <a:spcPts val="0"/>
              </a:spcBef>
              <a:buSzTx/>
              <a:buNone/>
              <a:defRPr sz="2120"/>
            </a:pPr>
            <a:r>
              <a:t>                Checkout([</a:t>
            </a:r>
          </a:p>
          <a:p>
            <a:pPr marL="0" indent="0" defTabSz="188467">
              <a:spcBef>
                <a:spcPts val="0"/>
              </a:spcBef>
              <a:buSzTx/>
              <a:buNone/>
              <a:defRPr sz="2120"/>
            </a:pPr>
            <a:r>
              <a:t>                    $class: </a:t>
            </a:r>
            <a:r>
              <a:rPr>
                <a:solidFill>
                  <a:srgbClr val="C41A16"/>
                </a:solidFill>
              </a:rPr>
              <a:t>'GitSCM'</a:t>
            </a:r>
            <a:r>
              <a:t>,</a:t>
            </a:r>
          </a:p>
          <a:p>
            <a:pPr marL="0" indent="0" defTabSz="188467">
              <a:spcBef>
                <a:spcPts val="0"/>
              </a:spcBef>
              <a:buSzTx/>
              <a:buNone/>
              <a:defRPr sz="2120"/>
            </a:pPr>
            <a:r>
              <a:t>                    Branches: </a:t>
            </a:r>
            <a:r>
              <a:rPr>
                <a:solidFill>
                  <a:srgbClr val="C41A16"/>
                </a:solidFill>
              </a:rPr>
              <a:t>[[name: '*/master']]</a:t>
            </a:r>
            <a:r>
              <a:t>,</a:t>
            </a:r>
          </a:p>
          <a:p>
            <a:pPr marL="0" indent="0" defTabSz="188467">
              <a:spcBef>
                <a:spcPts val="0"/>
              </a:spcBef>
              <a:buSzTx/>
              <a:buNone/>
              <a:defRPr sz="2120"/>
            </a:pPr>
            <a:r>
              <a:rPr>
                <a:solidFill>
                  <a:srgbClr val="242424"/>
                </a:solidFill>
              </a:rPr>
              <a:t>                    UserRemoteConfigs: </a:t>
            </a:r>
            <a:r>
              <a:t>[[url: 'https://github.com/spring-projects/spring-petclinic.git']]</a:t>
            </a:r>
            <a:endParaRPr>
              <a:solidFill>
                <a:srgbClr val="242424"/>
              </a:solidFill>
            </a:endParaRP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p>
          <a:p>
            <a:pPr marL="0" indent="0" defTabSz="188467">
              <a:spcBef>
                <a:spcPts val="0"/>
              </a:spcBef>
              <a:buSzTx/>
              <a:buNone/>
              <a:defRPr sz="2120"/>
            </a:pPr>
            <a:r>
              <a:t>        Stage(</a:t>
            </a:r>
            <a:r>
              <a:rPr>
                <a:solidFill>
                  <a:srgbClr val="C41A16"/>
                </a:solidFill>
              </a:rPr>
              <a:t>'Code Build'</a:t>
            </a:r>
            <a:r>
              <a:t>) {</a:t>
            </a:r>
          </a:p>
          <a:p>
            <a:pPr marL="0" indent="0" defTabSz="188467">
              <a:spcBef>
                <a:spcPts val="0"/>
              </a:spcBef>
              <a:buSzTx/>
              <a:buNone/>
              <a:defRPr sz="2120"/>
            </a:pPr>
            <a:r>
              <a:t>            Steps {</a:t>
            </a:r>
          </a:p>
          <a:p>
            <a:pPr marL="0" indent="0" defTabSz="188467">
              <a:spcBef>
                <a:spcPts val="0"/>
              </a:spcBef>
              <a:buSzTx/>
              <a:buNone/>
              <a:defRPr sz="2120"/>
            </a:pPr>
            <a:r>
              <a:rPr>
                <a:solidFill>
                  <a:srgbClr val="242424"/>
                </a:solidFill>
              </a:rPr>
              <a:t>                Sh </a:t>
            </a:r>
            <a:r>
              <a:t>'mvn install -Dmaven.test.skip=true'</a:t>
            </a:r>
            <a:endParaRPr>
              <a:solidFill>
                <a:srgbClr val="242424"/>
              </a:solidFill>
            </a:endParaRP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p>
          <a:p>
            <a:pPr marL="0" indent="0" defTabSz="188467">
              <a:spcBef>
                <a:spcPts val="0"/>
              </a:spcBef>
              <a:buSzTx/>
              <a:buNone/>
              <a:defRPr sz="2120"/>
            </a:pPr>
            <a:r>
              <a:rPr>
                <a:solidFill>
                  <a:srgbClr val="242424"/>
                </a:solidFill>
              </a:rPr>
              <a:t>        Stage(</a:t>
            </a:r>
            <a:r>
              <a:t>'Printing All Global Variables'</a:t>
            </a:r>
            <a:r>
              <a:rPr>
                <a:solidFill>
                  <a:srgbClr val="242424"/>
                </a:solidFill>
              </a:rPr>
              <a:t>) {</a:t>
            </a:r>
            <a:endParaRPr>
              <a:solidFill>
                <a:srgbClr val="242424"/>
              </a:solidFill>
            </a:endParaRPr>
          </a:p>
          <a:p>
            <a:pPr marL="0" indent="0" defTabSz="188467">
              <a:spcBef>
                <a:spcPts val="0"/>
              </a:spcBef>
              <a:buSzTx/>
              <a:buNone/>
              <a:defRPr sz="2120"/>
            </a:pPr>
            <a:r>
              <a:t>            Steps {</a:t>
            </a:r>
          </a:p>
          <a:p>
            <a:pPr marL="0" indent="0" defTabSz="188467">
              <a:spcBef>
                <a:spcPts val="0"/>
              </a:spcBef>
              <a:buSzTx/>
              <a:buNone/>
              <a:defRPr sz="2120"/>
            </a:pPr>
            <a:r>
              <a:t>                Sh </a:t>
            </a:r>
            <a:r>
              <a:rPr>
                <a:solidFill>
                  <a:srgbClr val="C41A16"/>
                </a:solidFill>
              </a:rPr>
              <a:t>'env'</a:t>
            </a: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r>
              <a:t>    }</a:t>
            </a:r>
          </a:p>
          <a:p>
            <a:pPr marL="0" indent="0" defTabSz="188467">
              <a:spcBef>
                <a:spcPts val="0"/>
              </a:spcBef>
              <a:buSzTx/>
              <a:buNone/>
              <a:defRPr sz="2120"/>
            </a:pPr>
            <a:r>
              <a: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_DynamicWavesLight">
  <a:themeElements>
    <a:clrScheme name="36_DynamicWaves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
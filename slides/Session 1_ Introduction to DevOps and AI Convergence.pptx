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media/image10.jpeg" ContentType="image/jpeg"/>
  <Override PartName="/ppt/media/image11.jpeg" ContentType="image/jpeg"/>
  <Override PartName="/ppt/media/image12.jpeg" ContentType="image/jpeg"/>
  <Override PartName="/ppt/media/image13.jpeg" ContentType="image/jpeg"/>
  <Override PartName="/ppt/media/image14.jpeg" ContentType="image/jpeg"/>
  <Override PartName="/ppt/media/image15.jpeg" ContentType="image/jpeg"/>
  <Override PartName="/ppt/media/image16.jpeg" ContentType="image/jpeg"/>
  <Override PartName="/ppt/media/image17.jpeg" ContentType="image/jpeg"/>
  <Override PartName="/ppt/media/image18.jpeg" ContentType="image/jpeg"/>
  <Override PartName="/ppt/media/image19.jpeg" ContentType="image/jpeg"/>
  <Override PartName="/ppt/media/image20.jpeg" ContentType="image/jpeg"/>
  <Override PartName="/ppt/media/image21.jpeg" ContentType="image/jpeg"/>
  <Override PartName="/ppt/media/image22.jpeg" ContentType="image/jpeg"/>
  <Override PartName="/ppt/media/image23.jpeg" ContentType="image/jpeg"/>
  <Override PartName="/ppt/media/image24.jpeg" ContentType="image/jpeg"/>
  <Override PartName="/ppt/media/image25.jpeg" ContentType="image/jpeg"/>
  <Override PartName="/ppt/media/image26.jpeg" ContentType="image/jpeg"/>
  <Override PartName="/ppt/media/image27.jpeg" ContentType="image/jpeg"/>
  <Override PartName="/ppt/media/image28.jpeg" ContentType="image/jpeg"/>
  <Override PartName="/ppt/media/image29.jpeg" ContentType="image/jpeg"/>
  <Override PartName="/ppt/media/image30.jpeg" ContentType="image/jpeg"/>
  <Override PartName="/ppt/media/image31.jpeg" ContentType="image/jpeg"/>
  <Override PartName="/ppt/media/image32.jpeg" ContentType="image/jpeg"/>
  <Override PartName="/ppt/media/image33.jpeg" ContentType="image/jpeg"/>
  <Override PartName="/ppt/media/image34.jpeg" ContentType="image/jpeg"/>
  <Override PartName="/ppt/media/image35.jpeg" ContentType="image/jpeg"/>
  <Override PartName="/ppt/media/image36.jpeg" ContentType="image/jpeg"/>
  <Override PartName="/ppt/media/image3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mailto:qingsong.zhang@cstu.edu" TargetMode="External"/><Relationship Id="rId3" Type="http://schemas.openxmlformats.org/officeDocument/2006/relationships/hyperlink" Target="mailto:van.lam@cstu.edu" TargetMode="External"/><Relationship Id="rId4" Type="http://schemas.openxmlformats.org/officeDocument/2006/relationships/image" Target="../media/image2.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4.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e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jpe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jpe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e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e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jpe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jpe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jpe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jpe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jpe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jpe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jpe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jpe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jpe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jpe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jpe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jpe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jpe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jpe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jpeg"/></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jpeg"/></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7.jpeg"/></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8.jpeg"/></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jpeg"/></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0.jpeg"/></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1.jpeg"/></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jpeg"/></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jpeg"/></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4.jpeg"/></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5.jpeg"/></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6.jpeg"/></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 name="StaticPath"/>
          <p:cNvSpPr/>
          <p:nvPr/>
        </p:nvSpPr>
        <p:spPr>
          <a:xfrm>
            <a:off x="2056019" y="-1222725"/>
            <a:ext cx="5032059" cy="5032059"/>
          </a:xfrm>
          <a:prstGeom prst="ellipse">
            <a:avLst/>
          </a:prstGeom>
          <a:solidFill>
            <a:srgbClr val="000000">
              <a:alpha val="6000"/>
            </a:srgbClr>
          </a:solidFill>
          <a:ln w="12700">
            <a:miter lim="400000"/>
          </a:ln>
        </p:spPr>
        <p:txBody>
          <a:bodyPr lIns="45719" rIns="45719"/>
          <a:lstStyle/>
          <a:p>
            <a:pPr/>
          </a:p>
        </p:txBody>
      </p:sp>
      <p:sp>
        <p:nvSpPr>
          <p:cNvPr id="21" name="Title"/>
          <p:cNvSpPr txBox="1"/>
          <p:nvPr/>
        </p:nvSpPr>
        <p:spPr>
          <a:xfrm>
            <a:off x="804100" y="2322853"/>
            <a:ext cx="752856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700">
                <a:latin typeface="OpenSans-Bold"/>
                <a:ea typeface="OpenSans-Bold"/>
                <a:cs typeface="OpenSans-Bold"/>
                <a:sym typeface="OpenSans-Bold"/>
              </a:defRPr>
            </a:lvl1pPr>
          </a:lstStyle>
          <a:p>
            <a:pPr/>
            <a:r>
              <a:t>CSE636: DevOps with AI Assistance</a:t>
            </a:r>
          </a:p>
        </p:txBody>
      </p:sp>
      <p:sp>
        <p:nvSpPr>
          <p:cNvPr id="22" name="StaticPath"/>
          <p:cNvSpPr/>
          <p:nvPr/>
        </p:nvSpPr>
        <p:spPr>
          <a:xfrm>
            <a:off x="7190137" y="3357657"/>
            <a:ext cx="2394587" cy="2394587"/>
          </a:xfrm>
          <a:prstGeom prst="ellipse">
            <a:avLst/>
          </a:prstGeom>
          <a:solidFill>
            <a:srgbClr val="000000">
              <a:alpha val="0"/>
            </a:srgbClr>
          </a:solidFill>
          <a:ln w="423332">
            <a:solidFill>
              <a:srgbClr val="FF9800"/>
            </a:solidFill>
          </a:ln>
        </p:spPr>
        <p:txBody>
          <a:bodyPr lIns="45719" rIns="45719"/>
          <a:lstStyle/>
          <a:p>
            <a:pPr/>
          </a:p>
        </p:txBody>
      </p:sp>
      <p:sp>
        <p:nvSpPr>
          <p:cNvPr id="23" name="StaticPath"/>
          <p:cNvSpPr/>
          <p:nvPr/>
        </p:nvSpPr>
        <p:spPr>
          <a:xfrm>
            <a:off x="-957930" y="-1222725"/>
            <a:ext cx="1991680" cy="1991680"/>
          </a:xfrm>
          <a:prstGeom prst="ellipse">
            <a:avLst/>
          </a:prstGeom>
          <a:solidFill>
            <a:srgbClr val="000000">
              <a:alpha val="0"/>
            </a:srgbClr>
          </a:solidFill>
          <a:ln w="423332">
            <a:solidFill>
              <a:srgbClr val="FF9800"/>
            </a:solidFill>
          </a:ln>
        </p:spPr>
        <p:txBody>
          <a:bodyPr lIns="45719" rIns="45719"/>
          <a:lstStyle/>
          <a:p>
            <a:pPr/>
          </a:p>
        </p:txBody>
      </p:sp>
      <p:sp>
        <p:nvSpPr>
          <p:cNvPr id="24" name="StaticPath"/>
          <p:cNvSpPr/>
          <p:nvPr/>
        </p:nvSpPr>
        <p:spPr>
          <a:xfrm>
            <a:off x="303609" y="4340114"/>
            <a:ext cx="571501" cy="571501"/>
          </a:xfrm>
          <a:prstGeom prst="ellipse">
            <a:avLst/>
          </a:prstGeom>
          <a:solidFill>
            <a:srgbClr val="000000"/>
          </a:solidFill>
          <a:ln w="12700">
            <a:miter lim="400000"/>
          </a:ln>
        </p:spPr>
        <p:txBody>
          <a:bodyPr lIns="45719" rIns="45719"/>
          <a:lstStyle/>
          <a:p>
            <a:pPr/>
          </a:p>
        </p:txBody>
      </p:sp>
      <p:sp>
        <p:nvSpPr>
          <p:cNvPr id="25" name="StaticPath"/>
          <p:cNvSpPr/>
          <p:nvPr/>
        </p:nvSpPr>
        <p:spPr>
          <a:xfrm>
            <a:off x="939164" y="4348162"/>
            <a:ext cx="571501" cy="571501"/>
          </a:xfrm>
          <a:prstGeom prst="ellipse">
            <a:avLst/>
          </a:prstGeom>
          <a:solidFill>
            <a:srgbClr val="000000"/>
          </a:solidFill>
          <a:ln w="12700">
            <a:miter lim="400000"/>
          </a:ln>
        </p:spPr>
        <p:txBody>
          <a:bodyPr lIns="45719" rIns="45719"/>
          <a:lstStyle/>
          <a:p>
            <a:pPr/>
          </a:p>
        </p:txBody>
      </p:sp>
      <p:sp>
        <p:nvSpPr>
          <p:cNvPr id="26" name="StaticPath"/>
          <p:cNvSpPr/>
          <p:nvPr/>
        </p:nvSpPr>
        <p:spPr>
          <a:xfrm>
            <a:off x="620268" y="4338923"/>
            <a:ext cx="571501" cy="571501"/>
          </a:xfrm>
          <a:prstGeom prst="ellipse">
            <a:avLst/>
          </a:prstGeom>
          <a:solidFill>
            <a:srgbClr val="FF9800"/>
          </a:solidFill>
          <a:ln w="12700">
            <a:miter lim="400000"/>
          </a:ln>
        </p:spPr>
        <p:txBody>
          <a:bodyPr lIns="45719" rIns="45719"/>
          <a:lstStyle/>
          <a:p>
            <a:pPr/>
          </a:p>
        </p:txBody>
      </p:sp>
      <p:sp>
        <p:nvSpPr>
          <p:cNvPr id="27" name="Qingsong Zhang, Ph. D."/>
          <p:cNvSpPr txBox="1"/>
          <p:nvPr/>
        </p:nvSpPr>
        <p:spPr>
          <a:xfrm>
            <a:off x="4740381" y="4024700"/>
            <a:ext cx="2243694"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Qingsong Zhang, Ph. D.</a:t>
            </a:r>
          </a:p>
        </p:txBody>
      </p:sp>
      <p:sp>
        <p:nvSpPr>
          <p:cNvPr id="28" name="Fall, 2025"/>
          <p:cNvSpPr txBox="1"/>
          <p:nvPr/>
        </p:nvSpPr>
        <p:spPr>
          <a:xfrm>
            <a:off x="1780404" y="4024700"/>
            <a:ext cx="989631"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Fall, 2025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0" name="StaticPath"/>
          <p:cNvSpPr/>
          <p:nvPr/>
        </p:nvSpPr>
        <p:spPr>
          <a:xfrm>
            <a:off x="2056019" y="-1222725"/>
            <a:ext cx="5032059" cy="5032059"/>
          </a:xfrm>
          <a:prstGeom prst="ellipse">
            <a:avLst/>
          </a:prstGeom>
          <a:solidFill>
            <a:srgbClr val="000000">
              <a:alpha val="6000"/>
            </a:srgbClr>
          </a:solidFill>
          <a:ln w="12700">
            <a:miter lim="400000"/>
          </a:ln>
        </p:spPr>
        <p:txBody>
          <a:bodyPr lIns="45719" rIns="45719"/>
          <a:lstStyle/>
          <a:p>
            <a:pPr/>
          </a:p>
        </p:txBody>
      </p:sp>
      <p:sp>
        <p:nvSpPr>
          <p:cNvPr id="31" name="StaticPath"/>
          <p:cNvSpPr/>
          <p:nvPr/>
        </p:nvSpPr>
        <p:spPr>
          <a:xfrm>
            <a:off x="7190137" y="3357657"/>
            <a:ext cx="2394587" cy="2394587"/>
          </a:xfrm>
          <a:prstGeom prst="ellipse">
            <a:avLst/>
          </a:prstGeom>
          <a:solidFill>
            <a:srgbClr val="000000">
              <a:alpha val="0"/>
            </a:srgbClr>
          </a:solidFill>
          <a:ln w="423332">
            <a:solidFill>
              <a:srgbClr val="FF9800"/>
            </a:solidFill>
          </a:ln>
        </p:spPr>
        <p:txBody>
          <a:bodyPr lIns="45719" rIns="45719"/>
          <a:lstStyle/>
          <a:p>
            <a:pPr/>
          </a:p>
        </p:txBody>
      </p:sp>
      <p:sp>
        <p:nvSpPr>
          <p:cNvPr id="32" name="StaticPath"/>
          <p:cNvSpPr/>
          <p:nvPr/>
        </p:nvSpPr>
        <p:spPr>
          <a:xfrm>
            <a:off x="-957930" y="-1222725"/>
            <a:ext cx="1991680" cy="1991680"/>
          </a:xfrm>
          <a:prstGeom prst="ellipse">
            <a:avLst/>
          </a:prstGeom>
          <a:solidFill>
            <a:srgbClr val="000000">
              <a:alpha val="0"/>
            </a:srgbClr>
          </a:solidFill>
          <a:ln w="423332">
            <a:solidFill>
              <a:srgbClr val="FF9800"/>
            </a:solidFill>
          </a:ln>
        </p:spPr>
        <p:txBody>
          <a:bodyPr lIns="45719" rIns="45719"/>
          <a:lstStyle/>
          <a:p>
            <a:pPr/>
          </a:p>
        </p:txBody>
      </p:sp>
      <p:sp>
        <p:nvSpPr>
          <p:cNvPr id="33" name="StaticPath"/>
          <p:cNvSpPr/>
          <p:nvPr/>
        </p:nvSpPr>
        <p:spPr>
          <a:xfrm>
            <a:off x="303609" y="4340114"/>
            <a:ext cx="571501" cy="571501"/>
          </a:xfrm>
          <a:prstGeom prst="ellipse">
            <a:avLst/>
          </a:prstGeom>
          <a:solidFill>
            <a:srgbClr val="000000"/>
          </a:solidFill>
          <a:ln w="12700">
            <a:miter lim="400000"/>
          </a:ln>
        </p:spPr>
        <p:txBody>
          <a:bodyPr lIns="45719" rIns="45719"/>
          <a:lstStyle/>
          <a:p>
            <a:pPr/>
          </a:p>
        </p:txBody>
      </p:sp>
      <p:sp>
        <p:nvSpPr>
          <p:cNvPr id="34" name="StaticPath"/>
          <p:cNvSpPr/>
          <p:nvPr/>
        </p:nvSpPr>
        <p:spPr>
          <a:xfrm>
            <a:off x="939164" y="4348162"/>
            <a:ext cx="571501" cy="571501"/>
          </a:xfrm>
          <a:prstGeom prst="ellipse">
            <a:avLst/>
          </a:prstGeom>
          <a:solidFill>
            <a:srgbClr val="000000"/>
          </a:solidFill>
          <a:ln w="12700">
            <a:miter lim="400000"/>
          </a:ln>
        </p:spPr>
        <p:txBody>
          <a:bodyPr lIns="45719" rIns="45719"/>
          <a:lstStyle/>
          <a:p>
            <a:pPr/>
          </a:p>
        </p:txBody>
      </p:sp>
      <p:sp>
        <p:nvSpPr>
          <p:cNvPr id="35" name="StaticPath"/>
          <p:cNvSpPr/>
          <p:nvPr/>
        </p:nvSpPr>
        <p:spPr>
          <a:xfrm>
            <a:off x="620268" y="4338923"/>
            <a:ext cx="571501" cy="571501"/>
          </a:xfrm>
          <a:prstGeom prst="ellipse">
            <a:avLst/>
          </a:prstGeom>
          <a:solidFill>
            <a:srgbClr val="FF9800"/>
          </a:solidFill>
          <a:ln w="12700">
            <a:miter lim="400000"/>
          </a:ln>
        </p:spPr>
        <p:txBody>
          <a:bodyPr lIns="45719" rIns="45719"/>
          <a:lstStyle/>
          <a:p>
            <a:pPr/>
          </a:p>
        </p:txBody>
      </p:sp>
      <p:sp>
        <p:nvSpPr>
          <p:cNvPr id="36"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Meet Your Professor</a:t>
            </a:r>
          </a:p>
        </p:txBody>
      </p:sp>
      <p:sp>
        <p:nvSpPr>
          <p:cNvPr id="37" name="Subtitle 1"/>
          <p:cNvSpPr txBox="1"/>
          <p:nvPr/>
        </p:nvSpPr>
        <p:spPr>
          <a:xfrm>
            <a:off x="836100" y="888162"/>
            <a:ext cx="514731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Academic Background</a:t>
            </a:r>
          </a:p>
        </p:txBody>
      </p:sp>
      <p:sp>
        <p:nvSpPr>
          <p:cNvPr id="38" name="Paragraph 1"/>
          <p:cNvSpPr txBox="1"/>
          <p:nvPr/>
        </p:nvSpPr>
        <p:spPr>
          <a:xfrm>
            <a:off x="1069962" y="1196801"/>
            <a:ext cx="5147310" cy="853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latin typeface="OpenSans-Regular"/>
                <a:ea typeface="OpenSans-Regular"/>
                <a:cs typeface="OpenSans-Regular"/>
                <a:sym typeface="OpenSans-Regular"/>
              </a:defRPr>
            </a:pPr>
            <a:r>
              <a:t>Ph. D. In Engineering, McGill University, Montreal, Canada</a:t>
            </a:r>
          </a:p>
          <a:p>
            <a:pPr>
              <a:defRPr sz="1000">
                <a:latin typeface="OpenSans-Regular"/>
                <a:ea typeface="OpenSans-Regular"/>
                <a:cs typeface="OpenSans-Regular"/>
                <a:sym typeface="OpenSans-Regular"/>
              </a:defRPr>
            </a:pPr>
            <a:r>
              <a:t>Mathematical model, Signal automation, Coding, Control</a:t>
            </a:r>
          </a:p>
          <a:p>
            <a:pPr>
              <a:defRPr sz="1000">
                <a:latin typeface="OpenSans-Regular"/>
                <a:ea typeface="OpenSans-Regular"/>
                <a:cs typeface="OpenSans-Regular"/>
                <a:sym typeface="OpenSans-Regular"/>
              </a:defRPr>
            </a:pPr>
            <a:r>
              <a:t>Language: Basic, Fortran, Cobol, Assembly, Pascal, C, C++, Java, SQL, MATLAB</a:t>
            </a:r>
          </a:p>
          <a:p>
            <a:pPr>
              <a:defRPr sz="1000">
                <a:latin typeface="OpenSans-Regular"/>
                <a:ea typeface="OpenSans-Regular"/>
                <a:cs typeface="OpenSans-Regular"/>
                <a:sym typeface="OpenSans-Regular"/>
              </a:defRPr>
            </a:pPr>
            <a:r>
              <a:t>System: MainFrame, 8086/80286/80386, PC, IBM, MAC, HPUX, SUN</a:t>
            </a:r>
          </a:p>
          <a:p>
            <a:pPr>
              <a:defRPr sz="1000">
                <a:latin typeface="OpenSans-Regular"/>
                <a:ea typeface="OpenSans-Regular"/>
                <a:cs typeface="OpenSans-Regular"/>
                <a:sym typeface="OpenSans-Regular"/>
              </a:defRPr>
            </a:pPr>
            <a:r>
              <a:t>Network: Novell, Token Ring, Ethernet, LAN, WAN, SD-WAN, PBX </a:t>
            </a:r>
          </a:p>
        </p:txBody>
      </p:sp>
      <p:sp>
        <p:nvSpPr>
          <p:cNvPr id="39" name="Subtitle 2"/>
          <p:cNvSpPr txBox="1"/>
          <p:nvPr/>
        </p:nvSpPr>
        <p:spPr>
          <a:xfrm>
            <a:off x="836100" y="2114021"/>
            <a:ext cx="514731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Professional Expertise</a:t>
            </a:r>
          </a:p>
        </p:txBody>
      </p:sp>
      <p:sp>
        <p:nvSpPr>
          <p:cNvPr id="40" name="Paragraph 2"/>
          <p:cNvSpPr txBox="1"/>
          <p:nvPr/>
        </p:nvSpPr>
        <p:spPr>
          <a:xfrm>
            <a:off x="1478478" y="2479631"/>
            <a:ext cx="4330278" cy="1310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latin typeface="OpenSans-Regular"/>
                <a:ea typeface="OpenSans-Regular"/>
                <a:cs typeface="OpenSans-Regular"/>
                <a:sym typeface="OpenSans-Regular"/>
              </a:defRPr>
            </a:pPr>
            <a:r>
              <a:t>Hewlett Packard, IT Specialist —&gt; Software Release Manager</a:t>
            </a:r>
          </a:p>
          <a:p>
            <a:pPr>
              <a:defRPr sz="1000">
                <a:latin typeface="OpenSans-Regular"/>
                <a:ea typeface="OpenSans-Regular"/>
                <a:cs typeface="OpenSans-Regular"/>
                <a:sym typeface="OpenSans-Regular"/>
              </a:defRPr>
            </a:pPr>
            <a:r>
              <a:t>General Electric, Software Release Manager and Installer</a:t>
            </a:r>
          </a:p>
          <a:p>
            <a:pPr>
              <a:defRPr sz="1000">
                <a:latin typeface="OpenSans-Regular"/>
                <a:ea typeface="OpenSans-Regular"/>
                <a:cs typeface="OpenSans-Regular"/>
                <a:sym typeface="OpenSans-Regular"/>
              </a:defRPr>
            </a:pPr>
            <a:r>
              <a:t>Affymetrix, Software Development Manager</a:t>
            </a:r>
          </a:p>
          <a:p>
            <a:pPr>
              <a:defRPr sz="1000">
                <a:latin typeface="OpenSans-Regular"/>
                <a:ea typeface="OpenSans-Regular"/>
                <a:cs typeface="OpenSans-Regular"/>
                <a:sym typeface="OpenSans-Regular"/>
              </a:defRPr>
            </a:pPr>
            <a:r>
              <a:t>GE Digital, DevOps Manager, Cloud Infrastructure Staff</a:t>
            </a:r>
          </a:p>
          <a:p>
            <a:pPr>
              <a:defRPr sz="1000">
                <a:latin typeface="OpenSans-Regular"/>
                <a:ea typeface="OpenSans-Regular"/>
                <a:cs typeface="OpenSans-Regular"/>
                <a:sym typeface="OpenSans-Regular"/>
              </a:defRPr>
            </a:pPr>
            <a:r>
              <a:t>Walmart eCommerce, DevOps Director, Infra/QA/Support</a:t>
            </a:r>
          </a:p>
          <a:p>
            <a:pPr>
              <a:defRPr sz="1000">
                <a:latin typeface="OpenSans-Regular"/>
                <a:ea typeface="OpenSans-Regular"/>
                <a:cs typeface="OpenSans-Regular"/>
                <a:sym typeface="OpenSans-Regular"/>
              </a:defRPr>
            </a:pPr>
            <a:r>
              <a:t>PayPal, TPX (Technology, Platform and Technology) Director</a:t>
            </a:r>
          </a:p>
          <a:p>
            <a:pPr>
              <a:defRPr sz="1000">
                <a:latin typeface="OpenSans-Regular"/>
                <a:ea typeface="OpenSans-Regular"/>
                <a:cs typeface="OpenSans-Regular"/>
                <a:sym typeface="OpenSans-Regular"/>
              </a:defRPr>
            </a:pPr>
            <a:r>
              <a:t>Michaels, VP of Technology, Infra, Operation (SRE) and Big Data</a:t>
            </a:r>
          </a:p>
          <a:p>
            <a:pPr>
              <a:defRPr sz="1000">
                <a:latin typeface="OpenSans-Regular"/>
                <a:ea typeface="OpenSans-Regular"/>
                <a:cs typeface="OpenSans-Regular"/>
                <a:sym typeface="OpenSans-Regular"/>
              </a:defRPr>
            </a:pPr>
            <a:r>
              <a:t>PayPal, Principal Architect, SRE, Observability, Telemetry, AI Agent, MCP</a:t>
            </a:r>
          </a:p>
        </p:txBody>
      </p:sp>
      <p:sp>
        <p:nvSpPr>
          <p:cNvPr id="41" name="Subtitle 3"/>
          <p:cNvSpPr txBox="1"/>
          <p:nvPr/>
        </p:nvSpPr>
        <p:spPr>
          <a:xfrm>
            <a:off x="836100" y="3844320"/>
            <a:ext cx="514731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Teaching</a:t>
            </a:r>
          </a:p>
        </p:txBody>
      </p:sp>
      <p:sp>
        <p:nvSpPr>
          <p:cNvPr id="42" name="Paragraph 3"/>
          <p:cNvSpPr txBox="1"/>
          <p:nvPr/>
        </p:nvSpPr>
        <p:spPr>
          <a:xfrm>
            <a:off x="1987099" y="4091410"/>
            <a:ext cx="419604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000">
                <a:latin typeface="OpenSans-Regular"/>
                <a:ea typeface="OpenSans-Regular"/>
                <a:cs typeface="OpenSans-Regular"/>
                <a:sym typeface="OpenSans-Regular"/>
              </a:defRPr>
            </a:pPr>
            <a:r>
              <a:t>Northeast Polytechnic University (SFBU), 15+ years, Unix, Network, Oracle, QA, DevOps (Agile)</a:t>
            </a:r>
          </a:p>
          <a:p>
            <a:pPr>
              <a:defRPr sz="1000">
                <a:latin typeface="OpenSans-Regular"/>
                <a:ea typeface="OpenSans-Regular"/>
                <a:cs typeface="OpenSans-Regular"/>
                <a:sym typeface="OpenSans-Regular"/>
              </a:defRPr>
            </a:pPr>
            <a:r>
              <a:t>California Science and Technology University (CSTU), 2+ years, ChatGPT, DevOps+AI </a:t>
            </a:r>
          </a:p>
        </p:txBody>
      </p:sp>
      <p:pic>
        <p:nvPicPr>
          <p:cNvPr id="43"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 name="StaticPath"/>
          <p:cNvSpPr/>
          <p:nvPr/>
        </p:nvSpPr>
        <p:spPr>
          <a:xfrm>
            <a:off x="3852767" y="169639"/>
            <a:ext cx="3157539" cy="3157540"/>
          </a:xfrm>
          <a:prstGeom prst="ellipse">
            <a:avLst/>
          </a:prstGeom>
          <a:solidFill>
            <a:srgbClr val="000000">
              <a:alpha val="4000"/>
            </a:srgbClr>
          </a:solidFill>
          <a:ln w="12700">
            <a:miter lim="400000"/>
          </a:ln>
        </p:spPr>
        <p:txBody>
          <a:bodyPr lIns="45719" rIns="45719"/>
          <a:lstStyle/>
          <a:p>
            <a:pPr/>
          </a:p>
        </p:txBody>
      </p:sp>
      <p:sp>
        <p:nvSpPr>
          <p:cNvPr id="46" name="StaticPath"/>
          <p:cNvSpPr/>
          <p:nvPr/>
        </p:nvSpPr>
        <p:spPr>
          <a:xfrm>
            <a:off x="3906868" y="-1913049"/>
            <a:ext cx="2428877" cy="2428877"/>
          </a:xfrm>
          <a:prstGeom prst="ellipse">
            <a:avLst/>
          </a:prstGeom>
          <a:solidFill>
            <a:srgbClr val="000000">
              <a:alpha val="0"/>
            </a:srgbClr>
          </a:solidFill>
          <a:ln w="423332">
            <a:solidFill>
              <a:srgbClr val="FF9800"/>
            </a:solidFill>
          </a:ln>
        </p:spPr>
        <p:txBody>
          <a:bodyPr lIns="45719" rIns="45719"/>
          <a:lstStyle/>
          <a:p>
            <a:pPr/>
          </a:p>
        </p:txBody>
      </p:sp>
      <p:sp>
        <p:nvSpPr>
          <p:cNvPr id="47" name="Title"/>
          <p:cNvSpPr txBox="1"/>
          <p:nvPr/>
        </p:nvSpPr>
        <p:spPr>
          <a:xfrm>
            <a:off x="4349782" y="1346504"/>
            <a:ext cx="2211355" cy="980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900">
                <a:solidFill>
                  <a:srgbClr val="333333"/>
                </a:solidFill>
                <a:latin typeface="OpenSans-Bold"/>
                <a:ea typeface="OpenSans-Bold"/>
                <a:cs typeface="OpenSans-Bold"/>
                <a:sym typeface="OpenSans-Bold"/>
              </a:defRPr>
            </a:lvl1pPr>
          </a:lstStyle>
          <a:p>
            <a:pPr/>
            <a:r>
              <a:t>Course Information</a:t>
            </a:r>
          </a:p>
        </p:txBody>
      </p:sp>
      <p:sp>
        <p:nvSpPr>
          <p:cNvPr id="48" name="Bullet circle 1"/>
          <p:cNvSpPr/>
          <p:nvPr/>
        </p:nvSpPr>
        <p:spPr>
          <a:xfrm>
            <a:off x="347661" y="857250"/>
            <a:ext cx="474346" cy="474345"/>
          </a:xfrm>
          <a:prstGeom prst="ellipse">
            <a:avLst/>
          </a:prstGeom>
          <a:solidFill>
            <a:srgbClr val="FF9800"/>
          </a:solidFill>
          <a:ln w="12700">
            <a:miter lim="400000"/>
          </a:ln>
        </p:spPr>
        <p:txBody>
          <a:bodyPr lIns="45719" rIns="45719"/>
          <a:lstStyle/>
          <a:p>
            <a:pPr/>
          </a:p>
        </p:txBody>
      </p:sp>
      <p:sp>
        <p:nvSpPr>
          <p:cNvPr id="49" name="Bullet index 1"/>
          <p:cNvSpPr txBox="1"/>
          <p:nvPr/>
        </p:nvSpPr>
        <p:spPr>
          <a:xfrm>
            <a:off x="925353" y="933656"/>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01</a:t>
            </a:r>
          </a:p>
        </p:txBody>
      </p:sp>
      <p:sp>
        <p:nvSpPr>
          <p:cNvPr id="50" name="Bullet text 1"/>
          <p:cNvSpPr txBox="1"/>
          <p:nvPr/>
        </p:nvSpPr>
        <p:spPr>
          <a:xfrm>
            <a:off x="1433940" y="868121"/>
            <a:ext cx="2433829"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333333"/>
                </a:solidFill>
                <a:latin typeface="OpenSans-Regular"/>
                <a:ea typeface="OpenSans-Regular"/>
                <a:cs typeface="OpenSans-Regular"/>
                <a:sym typeface="OpenSans-Regular"/>
              </a:defRPr>
            </a:pPr>
            <a:r>
              <a:t>Lecturer: Qingsong Zhang</a:t>
            </a:r>
          </a:p>
          <a:p>
            <a:pPr>
              <a:defRPr sz="1200">
                <a:solidFill>
                  <a:srgbClr val="333333"/>
                </a:solidFill>
                <a:latin typeface="OpenSans-Regular"/>
                <a:ea typeface="OpenSans-Regular"/>
                <a:cs typeface="OpenSans-Regular"/>
                <a:sym typeface="OpenSans-Regular"/>
              </a:defRPr>
            </a:pPr>
            <a:r>
              <a:t>TA: Van Lam</a:t>
            </a:r>
          </a:p>
        </p:txBody>
      </p:sp>
      <p:sp>
        <p:nvSpPr>
          <p:cNvPr id="51" name="Bullet circle 2"/>
          <p:cNvSpPr/>
          <p:nvPr/>
        </p:nvSpPr>
        <p:spPr>
          <a:xfrm>
            <a:off x="347661" y="1619250"/>
            <a:ext cx="474346" cy="474345"/>
          </a:xfrm>
          <a:prstGeom prst="ellipse">
            <a:avLst/>
          </a:prstGeom>
          <a:solidFill>
            <a:srgbClr val="FF9800"/>
          </a:solidFill>
          <a:ln w="12700">
            <a:miter lim="400000"/>
          </a:ln>
        </p:spPr>
        <p:txBody>
          <a:bodyPr lIns="45719" rIns="45719"/>
          <a:lstStyle/>
          <a:p>
            <a:pPr/>
          </a:p>
        </p:txBody>
      </p:sp>
      <p:sp>
        <p:nvSpPr>
          <p:cNvPr id="52" name="Bullet index 2"/>
          <p:cNvSpPr txBox="1"/>
          <p:nvPr/>
        </p:nvSpPr>
        <p:spPr>
          <a:xfrm>
            <a:off x="925353" y="1695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02</a:t>
            </a:r>
          </a:p>
        </p:txBody>
      </p:sp>
      <p:sp>
        <p:nvSpPr>
          <p:cNvPr id="53" name="Bullet text 2"/>
          <p:cNvSpPr txBox="1"/>
          <p:nvPr/>
        </p:nvSpPr>
        <p:spPr>
          <a:xfrm>
            <a:off x="1433940" y="1630121"/>
            <a:ext cx="2433829"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333333"/>
                </a:solidFill>
                <a:latin typeface="OpenSans-Regular"/>
                <a:ea typeface="OpenSans-Regular"/>
                <a:cs typeface="OpenSans-Regular"/>
                <a:sym typeface="OpenSans-Regular"/>
              </a:defRPr>
            </a:pPr>
            <a:r>
              <a:t>E-mail: </a:t>
            </a:r>
            <a:r>
              <a:rPr u="sng">
                <a:solidFill>
                  <a:srgbClr val="0563C1"/>
                </a:solidFill>
                <a:uFill>
                  <a:solidFill>
                    <a:srgbClr val="0563C1"/>
                  </a:solidFill>
                </a:uFill>
                <a:hlinkClick r:id="rId2" invalidUrl="" action="" tgtFrame="" tooltip="" history="1" highlightClick="0" endSnd="0"/>
              </a:rPr>
              <a:t>qingsong.zhang@cstu.edu</a:t>
            </a:r>
          </a:p>
          <a:p>
            <a:pPr>
              <a:defRPr sz="1200">
                <a:solidFill>
                  <a:srgbClr val="333333"/>
                </a:solidFill>
                <a:latin typeface="OpenSans-Regular"/>
                <a:ea typeface="OpenSans-Regular"/>
                <a:cs typeface="OpenSans-Regular"/>
                <a:sym typeface="OpenSans-Regular"/>
              </a:defRPr>
            </a:pPr>
            <a:r>
              <a:t>            </a:t>
            </a:r>
            <a:r>
              <a:rPr u="sng">
                <a:solidFill>
                  <a:srgbClr val="0563C1"/>
                </a:solidFill>
                <a:uFill>
                  <a:solidFill>
                    <a:srgbClr val="0563C1"/>
                  </a:solidFill>
                </a:uFill>
                <a:hlinkClick r:id="rId3" invalidUrl="" action="" tgtFrame="" tooltip="" history="1" highlightClick="0" endSnd="0"/>
              </a:rPr>
              <a:t>van.lam@cstu.edu</a:t>
            </a:r>
            <a:r>
              <a:t> </a:t>
            </a:r>
          </a:p>
        </p:txBody>
      </p:sp>
      <p:sp>
        <p:nvSpPr>
          <p:cNvPr id="54" name="Bullet circle 3"/>
          <p:cNvSpPr/>
          <p:nvPr/>
        </p:nvSpPr>
        <p:spPr>
          <a:xfrm>
            <a:off x="347661" y="2381250"/>
            <a:ext cx="474346" cy="474345"/>
          </a:xfrm>
          <a:prstGeom prst="ellipse">
            <a:avLst/>
          </a:prstGeom>
          <a:solidFill>
            <a:srgbClr val="FF9800"/>
          </a:solidFill>
          <a:ln w="12700">
            <a:miter lim="400000"/>
          </a:ln>
        </p:spPr>
        <p:txBody>
          <a:bodyPr lIns="45719" rIns="45719"/>
          <a:lstStyle/>
          <a:p>
            <a:pPr/>
          </a:p>
        </p:txBody>
      </p:sp>
      <p:sp>
        <p:nvSpPr>
          <p:cNvPr id="55" name="Bullet index 3"/>
          <p:cNvSpPr txBox="1"/>
          <p:nvPr/>
        </p:nvSpPr>
        <p:spPr>
          <a:xfrm>
            <a:off x="925353" y="2457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03</a:t>
            </a:r>
          </a:p>
        </p:txBody>
      </p:sp>
      <p:sp>
        <p:nvSpPr>
          <p:cNvPr id="56" name="Bullet text 3"/>
          <p:cNvSpPr txBox="1"/>
          <p:nvPr/>
        </p:nvSpPr>
        <p:spPr>
          <a:xfrm>
            <a:off x="1433940" y="2392121"/>
            <a:ext cx="2433829"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solidFill>
                  <a:srgbClr val="333333"/>
                </a:solidFill>
                <a:latin typeface="OpenSans-Regular"/>
                <a:ea typeface="OpenSans-Regular"/>
                <a:cs typeface="OpenSans-Regular"/>
                <a:sym typeface="OpenSans-Regular"/>
              </a:defRPr>
            </a:pPr>
            <a:r>
              <a:t>Time: Wed 7:30–9:00pm (Online),</a:t>
            </a:r>
          </a:p>
          <a:p>
            <a:pPr>
              <a:defRPr sz="1200">
                <a:solidFill>
                  <a:srgbClr val="333333"/>
                </a:solidFill>
                <a:latin typeface="OpenSans-Regular"/>
                <a:ea typeface="OpenSans-Regular"/>
                <a:cs typeface="OpenSans-Regular"/>
                <a:sym typeface="OpenSans-Regular"/>
              </a:defRPr>
            </a:pPr>
            <a:r>
              <a:t>          Sat 9:00–10:30am (Onsite)</a:t>
            </a:r>
          </a:p>
        </p:txBody>
      </p:sp>
      <p:sp>
        <p:nvSpPr>
          <p:cNvPr id="57" name="Bullet circle 4"/>
          <p:cNvSpPr/>
          <p:nvPr/>
        </p:nvSpPr>
        <p:spPr>
          <a:xfrm>
            <a:off x="347661" y="3143250"/>
            <a:ext cx="474346" cy="474345"/>
          </a:xfrm>
          <a:prstGeom prst="ellipse">
            <a:avLst/>
          </a:prstGeom>
          <a:solidFill>
            <a:srgbClr val="FF9800"/>
          </a:solidFill>
          <a:ln w="12700">
            <a:miter lim="400000"/>
          </a:ln>
        </p:spPr>
        <p:txBody>
          <a:bodyPr lIns="45719" rIns="45719"/>
          <a:lstStyle/>
          <a:p>
            <a:pPr/>
          </a:p>
        </p:txBody>
      </p:sp>
      <p:sp>
        <p:nvSpPr>
          <p:cNvPr id="58" name="Bullet index 4"/>
          <p:cNvSpPr txBox="1"/>
          <p:nvPr/>
        </p:nvSpPr>
        <p:spPr>
          <a:xfrm>
            <a:off x="925353" y="3219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04</a:t>
            </a:r>
          </a:p>
        </p:txBody>
      </p:sp>
      <p:sp>
        <p:nvSpPr>
          <p:cNvPr id="59" name="Bullet text 4"/>
          <p:cNvSpPr txBox="1"/>
          <p:nvPr/>
        </p:nvSpPr>
        <p:spPr>
          <a:xfrm>
            <a:off x="1433940" y="3154121"/>
            <a:ext cx="2433829"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33333"/>
                </a:solidFill>
                <a:latin typeface="OpenSans-Regular"/>
                <a:ea typeface="OpenSans-Regular"/>
                <a:cs typeface="OpenSans-Regular"/>
                <a:sym typeface="OpenSans-Regular"/>
              </a:defRPr>
            </a:lvl1pPr>
          </a:lstStyle>
          <a:p>
            <a:pPr/>
            <a:r>
              <a:t>Length: 23 Hours | Credit: 1.5 Units</a:t>
            </a:r>
          </a:p>
        </p:txBody>
      </p:sp>
      <p:sp>
        <p:nvSpPr>
          <p:cNvPr id="60" name="Bullet circle 5"/>
          <p:cNvSpPr/>
          <p:nvPr/>
        </p:nvSpPr>
        <p:spPr>
          <a:xfrm>
            <a:off x="347661" y="3905250"/>
            <a:ext cx="474346" cy="474345"/>
          </a:xfrm>
          <a:prstGeom prst="ellipse">
            <a:avLst/>
          </a:prstGeom>
          <a:solidFill>
            <a:srgbClr val="FF9800"/>
          </a:solidFill>
          <a:ln w="12700">
            <a:miter lim="400000"/>
          </a:ln>
        </p:spPr>
        <p:txBody>
          <a:bodyPr lIns="45719" rIns="45719"/>
          <a:lstStyle/>
          <a:p>
            <a:pPr/>
          </a:p>
        </p:txBody>
      </p:sp>
      <p:sp>
        <p:nvSpPr>
          <p:cNvPr id="61" name="Bullet index 5"/>
          <p:cNvSpPr txBox="1"/>
          <p:nvPr/>
        </p:nvSpPr>
        <p:spPr>
          <a:xfrm>
            <a:off x="925353" y="3981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05</a:t>
            </a:r>
          </a:p>
        </p:txBody>
      </p:sp>
      <p:sp>
        <p:nvSpPr>
          <p:cNvPr id="62" name="Bullet text 5"/>
          <p:cNvSpPr txBox="1"/>
          <p:nvPr/>
        </p:nvSpPr>
        <p:spPr>
          <a:xfrm>
            <a:off x="1433940" y="3916121"/>
            <a:ext cx="2433829"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333333"/>
                </a:solidFill>
                <a:latin typeface="OpenSans-Regular"/>
                <a:ea typeface="OpenSans-Regular"/>
                <a:cs typeface="OpenSans-Regular"/>
                <a:sym typeface="OpenSans-Regular"/>
              </a:defRPr>
            </a:lvl1pPr>
          </a:lstStyle>
          <a:p>
            <a:pPr/>
            <a:r>
              <a:t>Office Hours: By Appointment Review Date: 11/4/2025</a:t>
            </a:r>
          </a:p>
        </p:txBody>
      </p:sp>
      <p:pic>
        <p:nvPicPr>
          <p:cNvPr id="63" name="Image" descr="Image"/>
          <p:cNvPicPr>
            <a:picLocks noChangeAspect="1"/>
          </p:cNvPicPr>
          <p:nvPr/>
        </p:nvPicPr>
        <p:blipFill>
          <a:blip r:embed="rId4">
            <a:extLst/>
          </a:blip>
          <a:stretch>
            <a:fillRect/>
          </a:stretch>
        </p:blipFill>
        <p:spPr>
          <a:xfrm>
            <a:off x="6569916" y="2586084"/>
            <a:ext cx="2321719" cy="2321720"/>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 name="StaticPath"/>
          <p:cNvSpPr/>
          <p:nvPr/>
        </p:nvSpPr>
        <p:spPr>
          <a:xfrm>
            <a:off x="4192618" y="703706"/>
            <a:ext cx="2154556" cy="3734755"/>
          </a:xfrm>
          <a:prstGeom prst="rect">
            <a:avLst/>
          </a:prstGeom>
          <a:solidFill>
            <a:srgbClr val="FF9800"/>
          </a:solidFill>
          <a:ln w="12700">
            <a:miter lim="400000"/>
          </a:ln>
        </p:spPr>
        <p:txBody>
          <a:bodyPr lIns="45719" rIns="45719"/>
          <a:lstStyle/>
          <a:p>
            <a:pPr/>
          </a:p>
        </p:txBody>
      </p:sp>
      <p:pic>
        <p:nvPicPr>
          <p:cNvPr id="66" name="Image" descr="Image"/>
          <p:cNvPicPr>
            <a:picLocks noChangeAspect="1"/>
          </p:cNvPicPr>
          <p:nvPr/>
        </p:nvPicPr>
        <p:blipFill>
          <a:blip r:embed="rId2">
            <a:extLst/>
          </a:blip>
          <a:stretch>
            <a:fillRect/>
          </a:stretch>
        </p:blipFill>
        <p:spPr>
          <a:xfrm>
            <a:off x="526256" y="1023937"/>
            <a:ext cx="2321719" cy="2321719"/>
          </a:xfrm>
          <a:prstGeom prst="rect">
            <a:avLst/>
          </a:prstGeom>
          <a:ln w="12700">
            <a:miter lim="400000"/>
          </a:ln>
        </p:spPr>
      </p:pic>
      <p:sp>
        <p:nvSpPr>
          <p:cNvPr id="67" name="Question 1"/>
          <p:cNvSpPr txBox="1"/>
          <p:nvPr/>
        </p:nvSpPr>
        <p:spPr>
          <a:xfrm>
            <a:off x="4351925" y="861519"/>
            <a:ext cx="1835897" cy="599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latin typeface="OpenSans-Bold"/>
                <a:ea typeface="OpenSans-Bold"/>
                <a:cs typeface="OpenSans-Bold"/>
                <a:sym typeface="OpenSans-Bold"/>
              </a:defRPr>
            </a:lvl1pPr>
          </a:lstStyle>
          <a:p>
            <a:pPr/>
            <a:r>
              <a:t>Grading Components</a:t>
            </a:r>
          </a:p>
        </p:txBody>
      </p:sp>
      <p:sp>
        <p:nvSpPr>
          <p:cNvPr id="68" name="Answer 1"/>
          <p:cNvSpPr txBox="1"/>
          <p:nvPr/>
        </p:nvSpPr>
        <p:spPr>
          <a:xfrm>
            <a:off x="4336113" y="2386132"/>
            <a:ext cx="1851756" cy="1348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latin typeface="OpenSans-Regular"/>
                <a:ea typeface="OpenSans-Regular"/>
                <a:cs typeface="OpenSans-Regular"/>
                <a:sym typeface="OpenSans-Regular"/>
              </a:defRPr>
            </a:pPr>
            <a:r>
              <a:t>- Mid-term Exam: 15%</a:t>
            </a:r>
          </a:p>
          <a:p>
            <a:pPr>
              <a:defRPr sz="1200">
                <a:latin typeface="OpenSans-Regular"/>
                <a:ea typeface="OpenSans-Regular"/>
                <a:cs typeface="OpenSans-Regular"/>
                <a:sym typeface="OpenSans-Regular"/>
              </a:defRPr>
            </a:pPr>
            <a:r>
              <a:t>- Project: 20%</a:t>
            </a:r>
          </a:p>
          <a:p>
            <a:pPr>
              <a:defRPr sz="1200">
                <a:latin typeface="OpenSans-Regular"/>
                <a:ea typeface="OpenSans-Regular"/>
                <a:cs typeface="OpenSans-Regular"/>
                <a:sym typeface="OpenSans-Regular"/>
              </a:defRPr>
            </a:pPr>
            <a:r>
              <a:t>- Case Discussions: 30%</a:t>
            </a:r>
          </a:p>
          <a:p>
            <a:pPr>
              <a:defRPr sz="1200">
                <a:latin typeface="OpenSans-Regular"/>
                <a:ea typeface="OpenSans-Regular"/>
                <a:cs typeface="OpenSans-Regular"/>
                <a:sym typeface="OpenSans-Regular"/>
              </a:defRPr>
            </a:pPr>
            <a:r>
              <a:t>- Final Exam: 20%</a:t>
            </a:r>
          </a:p>
          <a:p>
            <a:pPr>
              <a:defRPr sz="1200">
                <a:latin typeface="OpenSans-Regular"/>
                <a:ea typeface="OpenSans-Regular"/>
                <a:cs typeface="OpenSans-Regular"/>
                <a:sym typeface="OpenSans-Regular"/>
              </a:defRPr>
            </a:pPr>
            <a:r>
              <a:t>- Class Participation: 15%</a:t>
            </a:r>
          </a:p>
          <a:p>
            <a:pPr>
              <a:defRPr sz="1200"/>
            </a:pPr>
          </a:p>
          <a:p>
            <a:pPr>
              <a:defRPr sz="1200">
                <a:latin typeface="OpenSans-Regular"/>
                <a:ea typeface="OpenSans-Regular"/>
                <a:cs typeface="OpenSans-Regular"/>
                <a:sym typeface="OpenSans-Regular"/>
              </a:defRPr>
            </a:pPr>
            <a:r>
              <a:t>**Total: 100%**</a:t>
            </a:r>
          </a:p>
        </p:txBody>
      </p:sp>
      <p:sp>
        <p:nvSpPr>
          <p:cNvPr id="69" name="StaticPath"/>
          <p:cNvSpPr/>
          <p:nvPr/>
        </p:nvSpPr>
        <p:spPr>
          <a:xfrm>
            <a:off x="4230527" y="1451895"/>
            <a:ext cx="682945" cy="682945"/>
          </a:xfrm>
          <a:prstGeom prst="ellipse">
            <a:avLst/>
          </a:prstGeom>
          <a:solidFill>
            <a:srgbClr val="FFFFFF"/>
          </a:solidFill>
          <a:ln w="12700">
            <a:miter lim="400000"/>
          </a:ln>
        </p:spPr>
        <p:txBody>
          <a:bodyPr lIns="45719" rIns="45719"/>
          <a:lstStyle/>
          <a:p>
            <a:pPr/>
          </a:p>
        </p:txBody>
      </p:sp>
      <p:sp>
        <p:nvSpPr>
          <p:cNvPr id="70" name="StaticPath"/>
          <p:cNvSpPr/>
          <p:nvPr/>
        </p:nvSpPr>
        <p:spPr>
          <a:xfrm>
            <a:off x="6584442" y="704374"/>
            <a:ext cx="2154556" cy="3734754"/>
          </a:xfrm>
          <a:prstGeom prst="rect">
            <a:avLst/>
          </a:prstGeom>
          <a:solidFill>
            <a:srgbClr val="FF9800"/>
          </a:solidFill>
          <a:ln w="12700">
            <a:miter lim="400000"/>
          </a:ln>
        </p:spPr>
        <p:txBody>
          <a:bodyPr lIns="45719" rIns="45719"/>
          <a:lstStyle/>
          <a:p>
            <a:pPr/>
          </a:p>
        </p:txBody>
      </p:sp>
      <p:sp>
        <p:nvSpPr>
          <p:cNvPr id="71" name="Question 2"/>
          <p:cNvSpPr txBox="1"/>
          <p:nvPr/>
        </p:nvSpPr>
        <p:spPr>
          <a:xfrm>
            <a:off x="6743748" y="989186"/>
            <a:ext cx="1835897"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700">
                <a:latin typeface="OpenSans-Bold"/>
                <a:ea typeface="OpenSans-Bold"/>
                <a:cs typeface="OpenSans-Bold"/>
                <a:sym typeface="OpenSans-Bold"/>
              </a:defRPr>
            </a:lvl1pPr>
          </a:lstStyle>
          <a:p>
            <a:pPr/>
            <a:r>
              <a:t>Grading Scale</a:t>
            </a:r>
          </a:p>
        </p:txBody>
      </p:sp>
      <p:sp>
        <p:nvSpPr>
          <p:cNvPr id="72" name="Answer 2"/>
          <p:cNvSpPr txBox="1"/>
          <p:nvPr/>
        </p:nvSpPr>
        <p:spPr>
          <a:xfrm>
            <a:off x="7375403" y="1746727"/>
            <a:ext cx="1096598" cy="2402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latin typeface="OpenSans-Regular"/>
                <a:ea typeface="OpenSans-Regular"/>
                <a:cs typeface="OpenSans-Regular"/>
                <a:sym typeface="OpenSans-Regular"/>
              </a:defRPr>
            </a:pPr>
            <a:r>
              <a:t>98–100%: A+</a:t>
            </a:r>
          </a:p>
          <a:p>
            <a:pPr>
              <a:defRPr sz="1200">
                <a:latin typeface="OpenSans-Regular"/>
                <a:ea typeface="OpenSans-Regular"/>
                <a:cs typeface="OpenSans-Regular"/>
                <a:sym typeface="OpenSans-Regular"/>
              </a:defRPr>
            </a:pPr>
            <a:r>
              <a:t>93–97%: A</a:t>
            </a:r>
          </a:p>
          <a:p>
            <a:pPr>
              <a:defRPr sz="1200">
                <a:latin typeface="OpenSans-Regular"/>
                <a:ea typeface="OpenSans-Regular"/>
                <a:cs typeface="OpenSans-Regular"/>
                <a:sym typeface="OpenSans-Regular"/>
              </a:defRPr>
            </a:pPr>
            <a:r>
              <a:t>90–92%: A-</a:t>
            </a:r>
          </a:p>
          <a:p>
            <a:pPr>
              <a:defRPr sz="1200">
                <a:latin typeface="OpenSans-Regular"/>
                <a:ea typeface="OpenSans-Regular"/>
                <a:cs typeface="OpenSans-Regular"/>
                <a:sym typeface="OpenSans-Regular"/>
              </a:defRPr>
            </a:pPr>
            <a:r>
              <a:t>88–89%: B+</a:t>
            </a:r>
          </a:p>
          <a:p>
            <a:pPr>
              <a:defRPr sz="1200">
                <a:latin typeface="OpenSans-Regular"/>
                <a:ea typeface="OpenSans-Regular"/>
                <a:cs typeface="OpenSans-Regular"/>
                <a:sym typeface="OpenSans-Regular"/>
              </a:defRPr>
            </a:pPr>
            <a:r>
              <a:t>83–87%: B</a:t>
            </a:r>
          </a:p>
          <a:p>
            <a:pPr>
              <a:defRPr sz="1200">
                <a:latin typeface="OpenSans-Regular"/>
                <a:ea typeface="OpenSans-Regular"/>
                <a:cs typeface="OpenSans-Regular"/>
                <a:sym typeface="OpenSans-Regular"/>
              </a:defRPr>
            </a:pPr>
            <a:r>
              <a:t>80–82%: B-</a:t>
            </a:r>
          </a:p>
          <a:p>
            <a:pPr>
              <a:defRPr sz="1200">
                <a:latin typeface="OpenSans-Regular"/>
                <a:ea typeface="OpenSans-Regular"/>
                <a:cs typeface="OpenSans-Regular"/>
                <a:sym typeface="OpenSans-Regular"/>
              </a:defRPr>
            </a:pPr>
            <a:r>
              <a:t>78–79%: C+</a:t>
            </a:r>
          </a:p>
          <a:p>
            <a:pPr>
              <a:defRPr sz="1200">
                <a:latin typeface="OpenSans-Regular"/>
                <a:ea typeface="OpenSans-Regular"/>
                <a:cs typeface="OpenSans-Regular"/>
                <a:sym typeface="OpenSans-Regular"/>
              </a:defRPr>
            </a:pPr>
            <a:r>
              <a:t>73–77%: C</a:t>
            </a:r>
          </a:p>
          <a:p>
            <a:pPr>
              <a:defRPr sz="1200">
                <a:latin typeface="OpenSans-Regular"/>
                <a:ea typeface="OpenSans-Regular"/>
                <a:cs typeface="OpenSans-Regular"/>
                <a:sym typeface="OpenSans-Regular"/>
              </a:defRPr>
            </a:pPr>
            <a:r>
              <a:t>70–72%: C-</a:t>
            </a:r>
          </a:p>
          <a:p>
            <a:pPr>
              <a:defRPr sz="1200">
                <a:latin typeface="OpenSans-Regular"/>
                <a:ea typeface="OpenSans-Regular"/>
                <a:cs typeface="OpenSans-Regular"/>
                <a:sym typeface="OpenSans-Regular"/>
              </a:defRPr>
            </a:pPr>
            <a:r>
              <a:t>68–69%: D+</a:t>
            </a:r>
          </a:p>
          <a:p>
            <a:pPr>
              <a:defRPr sz="1200">
                <a:latin typeface="OpenSans-Regular"/>
                <a:ea typeface="OpenSans-Regular"/>
                <a:cs typeface="OpenSans-Regular"/>
                <a:sym typeface="OpenSans-Regular"/>
              </a:defRPr>
            </a:pPr>
            <a:r>
              <a:t>63–67%: D</a:t>
            </a:r>
          </a:p>
          <a:p>
            <a:pPr>
              <a:defRPr sz="1200">
                <a:latin typeface="OpenSans-Regular"/>
                <a:ea typeface="OpenSans-Regular"/>
                <a:cs typeface="OpenSans-Regular"/>
                <a:sym typeface="OpenSans-Regular"/>
              </a:defRPr>
            </a:pPr>
            <a:r>
              <a:t>60–62%: D-</a:t>
            </a:r>
          </a:p>
          <a:p>
            <a:pPr>
              <a:defRPr sz="1200">
                <a:latin typeface="OpenSans-Regular"/>
                <a:ea typeface="OpenSans-Regular"/>
                <a:cs typeface="OpenSans-Regular"/>
                <a:sym typeface="OpenSans-Regular"/>
              </a:defRPr>
            </a:pPr>
            <a:r>
              <a:t>Below 60%: F</a:t>
            </a:r>
          </a:p>
        </p:txBody>
      </p:sp>
      <p:sp>
        <p:nvSpPr>
          <p:cNvPr id="73" name="StaticPath"/>
          <p:cNvSpPr/>
          <p:nvPr/>
        </p:nvSpPr>
        <p:spPr>
          <a:xfrm>
            <a:off x="6635242" y="1305106"/>
            <a:ext cx="682945" cy="682945"/>
          </a:xfrm>
          <a:prstGeom prst="ellipse">
            <a:avLst/>
          </a:prstGeom>
          <a:solidFill>
            <a:srgbClr val="FFFFFF"/>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5" name="DevOpsAI.png" descr="DevOpsAI.png"/>
          <p:cNvPicPr>
            <a:picLocks noChangeAspect="1"/>
          </p:cNvPicPr>
          <p:nvPr/>
        </p:nvPicPr>
        <p:blipFill>
          <a:blip r:embed="rId2">
            <a:alphaModFix amt="79340"/>
            <a:extLst/>
          </a:blip>
          <a:stretch>
            <a:fillRect/>
          </a:stretch>
        </p:blipFill>
        <p:spPr>
          <a:xfrm>
            <a:off x="3673293" y="419302"/>
            <a:ext cx="3290855" cy="4352155"/>
          </a:xfrm>
          <a:prstGeom prst="rect">
            <a:avLst/>
          </a:prstGeom>
          <a:ln w="12700">
            <a:miter lim="400000"/>
          </a:ln>
        </p:spPr>
      </p:pic>
      <p:sp>
        <p:nvSpPr>
          <p:cNvPr id="76"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77" name="Title"/>
          <p:cNvSpPr txBox="1"/>
          <p:nvPr/>
        </p:nvSpPr>
        <p:spPr>
          <a:xfrm>
            <a:off x="1236344" y="457517"/>
            <a:ext cx="5623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333333"/>
                </a:solidFill>
                <a:latin typeface="OpenSans-Bold"/>
                <a:ea typeface="OpenSans-Bold"/>
                <a:cs typeface="OpenSans-Bold"/>
                <a:sym typeface="OpenSans-Bold"/>
              </a:defRPr>
            </a:lvl1pPr>
          </a:lstStyle>
          <a:p>
            <a:pPr/>
            <a:r>
              <a:t>Course Summary: DevOps with AI</a:t>
            </a:r>
          </a:p>
        </p:txBody>
      </p:sp>
      <p:sp>
        <p:nvSpPr>
          <p:cNvPr id="78" name="Subtitle 1"/>
          <p:cNvSpPr txBox="1"/>
          <p:nvPr/>
        </p:nvSpPr>
        <p:spPr>
          <a:xfrm>
            <a:off x="812713" y="1301145"/>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Course Overview</a:t>
            </a:r>
          </a:p>
        </p:txBody>
      </p:sp>
      <p:sp>
        <p:nvSpPr>
          <p:cNvPr id="79" name="Paragraph 1"/>
          <p:cNvSpPr txBox="1"/>
          <p:nvPr/>
        </p:nvSpPr>
        <p:spPr>
          <a:xfrm>
            <a:off x="812713" y="1542445"/>
            <a:ext cx="4505082" cy="586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latin typeface="OpenSans-Regular"/>
                <a:ea typeface="OpenSans-Regular"/>
                <a:cs typeface="OpenSans-Regular"/>
                <a:sym typeface="OpenSans-Regular"/>
              </a:defRPr>
            </a:lvl1pPr>
          </a:lstStyle>
          <a:p>
            <a:pPr/>
            <a:r>
              <a:t>This 1.5-unit course explores how AI and ML can be integrated into DevOps practices to automate, optimize, and enhance software development and operations.</a:t>
            </a:r>
          </a:p>
        </p:txBody>
      </p:sp>
      <p:sp>
        <p:nvSpPr>
          <p:cNvPr id="80" name="Subtitle 2"/>
          <p:cNvSpPr txBox="1"/>
          <p:nvPr/>
        </p:nvSpPr>
        <p:spPr>
          <a:xfrm>
            <a:off x="812713" y="2441709"/>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Practical Experience</a:t>
            </a:r>
          </a:p>
        </p:txBody>
      </p:sp>
      <p:sp>
        <p:nvSpPr>
          <p:cNvPr id="81" name="Paragraph 2"/>
          <p:cNvSpPr txBox="1"/>
          <p:nvPr/>
        </p:nvSpPr>
        <p:spPr>
          <a:xfrm>
            <a:off x="812713" y="2683009"/>
            <a:ext cx="4355995" cy="5867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100">
                <a:latin typeface="OpenSans-Regular"/>
                <a:ea typeface="OpenSans-Regular"/>
                <a:cs typeface="OpenSans-Regular"/>
                <a:sym typeface="OpenSans-Regular"/>
              </a:defRPr>
            </a:lvl1pPr>
          </a:lstStyle>
          <a:p>
            <a:pPr/>
            <a:r>
              <a:t>Students will gain hands-on experience with AI-assisted CI/CD pipelines, predictive analytics, intelligent monitoring, automated remediation, and security.</a:t>
            </a:r>
          </a:p>
        </p:txBody>
      </p:sp>
      <p:sp>
        <p:nvSpPr>
          <p:cNvPr id="82" name="Subtitle 3"/>
          <p:cNvSpPr txBox="1"/>
          <p:nvPr/>
        </p:nvSpPr>
        <p:spPr>
          <a:xfrm>
            <a:off x="812713" y="3582273"/>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Learning Outcomes</a:t>
            </a:r>
          </a:p>
        </p:txBody>
      </p:sp>
      <p:sp>
        <p:nvSpPr>
          <p:cNvPr id="83" name="Paragraph 3"/>
          <p:cNvSpPr txBox="1"/>
          <p:nvPr/>
        </p:nvSpPr>
        <p:spPr>
          <a:xfrm>
            <a:off x="812713" y="3943021"/>
            <a:ext cx="5147311" cy="1018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100">
                <a:latin typeface="OpenSans-Regular"/>
                <a:ea typeface="OpenSans-Regular"/>
                <a:cs typeface="OpenSans-Regular"/>
                <a:sym typeface="OpenSans-Regular"/>
              </a:defRPr>
            </a:pPr>
            <a:r>
              <a:t>By the end of the course, students will: </a:t>
            </a:r>
          </a:p>
          <a:p>
            <a:pPr lvl="1" marL="818815" indent="-183815">
              <a:buSzPct val="100000"/>
              <a:buAutoNum type="arabicParenR" startAt="1"/>
              <a:defRPr sz="1000">
                <a:latin typeface="OpenSans-Regular"/>
                <a:ea typeface="OpenSans-Regular"/>
                <a:cs typeface="OpenSans-Regular"/>
                <a:sym typeface="OpenSans-Regular"/>
              </a:defRPr>
            </a:pPr>
            <a:r>
              <a:t>Understand AI in DevOps, </a:t>
            </a:r>
          </a:p>
          <a:p>
            <a:pPr lvl="1" marL="818815" indent="-183815">
              <a:buSzPct val="100000"/>
              <a:buAutoNum type="arabicParenR" startAt="1"/>
              <a:defRPr sz="1000">
                <a:latin typeface="OpenSans-Regular"/>
                <a:ea typeface="OpenSans-Regular"/>
                <a:cs typeface="OpenSans-Regular"/>
                <a:sym typeface="OpenSans-Regular"/>
              </a:defRPr>
            </a:pPr>
            <a:r>
              <a:t>Implement AI-driven automation, </a:t>
            </a:r>
          </a:p>
          <a:p>
            <a:pPr lvl="1" marL="818815" indent="-183815">
              <a:buSzPct val="100000"/>
              <a:buAutoNum type="arabicParenR" startAt="1"/>
              <a:defRPr sz="1000">
                <a:latin typeface="OpenSans-Regular"/>
                <a:ea typeface="OpenSans-Regular"/>
                <a:cs typeface="OpenSans-Regular"/>
                <a:sym typeface="OpenSans-Regular"/>
              </a:defRPr>
            </a:pPr>
            <a:r>
              <a:t>Apply predictive analytics, </a:t>
            </a:r>
          </a:p>
          <a:p>
            <a:pPr lvl="1" marL="818815" indent="-183815">
              <a:buSzPct val="100000"/>
              <a:buAutoNum type="arabicParenR" startAt="1"/>
              <a:defRPr sz="1000">
                <a:latin typeface="OpenSans-Regular"/>
                <a:ea typeface="OpenSans-Regular"/>
                <a:cs typeface="OpenSans-Regular"/>
                <a:sym typeface="OpenSans-Regular"/>
              </a:defRPr>
            </a:pPr>
            <a:r>
              <a:t>Use AI for monitoring and response, </a:t>
            </a:r>
          </a:p>
          <a:p>
            <a:pPr lvl="1" marL="818815" indent="-183815">
              <a:buSzPct val="100000"/>
              <a:buAutoNum type="arabicParenR" startAt="1"/>
              <a:defRPr sz="1000">
                <a:latin typeface="OpenSans-Regular"/>
                <a:ea typeface="OpenSans-Regular"/>
                <a:cs typeface="OpenSans-Regular"/>
                <a:sym typeface="OpenSans-Regular"/>
              </a:defRPr>
            </a:pPr>
            <a:r>
              <a:t>Evaluate AI frameworks at scale.</a:t>
            </a:r>
          </a:p>
        </p:txBody>
      </p:sp>
      <p:pic>
        <p:nvPicPr>
          <p:cNvPr id="84" name="Image" descr="Image"/>
          <p:cNvPicPr>
            <a:picLocks noChangeAspect="1"/>
          </p:cNvPicPr>
          <p:nvPr/>
        </p:nvPicPr>
        <p:blipFill>
          <a:blip r:embed="rId3">
            <a:extLst/>
          </a:blip>
          <a:stretch>
            <a:fillRect/>
          </a:stretch>
        </p:blipFill>
        <p:spPr>
          <a:xfrm>
            <a:off x="6238875" y="1333500"/>
            <a:ext cx="2352675" cy="2352675"/>
          </a:xfrm>
          <a:prstGeom prst="rect">
            <a:avLst/>
          </a:prstGeom>
          <a:ln w="12700">
            <a:miter lim="400000"/>
          </a:ln>
        </p:spPr>
      </p:pic>
      <p:sp>
        <p:nvSpPr>
          <p:cNvPr id="85"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86"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8" name="StaticPath"/>
          <p:cNvSpPr/>
          <p:nvPr/>
        </p:nvSpPr>
        <p:spPr>
          <a:xfrm>
            <a:off x="3852767" y="169639"/>
            <a:ext cx="3157539" cy="3157540"/>
          </a:xfrm>
          <a:prstGeom prst="ellipse">
            <a:avLst/>
          </a:prstGeom>
          <a:solidFill>
            <a:srgbClr val="000000">
              <a:alpha val="4000"/>
            </a:srgbClr>
          </a:solidFill>
          <a:ln w="12700">
            <a:miter lim="400000"/>
          </a:ln>
        </p:spPr>
        <p:txBody>
          <a:bodyPr lIns="45719" rIns="45719"/>
          <a:lstStyle/>
          <a:p>
            <a:pPr/>
          </a:p>
        </p:txBody>
      </p:sp>
      <p:sp>
        <p:nvSpPr>
          <p:cNvPr id="89" name="StaticPath"/>
          <p:cNvSpPr/>
          <p:nvPr/>
        </p:nvSpPr>
        <p:spPr>
          <a:xfrm>
            <a:off x="3906868" y="-1913049"/>
            <a:ext cx="2428877" cy="2428877"/>
          </a:xfrm>
          <a:prstGeom prst="ellipse">
            <a:avLst/>
          </a:prstGeom>
          <a:solidFill>
            <a:srgbClr val="000000">
              <a:alpha val="0"/>
            </a:srgbClr>
          </a:solidFill>
          <a:ln w="423332">
            <a:solidFill>
              <a:srgbClr val="FF9800"/>
            </a:solidFill>
          </a:ln>
        </p:spPr>
        <p:txBody>
          <a:bodyPr lIns="45719" rIns="45719"/>
          <a:lstStyle/>
          <a:p>
            <a:pPr/>
          </a:p>
        </p:txBody>
      </p:sp>
      <p:sp>
        <p:nvSpPr>
          <p:cNvPr id="90" name="Title"/>
          <p:cNvSpPr txBox="1"/>
          <p:nvPr/>
        </p:nvSpPr>
        <p:spPr>
          <a:xfrm>
            <a:off x="4349782" y="1333804"/>
            <a:ext cx="2211355" cy="1005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2000">
                <a:solidFill>
                  <a:srgbClr val="333333"/>
                </a:solidFill>
                <a:latin typeface="OpenSans-Bold"/>
                <a:ea typeface="OpenSans-Bold"/>
                <a:cs typeface="OpenSans-Bold"/>
                <a:sym typeface="OpenSans-Bold"/>
              </a:defRPr>
            </a:lvl1pPr>
          </a:lstStyle>
          <a:p>
            <a:pPr/>
            <a:r>
              <a:t>Session Overview: What You'll Learn</a:t>
            </a:r>
          </a:p>
        </p:txBody>
      </p:sp>
      <p:sp>
        <p:nvSpPr>
          <p:cNvPr id="91" name="Bullet circle 1"/>
          <p:cNvSpPr/>
          <p:nvPr/>
        </p:nvSpPr>
        <p:spPr>
          <a:xfrm>
            <a:off x="347661" y="857250"/>
            <a:ext cx="474346" cy="474345"/>
          </a:xfrm>
          <a:prstGeom prst="ellipse">
            <a:avLst/>
          </a:prstGeom>
          <a:solidFill>
            <a:srgbClr val="FF9800"/>
          </a:solidFill>
          <a:ln w="12700">
            <a:miter lim="400000"/>
          </a:ln>
        </p:spPr>
        <p:txBody>
          <a:bodyPr lIns="45719" rIns="45719"/>
          <a:lstStyle/>
          <a:p>
            <a:pPr/>
          </a:p>
        </p:txBody>
      </p:sp>
      <p:sp>
        <p:nvSpPr>
          <p:cNvPr id="92" name="Bullet index 1"/>
          <p:cNvSpPr txBox="1"/>
          <p:nvPr/>
        </p:nvSpPr>
        <p:spPr>
          <a:xfrm>
            <a:off x="925353" y="933656"/>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01</a:t>
            </a:r>
          </a:p>
        </p:txBody>
      </p:sp>
      <p:sp>
        <p:nvSpPr>
          <p:cNvPr id="93" name="Bullet text 1"/>
          <p:cNvSpPr txBox="1"/>
          <p:nvPr/>
        </p:nvSpPr>
        <p:spPr>
          <a:xfrm>
            <a:off x="1433940" y="842721"/>
            <a:ext cx="24338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latin typeface="OpenSans-Regular"/>
                <a:ea typeface="OpenSans-Regular"/>
                <a:cs typeface="OpenSans-Regular"/>
                <a:sym typeface="OpenSans-Regular"/>
              </a:defRPr>
            </a:lvl1pPr>
          </a:lstStyle>
          <a:p>
            <a:pPr/>
            <a:r>
              <a:t>1. Evolution of DevOps and need for AI</a:t>
            </a:r>
          </a:p>
        </p:txBody>
      </p:sp>
      <p:sp>
        <p:nvSpPr>
          <p:cNvPr id="94" name="Bullet circle 2"/>
          <p:cNvSpPr/>
          <p:nvPr/>
        </p:nvSpPr>
        <p:spPr>
          <a:xfrm>
            <a:off x="347661" y="1619250"/>
            <a:ext cx="474346" cy="474345"/>
          </a:xfrm>
          <a:prstGeom prst="ellipse">
            <a:avLst/>
          </a:prstGeom>
          <a:solidFill>
            <a:srgbClr val="FF9800"/>
          </a:solidFill>
          <a:ln w="12700">
            <a:miter lim="400000"/>
          </a:ln>
        </p:spPr>
        <p:txBody>
          <a:bodyPr lIns="45719" rIns="45719"/>
          <a:lstStyle/>
          <a:p>
            <a:pPr/>
          </a:p>
        </p:txBody>
      </p:sp>
      <p:sp>
        <p:nvSpPr>
          <p:cNvPr id="95" name="Bullet index 2"/>
          <p:cNvSpPr txBox="1"/>
          <p:nvPr/>
        </p:nvSpPr>
        <p:spPr>
          <a:xfrm>
            <a:off x="925353" y="1695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02</a:t>
            </a:r>
          </a:p>
        </p:txBody>
      </p:sp>
      <p:sp>
        <p:nvSpPr>
          <p:cNvPr id="96" name="Bullet text 2"/>
          <p:cNvSpPr txBox="1"/>
          <p:nvPr/>
        </p:nvSpPr>
        <p:spPr>
          <a:xfrm>
            <a:off x="1433940" y="1604721"/>
            <a:ext cx="24338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latin typeface="OpenSans-Regular"/>
                <a:ea typeface="OpenSans-Regular"/>
                <a:cs typeface="OpenSans-Regular"/>
                <a:sym typeface="OpenSans-Regular"/>
              </a:defRPr>
            </a:lvl1pPr>
          </a:lstStyle>
          <a:p>
            <a:pPr/>
            <a:r>
              <a:t>2. Key DevOps challenges today</a:t>
            </a:r>
          </a:p>
        </p:txBody>
      </p:sp>
      <p:sp>
        <p:nvSpPr>
          <p:cNvPr id="97" name="Bullet circle 3"/>
          <p:cNvSpPr/>
          <p:nvPr/>
        </p:nvSpPr>
        <p:spPr>
          <a:xfrm>
            <a:off x="347661" y="2381250"/>
            <a:ext cx="474346" cy="474345"/>
          </a:xfrm>
          <a:prstGeom prst="ellipse">
            <a:avLst/>
          </a:prstGeom>
          <a:solidFill>
            <a:srgbClr val="FF9800"/>
          </a:solidFill>
          <a:ln w="12700">
            <a:miter lim="400000"/>
          </a:ln>
        </p:spPr>
        <p:txBody>
          <a:bodyPr lIns="45719" rIns="45719"/>
          <a:lstStyle/>
          <a:p>
            <a:pPr/>
          </a:p>
        </p:txBody>
      </p:sp>
      <p:sp>
        <p:nvSpPr>
          <p:cNvPr id="98" name="Bullet index 3"/>
          <p:cNvSpPr txBox="1"/>
          <p:nvPr/>
        </p:nvSpPr>
        <p:spPr>
          <a:xfrm>
            <a:off x="925353" y="2457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03</a:t>
            </a:r>
          </a:p>
        </p:txBody>
      </p:sp>
      <p:sp>
        <p:nvSpPr>
          <p:cNvPr id="99" name="Bullet text 3"/>
          <p:cNvSpPr txBox="1"/>
          <p:nvPr/>
        </p:nvSpPr>
        <p:spPr>
          <a:xfrm>
            <a:off x="1433940" y="2468321"/>
            <a:ext cx="2433829"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latin typeface="OpenSans-Regular"/>
                <a:ea typeface="OpenSans-Regular"/>
                <a:cs typeface="OpenSans-Regular"/>
                <a:sym typeface="OpenSans-Regular"/>
              </a:defRPr>
            </a:lvl1pPr>
          </a:lstStyle>
          <a:p>
            <a:pPr/>
            <a:r>
              <a:t>3. AI vs traditional automation</a:t>
            </a:r>
          </a:p>
        </p:txBody>
      </p:sp>
      <p:sp>
        <p:nvSpPr>
          <p:cNvPr id="100" name="Bullet circle 4"/>
          <p:cNvSpPr/>
          <p:nvPr/>
        </p:nvSpPr>
        <p:spPr>
          <a:xfrm>
            <a:off x="347661" y="3143250"/>
            <a:ext cx="474346" cy="474345"/>
          </a:xfrm>
          <a:prstGeom prst="ellipse">
            <a:avLst/>
          </a:prstGeom>
          <a:solidFill>
            <a:srgbClr val="FF9800"/>
          </a:solidFill>
          <a:ln w="12700">
            <a:miter lim="400000"/>
          </a:ln>
        </p:spPr>
        <p:txBody>
          <a:bodyPr lIns="45719" rIns="45719"/>
          <a:lstStyle/>
          <a:p>
            <a:pPr/>
          </a:p>
        </p:txBody>
      </p:sp>
      <p:sp>
        <p:nvSpPr>
          <p:cNvPr id="101" name="Bullet index 4"/>
          <p:cNvSpPr txBox="1"/>
          <p:nvPr/>
        </p:nvSpPr>
        <p:spPr>
          <a:xfrm>
            <a:off x="925353" y="3219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04</a:t>
            </a:r>
          </a:p>
        </p:txBody>
      </p:sp>
      <p:sp>
        <p:nvSpPr>
          <p:cNvPr id="102" name="Bullet text 4"/>
          <p:cNvSpPr txBox="1"/>
          <p:nvPr/>
        </p:nvSpPr>
        <p:spPr>
          <a:xfrm>
            <a:off x="1433940" y="3128721"/>
            <a:ext cx="24338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latin typeface="OpenSans-Regular"/>
                <a:ea typeface="OpenSans-Regular"/>
                <a:cs typeface="OpenSans-Regular"/>
                <a:sym typeface="OpenSans-Regular"/>
              </a:defRPr>
            </a:lvl1pPr>
          </a:lstStyle>
          <a:p>
            <a:pPr/>
            <a:r>
              <a:t>4. AIOps and practical use cases</a:t>
            </a:r>
          </a:p>
        </p:txBody>
      </p:sp>
      <p:sp>
        <p:nvSpPr>
          <p:cNvPr id="103" name="Bullet circle 5"/>
          <p:cNvSpPr/>
          <p:nvPr/>
        </p:nvSpPr>
        <p:spPr>
          <a:xfrm>
            <a:off x="347661" y="3905250"/>
            <a:ext cx="474346" cy="474345"/>
          </a:xfrm>
          <a:prstGeom prst="ellipse">
            <a:avLst/>
          </a:prstGeom>
          <a:solidFill>
            <a:srgbClr val="FF9800"/>
          </a:solidFill>
          <a:ln w="12700">
            <a:miter lim="400000"/>
          </a:ln>
        </p:spPr>
        <p:txBody>
          <a:bodyPr lIns="45719" rIns="45719"/>
          <a:lstStyle/>
          <a:p>
            <a:pPr/>
          </a:p>
        </p:txBody>
      </p:sp>
      <p:sp>
        <p:nvSpPr>
          <p:cNvPr id="104" name="Bullet index 5"/>
          <p:cNvSpPr txBox="1"/>
          <p:nvPr/>
        </p:nvSpPr>
        <p:spPr>
          <a:xfrm>
            <a:off x="925353" y="3981657"/>
            <a:ext cx="384287"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b="1" sz="1400">
                <a:solidFill>
                  <a:srgbClr val="333333"/>
                </a:solidFill>
                <a:latin typeface="Prompt-Bold"/>
                <a:ea typeface="Prompt-Bold"/>
                <a:cs typeface="Prompt-Bold"/>
                <a:sym typeface="Prompt-Bold"/>
              </a:defRPr>
            </a:lvl1pPr>
          </a:lstStyle>
          <a:p>
            <a:pPr/>
            <a:r>
              <a:t>05</a:t>
            </a:r>
          </a:p>
        </p:txBody>
      </p:sp>
      <p:sp>
        <p:nvSpPr>
          <p:cNvPr id="105" name="Bullet text 5"/>
          <p:cNvSpPr txBox="1"/>
          <p:nvPr/>
        </p:nvSpPr>
        <p:spPr>
          <a:xfrm>
            <a:off x="1433940" y="3890721"/>
            <a:ext cx="243382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solidFill>
                  <a:srgbClr val="333333"/>
                </a:solidFill>
                <a:latin typeface="OpenSans-Regular"/>
                <a:ea typeface="OpenSans-Regular"/>
                <a:cs typeface="OpenSans-Regular"/>
                <a:sym typeface="OpenSans-Regular"/>
              </a:defRPr>
            </a:lvl1pPr>
          </a:lstStyle>
          <a:p>
            <a:pPr/>
            <a:r>
              <a:t>5. Industry trends and case studies</a:t>
            </a:r>
          </a:p>
        </p:txBody>
      </p:sp>
      <p:pic>
        <p:nvPicPr>
          <p:cNvPr id="106" name="Image" descr="Image"/>
          <p:cNvPicPr>
            <a:picLocks noChangeAspect="1"/>
          </p:cNvPicPr>
          <p:nvPr/>
        </p:nvPicPr>
        <p:blipFill>
          <a:blip r:embed="rId2">
            <a:extLst/>
          </a:blip>
          <a:stretch>
            <a:fillRect/>
          </a:stretch>
        </p:blipFill>
        <p:spPr>
          <a:xfrm>
            <a:off x="6569916" y="2586084"/>
            <a:ext cx="2321719" cy="2321720"/>
          </a:xfrm>
          <a:prstGeom prst="rect">
            <a:avLst/>
          </a:prstGeom>
          <a:ln w="12700">
            <a:miter lim="400000"/>
          </a:ln>
        </p:spPr>
      </p:pic>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109"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What is DevOps?</a:t>
            </a:r>
          </a:p>
        </p:txBody>
      </p:sp>
      <p:sp>
        <p:nvSpPr>
          <p:cNvPr id="110" name="Subtitle 1"/>
          <p:cNvSpPr txBox="1"/>
          <p:nvPr/>
        </p:nvSpPr>
        <p:spPr>
          <a:xfrm>
            <a:off x="754248" y="1266066"/>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Origins and Philosophy</a:t>
            </a:r>
          </a:p>
        </p:txBody>
      </p:sp>
      <p:sp>
        <p:nvSpPr>
          <p:cNvPr id="111" name="Paragraph 1"/>
          <p:cNvSpPr txBox="1"/>
          <p:nvPr/>
        </p:nvSpPr>
        <p:spPr>
          <a:xfrm>
            <a:off x="754248" y="1488316"/>
            <a:ext cx="5147311" cy="624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DevOps emerged to bridge the gap between software development and IT operations, emphasizing collaboration, automation, and continuous delivery.</a:t>
            </a:r>
          </a:p>
        </p:txBody>
      </p:sp>
      <p:sp>
        <p:nvSpPr>
          <p:cNvPr id="112" name="Subtitle 2"/>
          <p:cNvSpPr txBox="1"/>
          <p:nvPr/>
        </p:nvSpPr>
        <p:spPr>
          <a:xfrm>
            <a:off x="754248" y="2599566"/>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Key Practices</a:t>
            </a:r>
          </a:p>
        </p:txBody>
      </p:sp>
      <p:sp>
        <p:nvSpPr>
          <p:cNvPr id="113" name="Paragraph 2"/>
          <p:cNvSpPr txBox="1"/>
          <p:nvPr/>
        </p:nvSpPr>
        <p:spPr>
          <a:xfrm>
            <a:off x="754248" y="2910716"/>
            <a:ext cx="514731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Core practices include CI/CD, infrastructure as code, monitoring, and rapid feedback loops—all aimed at streamlining software delivery.</a:t>
            </a:r>
          </a:p>
        </p:txBody>
      </p:sp>
      <p:sp>
        <p:nvSpPr>
          <p:cNvPr id="114" name="Subtitle 3"/>
          <p:cNvSpPr txBox="1"/>
          <p:nvPr/>
        </p:nvSpPr>
        <p:spPr>
          <a:xfrm>
            <a:off x="754248" y="3694941"/>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Why It Matters</a:t>
            </a:r>
          </a:p>
        </p:txBody>
      </p:sp>
      <p:sp>
        <p:nvSpPr>
          <p:cNvPr id="115" name="Paragraph 3"/>
          <p:cNvSpPr txBox="1"/>
          <p:nvPr/>
        </p:nvSpPr>
        <p:spPr>
          <a:xfrm>
            <a:off x="754248" y="4006091"/>
            <a:ext cx="5147311"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DevOps accelerates innovation and reduces time-to-market, making it essential in today's fast-paced tech world.</a:t>
            </a:r>
          </a:p>
        </p:txBody>
      </p:sp>
      <p:pic>
        <p:nvPicPr>
          <p:cNvPr id="116"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117"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18"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StaticPath"/>
          <p:cNvSpPr/>
          <p:nvPr/>
        </p:nvSpPr>
        <p:spPr>
          <a:xfrm>
            <a:off x="540710" y="1956935"/>
            <a:ext cx="2156114" cy="2858243"/>
          </a:xfrm>
          <a:prstGeom prst="rect">
            <a:avLst/>
          </a:prstGeom>
          <a:solidFill>
            <a:srgbClr val="FF9800"/>
          </a:solidFill>
          <a:ln w="12700">
            <a:miter lim="400000"/>
          </a:ln>
        </p:spPr>
        <p:txBody>
          <a:bodyPr lIns="45719" rIns="45719"/>
          <a:lstStyle/>
          <a:p>
            <a:pPr/>
          </a:p>
        </p:txBody>
      </p:sp>
      <p:sp>
        <p:nvSpPr>
          <p:cNvPr id="121"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What is DevOps?</a:t>
            </a:r>
          </a:p>
        </p:txBody>
      </p:sp>
      <p:sp>
        <p:nvSpPr>
          <p:cNvPr id="122"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23"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pic>
        <p:nvPicPr>
          <p:cNvPr id="124" name="pasted-movie.png" descr="pasted-movie.png"/>
          <p:cNvPicPr>
            <a:picLocks noChangeAspect="1"/>
          </p:cNvPicPr>
          <p:nvPr/>
        </p:nvPicPr>
        <p:blipFill>
          <a:blip r:embed="rId2">
            <a:extLst/>
          </a:blip>
          <a:stretch>
            <a:fillRect/>
          </a:stretch>
        </p:blipFill>
        <p:spPr>
          <a:xfrm>
            <a:off x="4175436" y="36"/>
            <a:ext cx="2754878" cy="1884917"/>
          </a:xfrm>
          <a:prstGeom prst="rect">
            <a:avLst/>
          </a:prstGeom>
          <a:ln w="12700">
            <a:miter lim="400000"/>
          </a:ln>
        </p:spPr>
      </p:pic>
      <p:sp>
        <p:nvSpPr>
          <p:cNvPr id="125" name="Subtitle 1"/>
          <p:cNvSpPr txBox="1"/>
          <p:nvPr/>
        </p:nvSpPr>
        <p:spPr>
          <a:xfrm>
            <a:off x="610313" y="2201314"/>
            <a:ext cx="267857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DevOps</a:t>
            </a:r>
          </a:p>
        </p:txBody>
      </p:sp>
      <p:sp>
        <p:nvSpPr>
          <p:cNvPr id="126" name="Paragraph 1"/>
          <p:cNvSpPr txBox="1"/>
          <p:nvPr/>
        </p:nvSpPr>
        <p:spPr>
          <a:xfrm>
            <a:off x="2849546" y="1931440"/>
            <a:ext cx="4084053" cy="802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The practice of operations and development engineers working together through the entire service lifecycle, from the design and development process all the way to production support including the applications and systems.</a:t>
            </a:r>
          </a:p>
        </p:txBody>
      </p:sp>
      <p:sp>
        <p:nvSpPr>
          <p:cNvPr id="127" name="Subtitle 2"/>
          <p:cNvSpPr txBox="1"/>
          <p:nvPr/>
        </p:nvSpPr>
        <p:spPr>
          <a:xfrm>
            <a:off x="597599" y="3198916"/>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CAMS Model</a:t>
            </a:r>
          </a:p>
        </p:txBody>
      </p:sp>
      <p:sp>
        <p:nvSpPr>
          <p:cNvPr id="128" name="Paragraph 2"/>
          <p:cNvSpPr txBox="1"/>
          <p:nvPr/>
        </p:nvSpPr>
        <p:spPr>
          <a:xfrm>
            <a:off x="2837495" y="3204550"/>
            <a:ext cx="5147311"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Culture, Automation, Measurement and Sharing</a:t>
            </a:r>
          </a:p>
        </p:txBody>
      </p:sp>
      <p:sp>
        <p:nvSpPr>
          <p:cNvPr id="129" name="Subtitle 3"/>
          <p:cNvSpPr txBox="1"/>
          <p:nvPr/>
        </p:nvSpPr>
        <p:spPr>
          <a:xfrm>
            <a:off x="597598" y="4400160"/>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Principles: The Three Ways</a:t>
            </a:r>
          </a:p>
        </p:txBody>
      </p:sp>
      <p:sp>
        <p:nvSpPr>
          <p:cNvPr id="130" name="Paragraph 3"/>
          <p:cNvSpPr txBox="1"/>
          <p:nvPr/>
        </p:nvSpPr>
        <p:spPr>
          <a:xfrm>
            <a:off x="2837495" y="4110791"/>
            <a:ext cx="5147311" cy="624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a:defRPr sz="1200">
                <a:latin typeface="OpenSans-Regular"/>
                <a:ea typeface="OpenSans-Regular"/>
                <a:cs typeface="OpenSans-Regular"/>
                <a:sym typeface="OpenSans-Regular"/>
              </a:defRPr>
            </a:pPr>
            <a:r>
              <a:t>Systems thinking and the principles of flow</a:t>
            </a:r>
          </a:p>
          <a:p>
            <a:pPr>
              <a:defRPr sz="1200">
                <a:latin typeface="OpenSans-Regular"/>
                <a:ea typeface="OpenSans-Regular"/>
                <a:cs typeface="OpenSans-Regular"/>
                <a:sym typeface="OpenSans-Regular"/>
              </a:defRPr>
            </a:pPr>
            <a:r>
              <a:t>Amplifying feedback loops</a:t>
            </a:r>
          </a:p>
          <a:p>
            <a:pPr>
              <a:defRPr sz="1200">
                <a:latin typeface="OpenSans-Regular"/>
                <a:ea typeface="OpenSans-Regular"/>
                <a:cs typeface="OpenSans-Regular"/>
                <a:sym typeface="OpenSans-Regular"/>
              </a:defRPr>
            </a:pPr>
            <a:r>
              <a:t>A culture of continuous experimentation and learning</a:t>
            </a:r>
          </a:p>
        </p:txBody>
      </p:sp>
      <p:pic>
        <p:nvPicPr>
          <p:cNvPr id="131" name="pasted-movie.png" descr="pasted-movie.png"/>
          <p:cNvPicPr>
            <a:picLocks noChangeAspect="1"/>
          </p:cNvPicPr>
          <p:nvPr/>
        </p:nvPicPr>
        <p:blipFill>
          <a:blip r:embed="rId3">
            <a:extLst/>
          </a:blip>
          <a:stretch>
            <a:fillRect/>
          </a:stretch>
        </p:blipFill>
        <p:spPr>
          <a:xfrm>
            <a:off x="6512313" y="3421274"/>
            <a:ext cx="2156114" cy="1623624"/>
          </a:xfrm>
          <a:prstGeom prst="rect">
            <a:avLst/>
          </a:prstGeom>
          <a:ln w="12700">
            <a:miter lim="400000"/>
          </a:ln>
        </p:spPr>
      </p:pic>
      <p:pic>
        <p:nvPicPr>
          <p:cNvPr id="132" name="pasted-movie.png" descr="pasted-movie.png"/>
          <p:cNvPicPr>
            <a:picLocks noChangeAspect="1"/>
          </p:cNvPicPr>
          <p:nvPr/>
        </p:nvPicPr>
        <p:blipFill>
          <a:blip r:embed="rId4">
            <a:extLst/>
          </a:blip>
          <a:stretch>
            <a:fillRect/>
          </a:stretch>
        </p:blipFill>
        <p:spPr>
          <a:xfrm>
            <a:off x="6378899" y="1857856"/>
            <a:ext cx="2650007" cy="1427788"/>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4"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135" name="Title"/>
          <p:cNvSpPr txBox="1"/>
          <p:nvPr/>
        </p:nvSpPr>
        <p:spPr>
          <a:xfrm>
            <a:off x="1236344" y="470217"/>
            <a:ext cx="5623561"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333333"/>
                </a:solidFill>
                <a:latin typeface="OpenSans-Bold"/>
                <a:ea typeface="OpenSans-Bold"/>
                <a:cs typeface="OpenSans-Bold"/>
                <a:sym typeface="OpenSans-Bold"/>
              </a:defRPr>
            </a:lvl1pPr>
          </a:lstStyle>
          <a:p>
            <a:pPr/>
            <a:r>
              <a:t>Rise of AI in Software Engineering</a:t>
            </a:r>
          </a:p>
        </p:txBody>
      </p:sp>
      <p:sp>
        <p:nvSpPr>
          <p:cNvPr id="136" name="Subtitle 1"/>
          <p:cNvSpPr txBox="1"/>
          <p:nvPr/>
        </p:nvSpPr>
        <p:spPr>
          <a:xfrm>
            <a:off x="760094" y="1751330"/>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AI Enters DevOps</a:t>
            </a:r>
          </a:p>
        </p:txBody>
      </p:sp>
      <p:sp>
        <p:nvSpPr>
          <p:cNvPr id="137" name="Paragraph 1"/>
          <p:cNvSpPr txBox="1"/>
          <p:nvPr/>
        </p:nvSpPr>
        <p:spPr>
          <a:xfrm>
            <a:off x="760094" y="2037080"/>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Artificial Intelligence has gradually moved into the DevOps lifecycle, particularly in testing, monitoring, and issue resolution.</a:t>
            </a:r>
          </a:p>
        </p:txBody>
      </p:sp>
      <p:sp>
        <p:nvSpPr>
          <p:cNvPr id="138" name="Subtitle 2"/>
          <p:cNvSpPr txBox="1"/>
          <p:nvPr/>
        </p:nvSpPr>
        <p:spPr>
          <a:xfrm>
            <a:off x="760094" y="3084830"/>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Drivers of Adoption</a:t>
            </a:r>
          </a:p>
        </p:txBody>
      </p:sp>
      <p:sp>
        <p:nvSpPr>
          <p:cNvPr id="139" name="Paragraph 2"/>
          <p:cNvSpPr txBox="1"/>
          <p:nvPr/>
        </p:nvSpPr>
        <p:spPr>
          <a:xfrm>
            <a:off x="760094" y="3370580"/>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Rising system complexity, data volume, and expectations for uptime have made AI integration increasingly attractive.</a:t>
            </a:r>
          </a:p>
        </p:txBody>
      </p:sp>
      <p:sp>
        <p:nvSpPr>
          <p:cNvPr id="140" name="Subtitle 3"/>
          <p:cNvSpPr txBox="1"/>
          <p:nvPr/>
        </p:nvSpPr>
        <p:spPr>
          <a:xfrm>
            <a:off x="760094" y="4180205"/>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Impact on Engineering</a:t>
            </a:r>
          </a:p>
        </p:txBody>
      </p:sp>
      <p:sp>
        <p:nvSpPr>
          <p:cNvPr id="141" name="Paragraph 3"/>
          <p:cNvSpPr txBox="1"/>
          <p:nvPr/>
        </p:nvSpPr>
        <p:spPr>
          <a:xfrm>
            <a:off x="760094" y="4465955"/>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tools help reduce manual tasks, improve decision-making, and detect issues earlier in the development process.</a:t>
            </a:r>
          </a:p>
        </p:txBody>
      </p:sp>
      <p:pic>
        <p:nvPicPr>
          <p:cNvPr id="142"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143"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44"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6"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147"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48"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149" name="Title"/>
          <p:cNvSpPr txBox="1"/>
          <p:nvPr/>
        </p:nvSpPr>
        <p:spPr>
          <a:xfrm>
            <a:off x="895302" y="606606"/>
            <a:ext cx="6121814"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latin typeface="OpenSans-Regular"/>
                <a:ea typeface="OpenSans-Regular"/>
                <a:cs typeface="OpenSans-Regular"/>
                <a:sym typeface="OpenSans-Regular"/>
              </a:defRPr>
            </a:lvl1pPr>
          </a:lstStyle>
          <a:p>
            <a:pPr/>
            <a:r>
              <a:t>Why AI is a Game-Changer for DevOps</a:t>
            </a:r>
          </a:p>
        </p:txBody>
      </p:sp>
      <p:pic>
        <p:nvPicPr>
          <p:cNvPr id="150" name="Image" descr="Image"/>
          <p:cNvPicPr>
            <a:picLocks noChangeAspect="1"/>
          </p:cNvPicPr>
          <p:nvPr/>
        </p:nvPicPr>
        <p:blipFill>
          <a:blip r:embed="rId2">
            <a:extLst/>
          </a:blip>
          <a:stretch>
            <a:fillRect/>
          </a:stretch>
        </p:blipFill>
        <p:spPr>
          <a:xfrm>
            <a:off x="6429268" y="1710824"/>
            <a:ext cx="2227721" cy="2227721"/>
          </a:xfrm>
          <a:prstGeom prst="rect">
            <a:avLst/>
          </a:prstGeom>
          <a:ln w="12700">
            <a:miter lim="400000"/>
          </a:ln>
        </p:spPr>
      </p:pic>
      <p:sp>
        <p:nvSpPr>
          <p:cNvPr id="151" name="Subtitle 1"/>
          <p:cNvSpPr txBox="1"/>
          <p:nvPr/>
        </p:nvSpPr>
        <p:spPr>
          <a:xfrm>
            <a:off x="465914" y="1579038"/>
            <a:ext cx="267857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From Automation to Intelligence</a:t>
            </a:r>
          </a:p>
        </p:txBody>
      </p:sp>
      <p:sp>
        <p:nvSpPr>
          <p:cNvPr id="152" name="Paragraph 1"/>
          <p:cNvSpPr txBox="1"/>
          <p:nvPr/>
        </p:nvSpPr>
        <p:spPr>
          <a:xfrm>
            <a:off x="3035491" y="1493861"/>
            <a:ext cx="3370826" cy="802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AI elevates DevOps beyond rule-based automation by enabling systems to learn and adapt. This allows for smarter decision-making and proactive incident management.</a:t>
            </a:r>
          </a:p>
        </p:txBody>
      </p:sp>
      <p:sp>
        <p:nvSpPr>
          <p:cNvPr id="153" name="Subtitle 2"/>
          <p:cNvSpPr txBox="1"/>
          <p:nvPr/>
        </p:nvSpPr>
        <p:spPr>
          <a:xfrm>
            <a:off x="453200" y="2576640"/>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Enhanced Speed and Reliability</a:t>
            </a:r>
          </a:p>
        </p:txBody>
      </p:sp>
      <p:sp>
        <p:nvSpPr>
          <p:cNvPr id="154" name="Paragraph 2"/>
          <p:cNvSpPr txBox="1"/>
          <p:nvPr/>
        </p:nvSpPr>
        <p:spPr>
          <a:xfrm>
            <a:off x="3023441" y="2500271"/>
            <a:ext cx="3206783" cy="802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AI reduces human errors and speeds up deployment cycles by predicting issues before they happen. It brings consistency and efficiency across environments.</a:t>
            </a:r>
          </a:p>
        </p:txBody>
      </p:sp>
      <p:sp>
        <p:nvSpPr>
          <p:cNvPr id="155" name="Subtitle 3"/>
          <p:cNvSpPr txBox="1"/>
          <p:nvPr/>
        </p:nvSpPr>
        <p:spPr>
          <a:xfrm>
            <a:off x="453199" y="3777884"/>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Scalability with Insight</a:t>
            </a:r>
          </a:p>
        </p:txBody>
      </p:sp>
      <p:sp>
        <p:nvSpPr>
          <p:cNvPr id="156" name="Paragraph 3"/>
          <p:cNvSpPr txBox="1"/>
          <p:nvPr/>
        </p:nvSpPr>
        <p:spPr>
          <a:xfrm>
            <a:off x="3023441" y="3673213"/>
            <a:ext cx="3206783" cy="624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AI tools analyze massive amounts of data in real-time, helping teams scale DevOps practices without losing visibility or control.</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8"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159"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Why AI + DevOps?</a:t>
            </a:r>
          </a:p>
        </p:txBody>
      </p:sp>
      <p:sp>
        <p:nvSpPr>
          <p:cNvPr id="160" name="Subtitle 1"/>
          <p:cNvSpPr txBox="1"/>
          <p:nvPr/>
        </p:nvSpPr>
        <p:spPr>
          <a:xfrm>
            <a:off x="760094" y="1751330"/>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Complexity at Scale</a:t>
            </a:r>
          </a:p>
        </p:txBody>
      </p:sp>
      <p:sp>
        <p:nvSpPr>
          <p:cNvPr id="161" name="Paragraph 1"/>
          <p:cNvSpPr txBox="1"/>
          <p:nvPr/>
        </p:nvSpPr>
        <p:spPr>
          <a:xfrm>
            <a:off x="760094" y="2037080"/>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Modern systems generate enormous amounts of telemetry data, making manual monitoring and response increasingly impractical.</a:t>
            </a:r>
          </a:p>
        </p:txBody>
      </p:sp>
      <p:sp>
        <p:nvSpPr>
          <p:cNvPr id="162" name="Subtitle 2"/>
          <p:cNvSpPr txBox="1"/>
          <p:nvPr/>
        </p:nvSpPr>
        <p:spPr>
          <a:xfrm>
            <a:off x="760094" y="3084830"/>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Speed Expectations</a:t>
            </a:r>
          </a:p>
        </p:txBody>
      </p:sp>
      <p:sp>
        <p:nvSpPr>
          <p:cNvPr id="163" name="Paragraph 2"/>
          <p:cNvSpPr txBox="1"/>
          <p:nvPr/>
        </p:nvSpPr>
        <p:spPr>
          <a:xfrm>
            <a:off x="760094" y="3370580"/>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Organizations demand faster deployments and minimal downtime, which requires intelligent automation to maintain reliability.</a:t>
            </a:r>
          </a:p>
        </p:txBody>
      </p:sp>
      <p:sp>
        <p:nvSpPr>
          <p:cNvPr id="164" name="Subtitle 3"/>
          <p:cNvSpPr txBox="1"/>
          <p:nvPr/>
        </p:nvSpPr>
        <p:spPr>
          <a:xfrm>
            <a:off x="760094" y="4180205"/>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Adaptive Learning</a:t>
            </a:r>
          </a:p>
        </p:txBody>
      </p:sp>
      <p:sp>
        <p:nvSpPr>
          <p:cNvPr id="165" name="Paragraph 3"/>
          <p:cNvSpPr txBox="1"/>
          <p:nvPr/>
        </p:nvSpPr>
        <p:spPr>
          <a:xfrm>
            <a:off x="760094" y="4465955"/>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can analyze historical patterns to predict future issues, proactively helping teams before problems impact users.</a:t>
            </a:r>
          </a:p>
        </p:txBody>
      </p:sp>
      <p:pic>
        <p:nvPicPr>
          <p:cNvPr id="166"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167"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68"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0"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171"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72"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173" name="Subtitle 1"/>
          <p:cNvSpPr txBox="1"/>
          <p:nvPr/>
        </p:nvSpPr>
        <p:spPr>
          <a:xfrm>
            <a:off x="465914" y="1380256"/>
            <a:ext cx="2678575"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From Automation to Intelligence</a:t>
            </a:r>
          </a:p>
        </p:txBody>
      </p:sp>
      <p:sp>
        <p:nvSpPr>
          <p:cNvPr id="174" name="Paragraph 1"/>
          <p:cNvSpPr txBox="1"/>
          <p:nvPr/>
        </p:nvSpPr>
        <p:spPr>
          <a:xfrm>
            <a:off x="2946591" y="1295079"/>
            <a:ext cx="3457388" cy="802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AI elevates DevOps beyond rule-based automation by enabling systems to learn and adapt. This allows for smarter decision-making and proactive incident management.</a:t>
            </a:r>
          </a:p>
        </p:txBody>
      </p:sp>
      <p:sp>
        <p:nvSpPr>
          <p:cNvPr id="175" name="Subtitle 2"/>
          <p:cNvSpPr txBox="1"/>
          <p:nvPr/>
        </p:nvSpPr>
        <p:spPr>
          <a:xfrm>
            <a:off x="453200" y="2377857"/>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Enhanced Speed and Reliability</a:t>
            </a:r>
          </a:p>
        </p:txBody>
      </p:sp>
      <p:sp>
        <p:nvSpPr>
          <p:cNvPr id="176" name="Paragraph 2"/>
          <p:cNvSpPr txBox="1"/>
          <p:nvPr/>
        </p:nvSpPr>
        <p:spPr>
          <a:xfrm>
            <a:off x="2934541" y="2301489"/>
            <a:ext cx="3481488" cy="802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AI reduces human errors and speeds up deployment cycles by predicting issues before they happen. It brings consistency and efficiency across environments.</a:t>
            </a:r>
          </a:p>
        </p:txBody>
      </p:sp>
      <p:sp>
        <p:nvSpPr>
          <p:cNvPr id="177" name="Subtitle 3"/>
          <p:cNvSpPr txBox="1"/>
          <p:nvPr/>
        </p:nvSpPr>
        <p:spPr>
          <a:xfrm>
            <a:off x="453199" y="3579102"/>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Scalability with Insight</a:t>
            </a:r>
          </a:p>
        </p:txBody>
      </p:sp>
      <p:sp>
        <p:nvSpPr>
          <p:cNvPr id="178" name="Paragraph 3"/>
          <p:cNvSpPr txBox="1"/>
          <p:nvPr/>
        </p:nvSpPr>
        <p:spPr>
          <a:xfrm>
            <a:off x="2934541" y="3474431"/>
            <a:ext cx="3481488" cy="624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AI tools analyze massive amounts of data in real-time, helping teams scale DevOps practices without losing visibility or control.</a:t>
            </a:r>
          </a:p>
        </p:txBody>
      </p:sp>
      <p:sp>
        <p:nvSpPr>
          <p:cNvPr id="179" name="Title"/>
          <p:cNvSpPr txBox="1"/>
          <p:nvPr/>
        </p:nvSpPr>
        <p:spPr>
          <a:xfrm>
            <a:off x="1076342" y="513829"/>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AI Across the DevOps Lifecycle</a:t>
            </a:r>
          </a:p>
        </p:txBody>
      </p:sp>
      <p:pic>
        <p:nvPicPr>
          <p:cNvPr id="180" name="Image" descr="Image"/>
          <p:cNvPicPr>
            <a:picLocks noChangeAspect="1"/>
          </p:cNvPicPr>
          <p:nvPr/>
        </p:nvPicPr>
        <p:blipFill>
          <a:blip r:embed="rId2">
            <a:extLst/>
          </a:blip>
          <a:stretch>
            <a:fillRect/>
          </a:stretch>
        </p:blipFill>
        <p:spPr>
          <a:xfrm>
            <a:off x="6437160" y="1592140"/>
            <a:ext cx="2221339" cy="2221338"/>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183"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84"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185" name="Title"/>
          <p:cNvSpPr txBox="1"/>
          <p:nvPr/>
        </p:nvSpPr>
        <p:spPr>
          <a:xfrm>
            <a:off x="1033129" y="522472"/>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AI Across the DevOps Lifecycle</a:t>
            </a:r>
          </a:p>
        </p:txBody>
      </p:sp>
      <p:sp>
        <p:nvSpPr>
          <p:cNvPr id="186" name="Subtitle 1"/>
          <p:cNvSpPr txBox="1"/>
          <p:nvPr/>
        </p:nvSpPr>
        <p:spPr>
          <a:xfrm>
            <a:off x="465914" y="1320285"/>
            <a:ext cx="2678575"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Code &amp; Build</a:t>
            </a:r>
          </a:p>
        </p:txBody>
      </p:sp>
      <p:sp>
        <p:nvSpPr>
          <p:cNvPr id="187" name="Paragraph 1"/>
          <p:cNvSpPr txBox="1"/>
          <p:nvPr/>
        </p:nvSpPr>
        <p:spPr>
          <a:xfrm>
            <a:off x="2497721" y="1074404"/>
            <a:ext cx="3799452"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enhances code reviews, suggests improvements, and predicts bugs early in the pipeline, improving code quality before deployment.</a:t>
            </a:r>
          </a:p>
        </p:txBody>
      </p:sp>
      <p:sp>
        <p:nvSpPr>
          <p:cNvPr id="188" name="Subtitle 2"/>
          <p:cNvSpPr txBox="1"/>
          <p:nvPr/>
        </p:nvSpPr>
        <p:spPr>
          <a:xfrm>
            <a:off x="453200" y="2317886"/>
            <a:ext cx="269129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Test &amp; Deploy</a:t>
            </a:r>
          </a:p>
        </p:txBody>
      </p:sp>
      <p:sp>
        <p:nvSpPr>
          <p:cNvPr id="189" name="Paragraph 2"/>
          <p:cNvSpPr txBox="1"/>
          <p:nvPr/>
        </p:nvSpPr>
        <p:spPr>
          <a:xfrm>
            <a:off x="2485671" y="2182414"/>
            <a:ext cx="3823552"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Machine learning models optimize test case selection and deployment strategies, minimizing downtime and failures.</a:t>
            </a:r>
          </a:p>
        </p:txBody>
      </p:sp>
      <p:sp>
        <p:nvSpPr>
          <p:cNvPr id="190" name="Subtitle 3"/>
          <p:cNvSpPr txBox="1"/>
          <p:nvPr/>
        </p:nvSpPr>
        <p:spPr>
          <a:xfrm>
            <a:off x="453199" y="3519131"/>
            <a:ext cx="269129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Monitor &amp; Operate</a:t>
            </a:r>
          </a:p>
        </p:txBody>
      </p:sp>
      <p:sp>
        <p:nvSpPr>
          <p:cNvPr id="191" name="Paragraph 3"/>
          <p:cNvSpPr txBox="1"/>
          <p:nvPr/>
        </p:nvSpPr>
        <p:spPr>
          <a:xfrm>
            <a:off x="2485671" y="3266455"/>
            <a:ext cx="400296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Real-time anomaly detection and predictive analytics enable proactive issue resolution and smart alerting systems.</a:t>
            </a:r>
          </a:p>
        </p:txBody>
      </p:sp>
      <p:pic>
        <p:nvPicPr>
          <p:cNvPr id="192" name="Image" descr="Image"/>
          <p:cNvPicPr>
            <a:picLocks noChangeAspect="1"/>
          </p:cNvPicPr>
          <p:nvPr/>
        </p:nvPicPr>
        <p:blipFill>
          <a:blip r:embed="rId2">
            <a:extLst/>
          </a:blip>
          <a:stretch>
            <a:fillRect/>
          </a:stretch>
        </p:blipFill>
        <p:spPr>
          <a:xfrm>
            <a:off x="6603848" y="1381189"/>
            <a:ext cx="1949028" cy="1949028"/>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195"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196"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197" name="Title"/>
          <p:cNvSpPr txBox="1"/>
          <p:nvPr/>
        </p:nvSpPr>
        <p:spPr>
          <a:xfrm>
            <a:off x="1024486" y="548400"/>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Benefits of AI in DevOps</a:t>
            </a:r>
          </a:p>
        </p:txBody>
      </p:sp>
      <p:sp>
        <p:nvSpPr>
          <p:cNvPr id="198" name="StaticPath"/>
          <p:cNvSpPr/>
          <p:nvPr/>
        </p:nvSpPr>
        <p:spPr>
          <a:xfrm>
            <a:off x="601053" y="1544074"/>
            <a:ext cx="157164" cy="157164"/>
          </a:xfrm>
          <a:prstGeom prst="rect">
            <a:avLst/>
          </a:prstGeom>
          <a:solidFill>
            <a:srgbClr val="3F51B5"/>
          </a:solidFill>
          <a:ln w="12700">
            <a:miter lim="400000"/>
          </a:ln>
        </p:spPr>
        <p:txBody>
          <a:bodyPr lIns="45719" rIns="45719"/>
          <a:lstStyle/>
          <a:p>
            <a:pPr/>
          </a:p>
        </p:txBody>
      </p:sp>
      <p:sp>
        <p:nvSpPr>
          <p:cNvPr id="199" name="Subtitle 1"/>
          <p:cNvSpPr txBox="1"/>
          <p:nvPr/>
        </p:nvSpPr>
        <p:spPr>
          <a:xfrm>
            <a:off x="930094" y="1499489"/>
            <a:ext cx="2678574"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Faster Deployments</a:t>
            </a:r>
          </a:p>
        </p:txBody>
      </p:sp>
      <p:sp>
        <p:nvSpPr>
          <p:cNvPr id="200" name="Paragraph 1"/>
          <p:cNvSpPr txBox="1"/>
          <p:nvPr/>
        </p:nvSpPr>
        <p:spPr>
          <a:xfrm>
            <a:off x="3523678" y="1275095"/>
            <a:ext cx="3303074"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can automate repetitive processes and decision points, helping teams push changes to production more frequently and safely.</a:t>
            </a:r>
          </a:p>
        </p:txBody>
      </p:sp>
      <p:sp>
        <p:nvSpPr>
          <p:cNvPr id="201" name="StaticPath"/>
          <p:cNvSpPr/>
          <p:nvPr/>
        </p:nvSpPr>
        <p:spPr>
          <a:xfrm>
            <a:off x="571192" y="2541676"/>
            <a:ext cx="157164" cy="157164"/>
          </a:xfrm>
          <a:prstGeom prst="rect">
            <a:avLst/>
          </a:prstGeom>
          <a:solidFill>
            <a:srgbClr val="3F51B5"/>
          </a:solidFill>
          <a:ln w="12700">
            <a:miter lim="400000"/>
          </a:ln>
        </p:spPr>
        <p:txBody>
          <a:bodyPr lIns="45719" rIns="45719"/>
          <a:lstStyle/>
          <a:p>
            <a:pPr/>
          </a:p>
        </p:txBody>
      </p:sp>
      <p:sp>
        <p:nvSpPr>
          <p:cNvPr id="202" name="Subtitle 2"/>
          <p:cNvSpPr txBox="1"/>
          <p:nvPr/>
        </p:nvSpPr>
        <p:spPr>
          <a:xfrm>
            <a:off x="917379" y="2497091"/>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Improved Stability</a:t>
            </a:r>
          </a:p>
        </p:txBody>
      </p:sp>
      <p:sp>
        <p:nvSpPr>
          <p:cNvPr id="203" name="Paragraph 2"/>
          <p:cNvSpPr txBox="1"/>
          <p:nvPr/>
        </p:nvSpPr>
        <p:spPr>
          <a:xfrm>
            <a:off x="3589412" y="2300241"/>
            <a:ext cx="3171605"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With real-time monitoring and learning-based alerting, systems can react to problems before they affect users.</a:t>
            </a:r>
          </a:p>
        </p:txBody>
      </p:sp>
      <p:sp>
        <p:nvSpPr>
          <p:cNvPr id="204" name="StaticPath"/>
          <p:cNvSpPr/>
          <p:nvPr/>
        </p:nvSpPr>
        <p:spPr>
          <a:xfrm>
            <a:off x="556333" y="3633811"/>
            <a:ext cx="157164" cy="157164"/>
          </a:xfrm>
          <a:prstGeom prst="rect">
            <a:avLst/>
          </a:prstGeom>
          <a:solidFill>
            <a:srgbClr val="3F51B5"/>
          </a:solidFill>
          <a:ln w="12700">
            <a:miter lim="400000"/>
          </a:ln>
        </p:spPr>
        <p:txBody>
          <a:bodyPr lIns="45719" rIns="45719"/>
          <a:lstStyle/>
          <a:p>
            <a:pPr/>
          </a:p>
        </p:txBody>
      </p:sp>
      <p:sp>
        <p:nvSpPr>
          <p:cNvPr id="205" name="Subtitle 3"/>
          <p:cNvSpPr txBox="1"/>
          <p:nvPr/>
        </p:nvSpPr>
        <p:spPr>
          <a:xfrm>
            <a:off x="917378" y="3698335"/>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Smarter Resource Allocation</a:t>
            </a:r>
          </a:p>
        </p:txBody>
      </p:sp>
      <p:sp>
        <p:nvSpPr>
          <p:cNvPr id="206" name="Paragraph 3"/>
          <p:cNvSpPr txBox="1"/>
          <p:nvPr/>
        </p:nvSpPr>
        <p:spPr>
          <a:xfrm>
            <a:off x="3589412" y="3501485"/>
            <a:ext cx="3354993"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AI-driven insights guide teams on how to optimize cloud usage, manage pipelines, and allocate developer attention effectively.</a:t>
            </a:r>
          </a:p>
        </p:txBody>
      </p:sp>
      <p:pic>
        <p:nvPicPr>
          <p:cNvPr id="207" name="Image" descr="Image"/>
          <p:cNvPicPr>
            <a:picLocks noChangeAspect="1"/>
          </p:cNvPicPr>
          <p:nvPr/>
        </p:nvPicPr>
        <p:blipFill>
          <a:blip r:embed="rId2">
            <a:extLst/>
          </a:blip>
          <a:stretch>
            <a:fillRect/>
          </a:stretch>
        </p:blipFill>
        <p:spPr>
          <a:xfrm>
            <a:off x="6855343" y="1630936"/>
            <a:ext cx="1881628" cy="1881628"/>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9"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210"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211"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212" name="Title"/>
          <p:cNvSpPr txBox="1"/>
          <p:nvPr/>
        </p:nvSpPr>
        <p:spPr>
          <a:xfrm>
            <a:off x="895302" y="598583"/>
            <a:ext cx="6121814"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latin typeface="OpenSans-Regular"/>
                <a:ea typeface="OpenSans-Regular"/>
                <a:cs typeface="OpenSans-Regular"/>
                <a:sym typeface="OpenSans-Regular"/>
              </a:defRPr>
            </a:lvl1pPr>
          </a:lstStyle>
          <a:p>
            <a:pPr/>
            <a:r>
              <a:t>Challenges of Integrating AI in DevOps</a:t>
            </a:r>
          </a:p>
        </p:txBody>
      </p:sp>
      <p:sp>
        <p:nvSpPr>
          <p:cNvPr id="213" name="StaticPath"/>
          <p:cNvSpPr/>
          <p:nvPr/>
        </p:nvSpPr>
        <p:spPr>
          <a:xfrm>
            <a:off x="497341" y="1449004"/>
            <a:ext cx="157164" cy="157164"/>
          </a:xfrm>
          <a:prstGeom prst="rect">
            <a:avLst/>
          </a:prstGeom>
          <a:solidFill>
            <a:srgbClr val="3F51B5"/>
          </a:solidFill>
          <a:ln w="12700">
            <a:miter lim="400000"/>
          </a:ln>
        </p:spPr>
        <p:txBody>
          <a:bodyPr lIns="45719" rIns="45719"/>
          <a:lstStyle/>
          <a:p>
            <a:pPr/>
          </a:p>
        </p:txBody>
      </p:sp>
      <p:sp>
        <p:nvSpPr>
          <p:cNvPr id="214" name="Subtitle 1"/>
          <p:cNvSpPr txBox="1"/>
          <p:nvPr/>
        </p:nvSpPr>
        <p:spPr>
          <a:xfrm>
            <a:off x="826381" y="1410769"/>
            <a:ext cx="2678575"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Data Quality and Availability</a:t>
            </a:r>
          </a:p>
        </p:txBody>
      </p:sp>
      <p:sp>
        <p:nvSpPr>
          <p:cNvPr id="215" name="Paragraph 1"/>
          <p:cNvSpPr txBox="1"/>
          <p:nvPr/>
        </p:nvSpPr>
        <p:spPr>
          <a:xfrm>
            <a:off x="3221183" y="1328593"/>
            <a:ext cx="3633522"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Effective AI models need high-quality, labeled data, which may be hard to obtain or organize in DevOps environments.</a:t>
            </a:r>
          </a:p>
        </p:txBody>
      </p:sp>
      <p:sp>
        <p:nvSpPr>
          <p:cNvPr id="216" name="StaticPath"/>
          <p:cNvSpPr/>
          <p:nvPr/>
        </p:nvSpPr>
        <p:spPr>
          <a:xfrm>
            <a:off x="467480" y="2446606"/>
            <a:ext cx="157164" cy="157164"/>
          </a:xfrm>
          <a:prstGeom prst="rect">
            <a:avLst/>
          </a:prstGeom>
          <a:solidFill>
            <a:srgbClr val="3F51B5"/>
          </a:solidFill>
          <a:ln w="12700">
            <a:miter lim="400000"/>
          </a:ln>
        </p:spPr>
        <p:txBody>
          <a:bodyPr lIns="45719" rIns="45719"/>
          <a:lstStyle/>
          <a:p>
            <a:pPr/>
          </a:p>
        </p:txBody>
      </p:sp>
      <p:sp>
        <p:nvSpPr>
          <p:cNvPr id="217" name="Subtitle 2"/>
          <p:cNvSpPr txBox="1"/>
          <p:nvPr/>
        </p:nvSpPr>
        <p:spPr>
          <a:xfrm>
            <a:off x="813667" y="2408371"/>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Model Transparency</a:t>
            </a:r>
          </a:p>
        </p:txBody>
      </p:sp>
      <p:sp>
        <p:nvSpPr>
          <p:cNvPr id="218" name="Paragraph 2"/>
          <p:cNvSpPr txBox="1"/>
          <p:nvPr/>
        </p:nvSpPr>
        <p:spPr>
          <a:xfrm>
            <a:off x="3209132" y="2373103"/>
            <a:ext cx="3657623"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DevOps teams may face trust issues due to the black-box nature of some AI algorithms, especially in critical systems.</a:t>
            </a:r>
          </a:p>
        </p:txBody>
      </p:sp>
      <p:sp>
        <p:nvSpPr>
          <p:cNvPr id="219" name="StaticPath"/>
          <p:cNvSpPr/>
          <p:nvPr/>
        </p:nvSpPr>
        <p:spPr>
          <a:xfrm>
            <a:off x="452621" y="3538741"/>
            <a:ext cx="157164" cy="157164"/>
          </a:xfrm>
          <a:prstGeom prst="rect">
            <a:avLst/>
          </a:prstGeom>
          <a:solidFill>
            <a:srgbClr val="3F51B5"/>
          </a:solidFill>
          <a:ln w="12700">
            <a:miter lim="400000"/>
          </a:ln>
        </p:spPr>
        <p:txBody>
          <a:bodyPr lIns="45719" rIns="45719"/>
          <a:lstStyle/>
          <a:p>
            <a:pPr/>
          </a:p>
        </p:txBody>
      </p:sp>
      <p:sp>
        <p:nvSpPr>
          <p:cNvPr id="220" name="Subtitle 3"/>
          <p:cNvSpPr txBox="1"/>
          <p:nvPr/>
        </p:nvSpPr>
        <p:spPr>
          <a:xfrm>
            <a:off x="813666" y="3609615"/>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Skill Gap and Tooling</a:t>
            </a:r>
          </a:p>
        </p:txBody>
      </p:sp>
      <p:sp>
        <p:nvSpPr>
          <p:cNvPr id="221" name="Paragraph 3"/>
          <p:cNvSpPr txBox="1"/>
          <p:nvPr/>
        </p:nvSpPr>
        <p:spPr>
          <a:xfrm>
            <a:off x="3217775" y="3583256"/>
            <a:ext cx="3640338"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Bringing AI into DevOps workflows requires new skillsets, proper integration tools, and cultural readiness across teams.</a:t>
            </a:r>
          </a:p>
        </p:txBody>
      </p:sp>
      <p:pic>
        <p:nvPicPr>
          <p:cNvPr id="222" name="Image" descr="Image"/>
          <p:cNvPicPr>
            <a:picLocks noChangeAspect="1"/>
          </p:cNvPicPr>
          <p:nvPr/>
        </p:nvPicPr>
        <p:blipFill>
          <a:blip r:embed="rId2">
            <a:extLst/>
          </a:blip>
          <a:stretch>
            <a:fillRect/>
          </a:stretch>
        </p:blipFill>
        <p:spPr>
          <a:xfrm>
            <a:off x="6905533" y="1775359"/>
            <a:ext cx="1896529" cy="1896529"/>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225"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226"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227" name="Title"/>
          <p:cNvSpPr txBox="1"/>
          <p:nvPr/>
        </p:nvSpPr>
        <p:spPr>
          <a:xfrm>
            <a:off x="895302" y="598583"/>
            <a:ext cx="6121814"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latin typeface="OpenSans-Regular"/>
                <a:ea typeface="OpenSans-Regular"/>
                <a:cs typeface="OpenSans-Regular"/>
                <a:sym typeface="OpenSans-Regular"/>
              </a:defRPr>
            </a:lvl1pPr>
          </a:lstStyle>
          <a:p>
            <a:pPr/>
            <a:r>
              <a:t>Challenges of Integrating AI in DevOps</a:t>
            </a:r>
          </a:p>
        </p:txBody>
      </p:sp>
      <p:sp>
        <p:nvSpPr>
          <p:cNvPr id="228" name="StaticPath"/>
          <p:cNvSpPr/>
          <p:nvPr/>
        </p:nvSpPr>
        <p:spPr>
          <a:xfrm>
            <a:off x="497341" y="1449004"/>
            <a:ext cx="157164" cy="157164"/>
          </a:xfrm>
          <a:prstGeom prst="rect">
            <a:avLst/>
          </a:prstGeom>
          <a:solidFill>
            <a:srgbClr val="3F51B5"/>
          </a:solidFill>
          <a:ln w="12700">
            <a:miter lim="400000"/>
          </a:ln>
        </p:spPr>
        <p:txBody>
          <a:bodyPr lIns="45719" rIns="45719"/>
          <a:lstStyle/>
          <a:p>
            <a:pPr/>
          </a:p>
        </p:txBody>
      </p:sp>
      <p:sp>
        <p:nvSpPr>
          <p:cNvPr id="229" name="Subtitle 1"/>
          <p:cNvSpPr txBox="1"/>
          <p:nvPr/>
        </p:nvSpPr>
        <p:spPr>
          <a:xfrm>
            <a:off x="826381" y="1410769"/>
            <a:ext cx="2678575"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Data Quality and Availability</a:t>
            </a:r>
          </a:p>
        </p:txBody>
      </p:sp>
      <p:sp>
        <p:nvSpPr>
          <p:cNvPr id="230" name="Paragraph 1"/>
          <p:cNvSpPr txBox="1"/>
          <p:nvPr/>
        </p:nvSpPr>
        <p:spPr>
          <a:xfrm>
            <a:off x="3221183" y="1328593"/>
            <a:ext cx="3633522"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Effective AI models need high-quality, labeled data, which may be hard to obtain or organize in DevOps environments.</a:t>
            </a:r>
          </a:p>
        </p:txBody>
      </p:sp>
      <p:sp>
        <p:nvSpPr>
          <p:cNvPr id="231" name="StaticPath"/>
          <p:cNvSpPr/>
          <p:nvPr/>
        </p:nvSpPr>
        <p:spPr>
          <a:xfrm>
            <a:off x="467480" y="2446606"/>
            <a:ext cx="157164" cy="157164"/>
          </a:xfrm>
          <a:prstGeom prst="rect">
            <a:avLst/>
          </a:prstGeom>
          <a:solidFill>
            <a:srgbClr val="3F51B5"/>
          </a:solidFill>
          <a:ln w="12700">
            <a:miter lim="400000"/>
          </a:ln>
        </p:spPr>
        <p:txBody>
          <a:bodyPr lIns="45719" rIns="45719"/>
          <a:lstStyle/>
          <a:p>
            <a:pPr/>
          </a:p>
        </p:txBody>
      </p:sp>
      <p:sp>
        <p:nvSpPr>
          <p:cNvPr id="232" name="Subtitle 2"/>
          <p:cNvSpPr txBox="1"/>
          <p:nvPr/>
        </p:nvSpPr>
        <p:spPr>
          <a:xfrm>
            <a:off x="813667" y="2408371"/>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Model Transparency</a:t>
            </a:r>
          </a:p>
        </p:txBody>
      </p:sp>
      <p:sp>
        <p:nvSpPr>
          <p:cNvPr id="233" name="Paragraph 2"/>
          <p:cNvSpPr txBox="1"/>
          <p:nvPr/>
        </p:nvSpPr>
        <p:spPr>
          <a:xfrm>
            <a:off x="3209132" y="2373103"/>
            <a:ext cx="3657623"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DevOps teams may face trust issues due to the black-box nature of some AI algorithms, especially in critical systems.</a:t>
            </a:r>
          </a:p>
        </p:txBody>
      </p:sp>
      <p:sp>
        <p:nvSpPr>
          <p:cNvPr id="234" name="StaticPath"/>
          <p:cNvSpPr/>
          <p:nvPr/>
        </p:nvSpPr>
        <p:spPr>
          <a:xfrm>
            <a:off x="452621" y="3538741"/>
            <a:ext cx="157164" cy="157164"/>
          </a:xfrm>
          <a:prstGeom prst="rect">
            <a:avLst/>
          </a:prstGeom>
          <a:solidFill>
            <a:srgbClr val="3F51B5"/>
          </a:solidFill>
          <a:ln w="12700">
            <a:miter lim="400000"/>
          </a:ln>
        </p:spPr>
        <p:txBody>
          <a:bodyPr lIns="45719" rIns="45719"/>
          <a:lstStyle/>
          <a:p>
            <a:pPr/>
          </a:p>
        </p:txBody>
      </p:sp>
      <p:sp>
        <p:nvSpPr>
          <p:cNvPr id="235" name="Subtitle 3"/>
          <p:cNvSpPr txBox="1"/>
          <p:nvPr/>
        </p:nvSpPr>
        <p:spPr>
          <a:xfrm>
            <a:off x="813666" y="3609615"/>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Skill Gap and Tooling</a:t>
            </a:r>
          </a:p>
        </p:txBody>
      </p:sp>
      <p:sp>
        <p:nvSpPr>
          <p:cNvPr id="236" name="Paragraph 3"/>
          <p:cNvSpPr txBox="1"/>
          <p:nvPr/>
        </p:nvSpPr>
        <p:spPr>
          <a:xfrm>
            <a:off x="3217775" y="3583256"/>
            <a:ext cx="3640338"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Bringing AI into DevOps workflows requires new skillsets, proper integration tools, and cultural readiness across teams.</a:t>
            </a:r>
          </a:p>
        </p:txBody>
      </p:sp>
      <p:pic>
        <p:nvPicPr>
          <p:cNvPr id="237" name="Image" descr="Image"/>
          <p:cNvPicPr>
            <a:picLocks noChangeAspect="1"/>
          </p:cNvPicPr>
          <p:nvPr/>
        </p:nvPicPr>
        <p:blipFill>
          <a:blip r:embed="rId2">
            <a:extLst/>
          </a:blip>
          <a:stretch>
            <a:fillRect/>
          </a:stretch>
        </p:blipFill>
        <p:spPr>
          <a:xfrm>
            <a:off x="6905533" y="1775359"/>
            <a:ext cx="1896529" cy="1896529"/>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9"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240" name="Title"/>
          <p:cNvSpPr txBox="1"/>
          <p:nvPr/>
        </p:nvSpPr>
        <p:spPr>
          <a:xfrm>
            <a:off x="1236344" y="457517"/>
            <a:ext cx="5623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333333"/>
                </a:solidFill>
                <a:latin typeface="OpenSans-Bold"/>
                <a:ea typeface="OpenSans-Bold"/>
                <a:cs typeface="OpenSans-Bold"/>
                <a:sym typeface="OpenSans-Bold"/>
              </a:defRPr>
            </a:lvl1pPr>
          </a:lstStyle>
          <a:p>
            <a:pPr/>
            <a:r>
              <a:t>Scalability Challenges in DevOps</a:t>
            </a:r>
          </a:p>
        </p:txBody>
      </p:sp>
      <p:sp>
        <p:nvSpPr>
          <p:cNvPr id="241" name="Subtitle 1"/>
          <p:cNvSpPr txBox="1"/>
          <p:nvPr/>
        </p:nvSpPr>
        <p:spPr>
          <a:xfrm>
            <a:off x="742809" y="1146339"/>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Growing Infrastructure</a:t>
            </a:r>
          </a:p>
        </p:txBody>
      </p:sp>
      <p:sp>
        <p:nvSpPr>
          <p:cNvPr id="242" name="Paragraph 1"/>
          <p:cNvSpPr txBox="1"/>
          <p:nvPr/>
        </p:nvSpPr>
        <p:spPr>
          <a:xfrm>
            <a:off x="742809" y="14320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Modern architectures like microservices and containers increase the complexity of managing environments at scale.</a:t>
            </a:r>
          </a:p>
        </p:txBody>
      </p:sp>
      <p:sp>
        <p:nvSpPr>
          <p:cNvPr id="243" name="Subtitle 2"/>
          <p:cNvSpPr txBox="1"/>
          <p:nvPr/>
        </p:nvSpPr>
        <p:spPr>
          <a:xfrm>
            <a:off x="742809" y="2479839"/>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Human Limitation</a:t>
            </a:r>
          </a:p>
        </p:txBody>
      </p:sp>
      <p:sp>
        <p:nvSpPr>
          <p:cNvPr id="244" name="Paragraph 2"/>
          <p:cNvSpPr txBox="1"/>
          <p:nvPr/>
        </p:nvSpPr>
        <p:spPr>
          <a:xfrm>
            <a:off x="742809" y="27655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Manual oversight struggles to keep up with real-time monitoring and dynamic scaling requirements.</a:t>
            </a:r>
          </a:p>
        </p:txBody>
      </p:sp>
      <p:sp>
        <p:nvSpPr>
          <p:cNvPr id="245" name="Subtitle 3"/>
          <p:cNvSpPr txBox="1"/>
          <p:nvPr/>
        </p:nvSpPr>
        <p:spPr>
          <a:xfrm>
            <a:off x="742809" y="3575214"/>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AI to the Rescue</a:t>
            </a:r>
          </a:p>
        </p:txBody>
      </p:sp>
      <p:sp>
        <p:nvSpPr>
          <p:cNvPr id="246" name="Paragraph 3"/>
          <p:cNvSpPr txBox="1"/>
          <p:nvPr/>
        </p:nvSpPr>
        <p:spPr>
          <a:xfrm>
            <a:off x="742809" y="3860964"/>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assists by automating responses and detecting patterns across massive datasets.</a:t>
            </a:r>
          </a:p>
        </p:txBody>
      </p:sp>
      <p:pic>
        <p:nvPicPr>
          <p:cNvPr id="247"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248"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249"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1"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252" name="Title"/>
          <p:cNvSpPr txBox="1"/>
          <p:nvPr/>
        </p:nvSpPr>
        <p:spPr>
          <a:xfrm>
            <a:off x="1236344" y="457517"/>
            <a:ext cx="5623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333333"/>
                </a:solidFill>
                <a:latin typeface="OpenSans-Bold"/>
                <a:ea typeface="OpenSans-Bold"/>
                <a:cs typeface="OpenSans-Bold"/>
                <a:sym typeface="OpenSans-Bold"/>
              </a:defRPr>
            </a:lvl1pPr>
          </a:lstStyle>
          <a:p>
            <a:pPr/>
            <a:r>
              <a:t>Monitoring and Incident Response</a:t>
            </a:r>
          </a:p>
        </p:txBody>
      </p:sp>
      <p:sp>
        <p:nvSpPr>
          <p:cNvPr id="253" name="Subtitle 1"/>
          <p:cNvSpPr txBox="1"/>
          <p:nvPr/>
        </p:nvSpPr>
        <p:spPr>
          <a:xfrm>
            <a:off x="708238" y="1178617"/>
            <a:ext cx="514731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Traditional Monitoring</a:t>
            </a:r>
          </a:p>
        </p:txBody>
      </p:sp>
      <p:sp>
        <p:nvSpPr>
          <p:cNvPr id="254" name="Paragraph 1"/>
          <p:cNvSpPr txBox="1"/>
          <p:nvPr/>
        </p:nvSpPr>
        <p:spPr>
          <a:xfrm>
            <a:off x="708238" y="145801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Relies heavily on pre-defined rules and manual analysis, which often leads to alert fatigue.</a:t>
            </a:r>
          </a:p>
        </p:txBody>
      </p:sp>
      <p:sp>
        <p:nvSpPr>
          <p:cNvPr id="255" name="Subtitle 2"/>
          <p:cNvSpPr txBox="1"/>
          <p:nvPr/>
        </p:nvSpPr>
        <p:spPr>
          <a:xfrm>
            <a:off x="708238" y="2512117"/>
            <a:ext cx="514731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Challenges in Incident Triage</a:t>
            </a:r>
          </a:p>
        </p:txBody>
      </p:sp>
      <p:sp>
        <p:nvSpPr>
          <p:cNvPr id="256" name="Paragraph 2"/>
          <p:cNvSpPr txBox="1"/>
          <p:nvPr/>
        </p:nvSpPr>
        <p:spPr>
          <a:xfrm>
            <a:off x="708238" y="279151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Teams face delays in identifying root causes and prioritizing the right issues to fix.</a:t>
            </a:r>
          </a:p>
        </p:txBody>
      </p:sp>
      <p:sp>
        <p:nvSpPr>
          <p:cNvPr id="257" name="Subtitle 3"/>
          <p:cNvSpPr txBox="1"/>
          <p:nvPr/>
        </p:nvSpPr>
        <p:spPr>
          <a:xfrm>
            <a:off x="708238" y="3607492"/>
            <a:ext cx="514731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AI-Augmented Solutions</a:t>
            </a:r>
          </a:p>
        </p:txBody>
      </p:sp>
      <p:sp>
        <p:nvSpPr>
          <p:cNvPr id="258" name="Paragraph 3"/>
          <p:cNvSpPr txBox="1"/>
          <p:nvPr/>
        </p:nvSpPr>
        <p:spPr>
          <a:xfrm>
            <a:off x="708238" y="3886892"/>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Machine learning models detect anomalies early, group related alerts, and recommend fixes.</a:t>
            </a:r>
          </a:p>
        </p:txBody>
      </p:sp>
      <p:pic>
        <p:nvPicPr>
          <p:cNvPr id="259"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260"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261"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3"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264" name="Title"/>
          <p:cNvSpPr txBox="1"/>
          <p:nvPr/>
        </p:nvSpPr>
        <p:spPr>
          <a:xfrm>
            <a:off x="1236344" y="457517"/>
            <a:ext cx="5623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333333"/>
                </a:solidFill>
                <a:latin typeface="OpenSans-Bold"/>
                <a:ea typeface="OpenSans-Bold"/>
                <a:cs typeface="OpenSans-Bold"/>
                <a:sym typeface="OpenSans-Bold"/>
              </a:defRPr>
            </a:lvl1pPr>
          </a:lstStyle>
          <a:p>
            <a:pPr/>
            <a:r>
              <a:t>Toolchain Complexity in DevOps</a:t>
            </a:r>
          </a:p>
        </p:txBody>
      </p:sp>
      <p:sp>
        <p:nvSpPr>
          <p:cNvPr id="265" name="Subtitle 1"/>
          <p:cNvSpPr txBox="1"/>
          <p:nvPr/>
        </p:nvSpPr>
        <p:spPr>
          <a:xfrm>
            <a:off x="803308" y="1154982"/>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Too Many Tools</a:t>
            </a:r>
          </a:p>
        </p:txBody>
      </p:sp>
      <p:sp>
        <p:nvSpPr>
          <p:cNvPr id="266" name="Paragraph 1"/>
          <p:cNvSpPr txBox="1"/>
          <p:nvPr/>
        </p:nvSpPr>
        <p:spPr>
          <a:xfrm>
            <a:off x="803308" y="1440732"/>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Modern DevOps stacks include a mix of CI/CD, monitoring, infrastructure, and collaboration tools.</a:t>
            </a:r>
          </a:p>
        </p:txBody>
      </p:sp>
      <p:sp>
        <p:nvSpPr>
          <p:cNvPr id="267" name="Subtitle 2"/>
          <p:cNvSpPr txBox="1"/>
          <p:nvPr/>
        </p:nvSpPr>
        <p:spPr>
          <a:xfrm>
            <a:off x="803308" y="2488482"/>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Integration Fatigue</a:t>
            </a:r>
          </a:p>
        </p:txBody>
      </p:sp>
      <p:sp>
        <p:nvSpPr>
          <p:cNvPr id="268" name="Paragraph 2"/>
          <p:cNvSpPr txBox="1"/>
          <p:nvPr/>
        </p:nvSpPr>
        <p:spPr>
          <a:xfrm>
            <a:off x="803308" y="2774232"/>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Connecting and managing toolchains requires effort and introduces potential failure points.</a:t>
            </a:r>
          </a:p>
        </p:txBody>
      </p:sp>
      <p:sp>
        <p:nvSpPr>
          <p:cNvPr id="269" name="Subtitle 3"/>
          <p:cNvSpPr txBox="1"/>
          <p:nvPr/>
        </p:nvSpPr>
        <p:spPr>
          <a:xfrm>
            <a:off x="803308" y="3583857"/>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AI Integration Advantage</a:t>
            </a:r>
          </a:p>
        </p:txBody>
      </p:sp>
      <p:sp>
        <p:nvSpPr>
          <p:cNvPr id="270" name="Paragraph 3"/>
          <p:cNvSpPr txBox="1"/>
          <p:nvPr/>
        </p:nvSpPr>
        <p:spPr>
          <a:xfrm>
            <a:off x="803308" y="386960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can unify and make sense of data from across the toolchain, enhancing decision-making.</a:t>
            </a:r>
          </a:p>
        </p:txBody>
      </p:sp>
      <p:pic>
        <p:nvPicPr>
          <p:cNvPr id="271"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272"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273"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5"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276" name="Title"/>
          <p:cNvSpPr txBox="1"/>
          <p:nvPr/>
        </p:nvSpPr>
        <p:spPr>
          <a:xfrm>
            <a:off x="1236344" y="457517"/>
            <a:ext cx="5623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333333"/>
                </a:solidFill>
                <a:latin typeface="OpenSans-Bold"/>
                <a:ea typeface="OpenSans-Bold"/>
                <a:cs typeface="OpenSans-Bold"/>
                <a:sym typeface="OpenSans-Bold"/>
              </a:defRPr>
            </a:lvl1pPr>
          </a:lstStyle>
          <a:p>
            <a:pPr/>
            <a:r>
              <a:t>Traditional Automation in DevOps</a:t>
            </a:r>
          </a:p>
        </p:txBody>
      </p:sp>
      <p:sp>
        <p:nvSpPr>
          <p:cNvPr id="277" name="Subtitle 1"/>
          <p:cNvSpPr txBox="1"/>
          <p:nvPr/>
        </p:nvSpPr>
        <p:spPr>
          <a:xfrm>
            <a:off x="725524" y="1165917"/>
            <a:ext cx="514731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Scripted Workflows</a:t>
            </a:r>
          </a:p>
        </p:txBody>
      </p:sp>
      <p:sp>
        <p:nvSpPr>
          <p:cNvPr id="278" name="Paragraph 1"/>
          <p:cNvSpPr txBox="1"/>
          <p:nvPr/>
        </p:nvSpPr>
        <p:spPr>
          <a:xfrm>
            <a:off x="725524" y="145801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Classic DevOps automation relies on scripts and tools configured for specific tasks like deployment or testing.</a:t>
            </a:r>
          </a:p>
        </p:txBody>
      </p:sp>
      <p:sp>
        <p:nvSpPr>
          <p:cNvPr id="279" name="Subtitle 2"/>
          <p:cNvSpPr txBox="1"/>
          <p:nvPr/>
        </p:nvSpPr>
        <p:spPr>
          <a:xfrm>
            <a:off x="725524" y="2499417"/>
            <a:ext cx="514731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Benefits</a:t>
            </a:r>
          </a:p>
        </p:txBody>
      </p:sp>
      <p:sp>
        <p:nvSpPr>
          <p:cNvPr id="280" name="Paragraph 2"/>
          <p:cNvSpPr txBox="1"/>
          <p:nvPr/>
        </p:nvSpPr>
        <p:spPr>
          <a:xfrm>
            <a:off x="725524" y="2893117"/>
            <a:ext cx="514731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It increases speed and reduces manual error but lacks adaptability.</a:t>
            </a:r>
          </a:p>
        </p:txBody>
      </p:sp>
      <p:sp>
        <p:nvSpPr>
          <p:cNvPr id="281" name="Subtitle 3"/>
          <p:cNvSpPr txBox="1"/>
          <p:nvPr/>
        </p:nvSpPr>
        <p:spPr>
          <a:xfrm>
            <a:off x="725524" y="3594792"/>
            <a:ext cx="514731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Limitations</a:t>
            </a:r>
          </a:p>
        </p:txBody>
      </p:sp>
      <p:sp>
        <p:nvSpPr>
          <p:cNvPr id="282" name="Paragraph 3"/>
          <p:cNvSpPr txBox="1"/>
          <p:nvPr/>
        </p:nvSpPr>
        <p:spPr>
          <a:xfrm>
            <a:off x="725524" y="3886892"/>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Static rules can't handle unexpected events, making them reactive rather than proactive.</a:t>
            </a:r>
          </a:p>
        </p:txBody>
      </p:sp>
      <p:pic>
        <p:nvPicPr>
          <p:cNvPr id="283"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284"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285"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288"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AI-Driven DevOps</a:t>
            </a:r>
          </a:p>
        </p:txBody>
      </p:sp>
      <p:sp>
        <p:nvSpPr>
          <p:cNvPr id="289" name="Subtitle 1"/>
          <p:cNvSpPr txBox="1"/>
          <p:nvPr/>
        </p:nvSpPr>
        <p:spPr>
          <a:xfrm>
            <a:off x="760094" y="1111768"/>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Proactive Intelligence</a:t>
            </a:r>
          </a:p>
        </p:txBody>
      </p:sp>
      <p:sp>
        <p:nvSpPr>
          <p:cNvPr id="290" name="Paragraph 1"/>
          <p:cNvSpPr txBox="1"/>
          <p:nvPr/>
        </p:nvSpPr>
        <p:spPr>
          <a:xfrm>
            <a:off x="760094" y="1397518"/>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can analyze patterns, predict incidents, and recommend preventive actions before users are impacted.</a:t>
            </a:r>
          </a:p>
        </p:txBody>
      </p:sp>
      <p:sp>
        <p:nvSpPr>
          <p:cNvPr id="291" name="Subtitle 2"/>
          <p:cNvSpPr txBox="1"/>
          <p:nvPr/>
        </p:nvSpPr>
        <p:spPr>
          <a:xfrm>
            <a:off x="760094" y="2445268"/>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Smart Decision-Making</a:t>
            </a:r>
          </a:p>
        </p:txBody>
      </p:sp>
      <p:sp>
        <p:nvSpPr>
          <p:cNvPr id="292" name="Paragraph 2"/>
          <p:cNvSpPr txBox="1"/>
          <p:nvPr/>
        </p:nvSpPr>
        <p:spPr>
          <a:xfrm>
            <a:off x="760094" y="2731018"/>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Machine learning models help prioritize alerts, assign tasks, and optimize workflows in real-time.</a:t>
            </a:r>
          </a:p>
        </p:txBody>
      </p:sp>
      <p:sp>
        <p:nvSpPr>
          <p:cNvPr id="293" name="Subtitle 3"/>
          <p:cNvSpPr txBox="1"/>
          <p:nvPr/>
        </p:nvSpPr>
        <p:spPr>
          <a:xfrm>
            <a:off x="760094" y="3540643"/>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Key Difference</a:t>
            </a:r>
          </a:p>
        </p:txBody>
      </p:sp>
      <p:sp>
        <p:nvSpPr>
          <p:cNvPr id="294" name="Paragraph 3"/>
          <p:cNvSpPr txBox="1"/>
          <p:nvPr/>
        </p:nvSpPr>
        <p:spPr>
          <a:xfrm>
            <a:off x="760094" y="3826393"/>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Unlike static automation, AI evolves and adapts over time, improving efficiency and reliability.</a:t>
            </a:r>
          </a:p>
        </p:txBody>
      </p:sp>
      <p:pic>
        <p:nvPicPr>
          <p:cNvPr id="295"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296"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297"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9"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00"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Understanding AIOps</a:t>
            </a:r>
          </a:p>
        </p:txBody>
      </p:sp>
      <p:sp>
        <p:nvSpPr>
          <p:cNvPr id="301" name="Subtitle 1"/>
          <p:cNvSpPr txBox="1"/>
          <p:nvPr/>
        </p:nvSpPr>
        <p:spPr>
          <a:xfrm>
            <a:off x="699595" y="1096775"/>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Definition</a:t>
            </a:r>
          </a:p>
        </p:txBody>
      </p:sp>
      <p:sp>
        <p:nvSpPr>
          <p:cNvPr id="302" name="Paragraph 1"/>
          <p:cNvSpPr txBox="1"/>
          <p:nvPr/>
        </p:nvSpPr>
        <p:spPr>
          <a:xfrm>
            <a:off x="699595" y="1388875"/>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AIOps stands for Artificial Intelligence for IT Operations, combining big data and ML to automate and enhance operations.</a:t>
            </a:r>
          </a:p>
        </p:txBody>
      </p:sp>
      <p:sp>
        <p:nvSpPr>
          <p:cNvPr id="303" name="Subtitle 2"/>
          <p:cNvSpPr txBox="1"/>
          <p:nvPr/>
        </p:nvSpPr>
        <p:spPr>
          <a:xfrm>
            <a:off x="699595" y="2430275"/>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Core Functions</a:t>
            </a:r>
          </a:p>
        </p:txBody>
      </p:sp>
      <p:sp>
        <p:nvSpPr>
          <p:cNvPr id="304" name="Paragraph 2"/>
          <p:cNvSpPr txBox="1"/>
          <p:nvPr/>
        </p:nvSpPr>
        <p:spPr>
          <a:xfrm>
            <a:off x="699595" y="2722375"/>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AIOps platforms ingest logs, metrics, and events to detect anomalies, correlate incidents, and trigger responses.</a:t>
            </a:r>
          </a:p>
        </p:txBody>
      </p:sp>
      <p:sp>
        <p:nvSpPr>
          <p:cNvPr id="305" name="Subtitle 3"/>
          <p:cNvSpPr txBox="1"/>
          <p:nvPr/>
        </p:nvSpPr>
        <p:spPr>
          <a:xfrm>
            <a:off x="699595" y="3525650"/>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Value Proposition</a:t>
            </a:r>
          </a:p>
        </p:txBody>
      </p:sp>
      <p:sp>
        <p:nvSpPr>
          <p:cNvPr id="306" name="Paragraph 3"/>
          <p:cNvSpPr txBox="1"/>
          <p:nvPr/>
        </p:nvSpPr>
        <p:spPr>
          <a:xfrm>
            <a:off x="699595" y="3817750"/>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It reduces mean time to resolution (MTTR) and improves service reliability.</a:t>
            </a:r>
          </a:p>
        </p:txBody>
      </p:sp>
      <p:pic>
        <p:nvPicPr>
          <p:cNvPr id="307"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308"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09"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1"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12" name="Title"/>
          <p:cNvSpPr txBox="1"/>
          <p:nvPr/>
        </p:nvSpPr>
        <p:spPr>
          <a:xfrm>
            <a:off x="1236344" y="457517"/>
            <a:ext cx="5623561" cy="370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a:solidFill>
                  <a:srgbClr val="333333"/>
                </a:solidFill>
                <a:latin typeface="OpenSans-Bold"/>
                <a:ea typeface="OpenSans-Bold"/>
                <a:cs typeface="OpenSans-Bold"/>
                <a:sym typeface="OpenSans-Bold"/>
              </a:defRPr>
            </a:lvl1pPr>
          </a:lstStyle>
          <a:p>
            <a:pPr/>
            <a:r>
              <a:t>AI Use Case: Anomaly Detection</a:t>
            </a:r>
          </a:p>
        </p:txBody>
      </p:sp>
      <p:sp>
        <p:nvSpPr>
          <p:cNvPr id="313" name="Subtitle 1"/>
          <p:cNvSpPr txBox="1"/>
          <p:nvPr/>
        </p:nvSpPr>
        <p:spPr>
          <a:xfrm>
            <a:off x="716881" y="1154982"/>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What It Does</a:t>
            </a:r>
          </a:p>
        </p:txBody>
      </p:sp>
      <p:sp>
        <p:nvSpPr>
          <p:cNvPr id="314" name="Paragraph 1"/>
          <p:cNvSpPr txBox="1"/>
          <p:nvPr/>
        </p:nvSpPr>
        <p:spPr>
          <a:xfrm>
            <a:off x="716881" y="1440732"/>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Automatically identifies deviations from normal behavior in logs, metrics, and performance data.</a:t>
            </a:r>
          </a:p>
        </p:txBody>
      </p:sp>
      <p:sp>
        <p:nvSpPr>
          <p:cNvPr id="315" name="Subtitle 2"/>
          <p:cNvSpPr txBox="1"/>
          <p:nvPr/>
        </p:nvSpPr>
        <p:spPr>
          <a:xfrm>
            <a:off x="716881" y="2488482"/>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Why It Matters</a:t>
            </a:r>
          </a:p>
        </p:txBody>
      </p:sp>
      <p:sp>
        <p:nvSpPr>
          <p:cNvPr id="316" name="Paragraph 2"/>
          <p:cNvSpPr txBox="1"/>
          <p:nvPr/>
        </p:nvSpPr>
        <p:spPr>
          <a:xfrm>
            <a:off x="716881" y="2875832"/>
            <a:ext cx="514731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Early detection helps prevent outages and performance degradation.</a:t>
            </a:r>
          </a:p>
        </p:txBody>
      </p:sp>
      <p:sp>
        <p:nvSpPr>
          <p:cNvPr id="317" name="Subtitle 3"/>
          <p:cNvSpPr txBox="1"/>
          <p:nvPr/>
        </p:nvSpPr>
        <p:spPr>
          <a:xfrm>
            <a:off x="716881" y="3583857"/>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Student Perspective</a:t>
            </a:r>
          </a:p>
        </p:txBody>
      </p:sp>
      <p:sp>
        <p:nvSpPr>
          <p:cNvPr id="318" name="Paragraph 3"/>
          <p:cNvSpPr txBox="1"/>
          <p:nvPr/>
        </p:nvSpPr>
        <p:spPr>
          <a:xfrm>
            <a:off x="716881" y="386960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Visualize how your future monitoring tools might detect a server issue before it affects users.</a:t>
            </a:r>
          </a:p>
        </p:txBody>
      </p:sp>
      <p:pic>
        <p:nvPicPr>
          <p:cNvPr id="319"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320"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21"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3"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24" name="Title"/>
          <p:cNvSpPr txBox="1"/>
          <p:nvPr/>
        </p:nvSpPr>
        <p:spPr>
          <a:xfrm>
            <a:off x="1236344" y="470217"/>
            <a:ext cx="5623561" cy="345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700">
                <a:solidFill>
                  <a:srgbClr val="333333"/>
                </a:solidFill>
                <a:latin typeface="OpenSans-Bold"/>
                <a:ea typeface="OpenSans-Bold"/>
                <a:cs typeface="OpenSans-Bold"/>
                <a:sym typeface="OpenSans-Bold"/>
              </a:defRPr>
            </a:lvl1pPr>
          </a:lstStyle>
          <a:p>
            <a:pPr/>
            <a:r>
              <a:t>AI Use Case: Resource Optimization</a:t>
            </a:r>
          </a:p>
        </p:txBody>
      </p:sp>
      <p:sp>
        <p:nvSpPr>
          <p:cNvPr id="325" name="Subtitle 1"/>
          <p:cNvSpPr txBox="1"/>
          <p:nvPr/>
        </p:nvSpPr>
        <p:spPr>
          <a:xfrm>
            <a:off x="725524" y="1070847"/>
            <a:ext cx="514731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Dynamic Scaling</a:t>
            </a:r>
          </a:p>
        </p:txBody>
      </p:sp>
      <p:sp>
        <p:nvSpPr>
          <p:cNvPr id="326" name="Paragraph 1"/>
          <p:cNvSpPr txBox="1"/>
          <p:nvPr/>
        </p:nvSpPr>
        <p:spPr>
          <a:xfrm>
            <a:off x="725524" y="136294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helps adjust compute and storage resources based on real-time usage patterns.</a:t>
            </a:r>
          </a:p>
        </p:txBody>
      </p:sp>
      <p:sp>
        <p:nvSpPr>
          <p:cNvPr id="327" name="Subtitle 2"/>
          <p:cNvSpPr txBox="1"/>
          <p:nvPr/>
        </p:nvSpPr>
        <p:spPr>
          <a:xfrm>
            <a:off x="725524" y="2404347"/>
            <a:ext cx="514731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Cost Efficiency</a:t>
            </a:r>
          </a:p>
        </p:txBody>
      </p:sp>
      <p:sp>
        <p:nvSpPr>
          <p:cNvPr id="328" name="Paragraph 2"/>
          <p:cNvSpPr txBox="1"/>
          <p:nvPr/>
        </p:nvSpPr>
        <p:spPr>
          <a:xfrm>
            <a:off x="725524" y="269644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Smart resource allocation avoids over-provisioning, cutting unnecessary costs.</a:t>
            </a:r>
          </a:p>
        </p:txBody>
      </p:sp>
      <p:sp>
        <p:nvSpPr>
          <p:cNvPr id="329" name="Subtitle 3"/>
          <p:cNvSpPr txBox="1"/>
          <p:nvPr/>
        </p:nvSpPr>
        <p:spPr>
          <a:xfrm>
            <a:off x="725524" y="3499722"/>
            <a:ext cx="514731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Example</a:t>
            </a:r>
          </a:p>
        </p:txBody>
      </p:sp>
      <p:sp>
        <p:nvSpPr>
          <p:cNvPr id="330" name="Paragraph 3"/>
          <p:cNvSpPr txBox="1"/>
          <p:nvPr/>
        </p:nvSpPr>
        <p:spPr>
          <a:xfrm>
            <a:off x="725524" y="3791822"/>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 system detects low traffic periods and automatically scales down infrastructure without service impact.</a:t>
            </a:r>
          </a:p>
        </p:txBody>
      </p:sp>
      <p:pic>
        <p:nvPicPr>
          <p:cNvPr id="331"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332"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33"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5"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36"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AI Use Case: Incident Triage</a:t>
            </a:r>
          </a:p>
        </p:txBody>
      </p:sp>
      <p:sp>
        <p:nvSpPr>
          <p:cNvPr id="337" name="Subtitle 1"/>
          <p:cNvSpPr txBox="1"/>
          <p:nvPr/>
        </p:nvSpPr>
        <p:spPr>
          <a:xfrm>
            <a:off x="768737" y="1070847"/>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Alert Overload</a:t>
            </a:r>
          </a:p>
        </p:txBody>
      </p:sp>
      <p:sp>
        <p:nvSpPr>
          <p:cNvPr id="338" name="Paragraph 1"/>
          <p:cNvSpPr txBox="1"/>
          <p:nvPr/>
        </p:nvSpPr>
        <p:spPr>
          <a:xfrm>
            <a:off x="768737" y="1362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DevOps teams face too many alerts, many of which are false positives or low priority.</a:t>
            </a:r>
          </a:p>
        </p:txBody>
      </p:sp>
      <p:sp>
        <p:nvSpPr>
          <p:cNvPr id="339" name="Subtitle 2"/>
          <p:cNvSpPr txBox="1"/>
          <p:nvPr/>
        </p:nvSpPr>
        <p:spPr>
          <a:xfrm>
            <a:off x="768737" y="2404347"/>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AI Filtering</a:t>
            </a:r>
          </a:p>
        </p:txBody>
      </p:sp>
      <p:sp>
        <p:nvSpPr>
          <p:cNvPr id="340" name="Paragraph 2"/>
          <p:cNvSpPr txBox="1"/>
          <p:nvPr/>
        </p:nvSpPr>
        <p:spPr>
          <a:xfrm>
            <a:off x="768737" y="26964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clusters alerts by root cause and urgency, allowing teams to focus on real issues first.</a:t>
            </a:r>
          </a:p>
        </p:txBody>
      </p:sp>
      <p:sp>
        <p:nvSpPr>
          <p:cNvPr id="341" name="Subtitle 3"/>
          <p:cNvSpPr txBox="1"/>
          <p:nvPr/>
        </p:nvSpPr>
        <p:spPr>
          <a:xfrm>
            <a:off x="768737" y="3499722"/>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Student Takeaway</a:t>
            </a:r>
          </a:p>
        </p:txBody>
      </p:sp>
      <p:sp>
        <p:nvSpPr>
          <p:cNvPr id="342" name="Paragraph 3"/>
          <p:cNvSpPr txBox="1"/>
          <p:nvPr/>
        </p:nvSpPr>
        <p:spPr>
          <a:xfrm>
            <a:off x="768737" y="3791822"/>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Imagine being able to focus only on problems that truly matter—AI makes that possible in high-noise environments.</a:t>
            </a:r>
          </a:p>
        </p:txBody>
      </p:sp>
      <p:pic>
        <p:nvPicPr>
          <p:cNvPr id="343"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344"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45"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7"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48"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Case Study: Netflix AIOps</a:t>
            </a:r>
          </a:p>
        </p:txBody>
      </p:sp>
      <p:sp>
        <p:nvSpPr>
          <p:cNvPr id="349" name="Subtitle 1"/>
          <p:cNvSpPr txBox="1"/>
          <p:nvPr/>
        </p:nvSpPr>
        <p:spPr>
          <a:xfrm>
            <a:off x="734166" y="1114061"/>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The Challenge</a:t>
            </a:r>
          </a:p>
        </p:txBody>
      </p:sp>
      <p:sp>
        <p:nvSpPr>
          <p:cNvPr id="350" name="Paragraph 1"/>
          <p:cNvSpPr txBox="1"/>
          <p:nvPr/>
        </p:nvSpPr>
        <p:spPr>
          <a:xfrm>
            <a:off x="734166" y="1406161"/>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Managing a vast microservices ecosystem and minimizing user-facing issues in real time.</a:t>
            </a:r>
          </a:p>
        </p:txBody>
      </p:sp>
      <p:sp>
        <p:nvSpPr>
          <p:cNvPr id="351" name="Subtitle 2"/>
          <p:cNvSpPr txBox="1"/>
          <p:nvPr/>
        </p:nvSpPr>
        <p:spPr>
          <a:xfrm>
            <a:off x="734166" y="2447561"/>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The Solution</a:t>
            </a:r>
          </a:p>
        </p:txBody>
      </p:sp>
      <p:sp>
        <p:nvSpPr>
          <p:cNvPr id="352" name="Paragraph 2"/>
          <p:cNvSpPr txBox="1"/>
          <p:nvPr/>
        </p:nvSpPr>
        <p:spPr>
          <a:xfrm>
            <a:off x="734166" y="2739661"/>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Netflix uses AI to analyze metrics and logs, detect anomalies, and route incidents automatically.</a:t>
            </a:r>
          </a:p>
        </p:txBody>
      </p:sp>
      <p:sp>
        <p:nvSpPr>
          <p:cNvPr id="353" name="Subtitle 3"/>
          <p:cNvSpPr txBox="1"/>
          <p:nvPr/>
        </p:nvSpPr>
        <p:spPr>
          <a:xfrm>
            <a:off x="734166" y="3542936"/>
            <a:ext cx="5147311"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The Outcome</a:t>
            </a:r>
          </a:p>
        </p:txBody>
      </p:sp>
      <p:sp>
        <p:nvSpPr>
          <p:cNvPr id="354" name="Paragraph 3"/>
          <p:cNvSpPr txBox="1"/>
          <p:nvPr/>
        </p:nvSpPr>
        <p:spPr>
          <a:xfrm>
            <a:off x="734166" y="3835036"/>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Improved uptime, faster resolution, and better user experience at scale.</a:t>
            </a:r>
          </a:p>
        </p:txBody>
      </p:sp>
      <p:pic>
        <p:nvPicPr>
          <p:cNvPr id="355"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356"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57"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9"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60" name="Title"/>
          <p:cNvSpPr txBox="1"/>
          <p:nvPr/>
        </p:nvSpPr>
        <p:spPr>
          <a:xfrm>
            <a:off x="1236344" y="451167"/>
            <a:ext cx="5623561"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900">
                <a:solidFill>
                  <a:srgbClr val="333333"/>
                </a:solidFill>
                <a:latin typeface="OpenSans-Bold"/>
                <a:ea typeface="OpenSans-Bold"/>
                <a:cs typeface="OpenSans-Bold"/>
                <a:sym typeface="OpenSans-Bold"/>
              </a:defRPr>
            </a:lvl1pPr>
          </a:lstStyle>
          <a:p>
            <a:pPr/>
            <a:r>
              <a:t>AI Tooling Landscape (2025)</a:t>
            </a:r>
          </a:p>
        </p:txBody>
      </p:sp>
      <p:sp>
        <p:nvSpPr>
          <p:cNvPr id="361" name="Subtitle 1"/>
          <p:cNvSpPr txBox="1"/>
          <p:nvPr/>
        </p:nvSpPr>
        <p:spPr>
          <a:xfrm>
            <a:off x="699595" y="1051269"/>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Monitoring &amp; Observability</a:t>
            </a:r>
          </a:p>
        </p:txBody>
      </p:sp>
      <p:sp>
        <p:nvSpPr>
          <p:cNvPr id="362" name="Paragraph 1"/>
          <p:cNvSpPr txBox="1"/>
          <p:nvPr/>
        </p:nvSpPr>
        <p:spPr>
          <a:xfrm>
            <a:off x="699595" y="133701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Tools like Dynatrace, DataDog, and New Relic are integrating more AI features for alert reduction and root-cause analysis.</a:t>
            </a:r>
          </a:p>
        </p:txBody>
      </p:sp>
      <p:sp>
        <p:nvSpPr>
          <p:cNvPr id="363" name="Subtitle 2"/>
          <p:cNvSpPr txBox="1"/>
          <p:nvPr/>
        </p:nvSpPr>
        <p:spPr>
          <a:xfrm>
            <a:off x="699595" y="2384769"/>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CI/CD &amp; Deployment</a:t>
            </a:r>
          </a:p>
        </p:txBody>
      </p:sp>
      <p:sp>
        <p:nvSpPr>
          <p:cNvPr id="364" name="Paragraph 2"/>
          <p:cNvSpPr txBox="1"/>
          <p:nvPr/>
        </p:nvSpPr>
        <p:spPr>
          <a:xfrm>
            <a:off x="699595" y="267051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GitHub Copilot, Harness, and others provide AI-driven code suggestions and deployment strategies.</a:t>
            </a:r>
          </a:p>
        </p:txBody>
      </p:sp>
      <p:sp>
        <p:nvSpPr>
          <p:cNvPr id="365" name="Subtitle 3"/>
          <p:cNvSpPr txBox="1"/>
          <p:nvPr/>
        </p:nvSpPr>
        <p:spPr>
          <a:xfrm>
            <a:off x="699595" y="3480144"/>
            <a:ext cx="5147311"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Trends to Watch</a:t>
            </a:r>
          </a:p>
        </p:txBody>
      </p:sp>
      <p:sp>
        <p:nvSpPr>
          <p:cNvPr id="366" name="Paragraph 3"/>
          <p:cNvSpPr txBox="1"/>
          <p:nvPr/>
        </p:nvSpPr>
        <p:spPr>
          <a:xfrm>
            <a:off x="699595" y="3765894"/>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Consolidation of platforms, low-code AIOps, and open-source innovation are shaping the future of AI in DevOps.</a:t>
            </a:r>
          </a:p>
        </p:txBody>
      </p:sp>
      <p:pic>
        <p:nvPicPr>
          <p:cNvPr id="367" name="Image" descr="Image"/>
          <p:cNvPicPr>
            <a:picLocks noChangeAspect="1"/>
          </p:cNvPicPr>
          <p:nvPr/>
        </p:nvPicPr>
        <p:blipFill>
          <a:blip r:embed="rId2">
            <a:extLst/>
          </a:blip>
          <a:stretch>
            <a:fillRect/>
          </a:stretch>
        </p:blipFill>
        <p:spPr>
          <a:xfrm>
            <a:off x="6238875" y="1333500"/>
            <a:ext cx="2352675" cy="2352675"/>
          </a:xfrm>
          <a:prstGeom prst="rect">
            <a:avLst/>
          </a:prstGeom>
          <a:ln w="12700">
            <a:miter lim="400000"/>
          </a:ln>
        </p:spPr>
      </p:pic>
      <p:sp>
        <p:nvSpPr>
          <p:cNvPr id="368"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69"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Tree>
  </p:cSld>
  <p:clrMapOvr>
    <a:masterClrMapping/>
  </p:clrMapOvr>
  <p:transition xmlns:p14="http://schemas.microsoft.com/office/powerpoint/2010/main" spd="med" advClick="1"/>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1"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72"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73"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374" name="Title"/>
          <p:cNvSpPr txBox="1"/>
          <p:nvPr/>
        </p:nvSpPr>
        <p:spPr>
          <a:xfrm>
            <a:off x="1084985" y="531114"/>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What is Generative AI?</a:t>
            </a:r>
          </a:p>
        </p:txBody>
      </p:sp>
      <p:sp>
        <p:nvSpPr>
          <p:cNvPr id="375" name="StaticPath"/>
          <p:cNvSpPr/>
          <p:nvPr/>
        </p:nvSpPr>
        <p:spPr>
          <a:xfrm>
            <a:off x="687480" y="1405791"/>
            <a:ext cx="157164" cy="157164"/>
          </a:xfrm>
          <a:prstGeom prst="rect">
            <a:avLst/>
          </a:prstGeom>
          <a:solidFill>
            <a:srgbClr val="3F51B5"/>
          </a:solidFill>
          <a:ln w="12700">
            <a:miter lim="400000"/>
          </a:ln>
        </p:spPr>
        <p:txBody>
          <a:bodyPr lIns="45719" rIns="45719"/>
          <a:lstStyle/>
          <a:p>
            <a:pPr/>
          </a:p>
        </p:txBody>
      </p:sp>
      <p:sp>
        <p:nvSpPr>
          <p:cNvPr id="376" name="Subtitle 1"/>
          <p:cNvSpPr txBox="1"/>
          <p:nvPr/>
        </p:nvSpPr>
        <p:spPr>
          <a:xfrm>
            <a:off x="1016521" y="1367556"/>
            <a:ext cx="2678574"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Creating, Not Just Analyzing</a:t>
            </a:r>
          </a:p>
        </p:txBody>
      </p:sp>
      <p:sp>
        <p:nvSpPr>
          <p:cNvPr id="377" name="Paragraph 1"/>
          <p:cNvSpPr txBox="1"/>
          <p:nvPr/>
        </p:nvSpPr>
        <p:spPr>
          <a:xfrm>
            <a:off x="3502985" y="1151952"/>
            <a:ext cx="3277276"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Generative AI refers to models that can produce new content—like code, text, or images—based on training data and patterns.</a:t>
            </a:r>
          </a:p>
        </p:txBody>
      </p:sp>
      <p:sp>
        <p:nvSpPr>
          <p:cNvPr id="378" name="StaticPath"/>
          <p:cNvSpPr/>
          <p:nvPr/>
        </p:nvSpPr>
        <p:spPr>
          <a:xfrm>
            <a:off x="657619" y="2403392"/>
            <a:ext cx="157164" cy="157164"/>
          </a:xfrm>
          <a:prstGeom prst="rect">
            <a:avLst/>
          </a:prstGeom>
          <a:solidFill>
            <a:srgbClr val="3F51B5"/>
          </a:solidFill>
          <a:ln w="12700">
            <a:miter lim="400000"/>
          </a:ln>
        </p:spPr>
        <p:txBody>
          <a:bodyPr lIns="45719" rIns="45719"/>
          <a:lstStyle/>
          <a:p>
            <a:pPr/>
          </a:p>
        </p:txBody>
      </p:sp>
      <p:sp>
        <p:nvSpPr>
          <p:cNvPr id="379" name="Subtitle 2"/>
          <p:cNvSpPr txBox="1"/>
          <p:nvPr/>
        </p:nvSpPr>
        <p:spPr>
          <a:xfrm>
            <a:off x="1003806" y="2365157"/>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Why It Matters in DevOps</a:t>
            </a:r>
          </a:p>
        </p:txBody>
      </p:sp>
      <p:sp>
        <p:nvSpPr>
          <p:cNvPr id="380" name="Paragraph 2"/>
          <p:cNvSpPr txBox="1"/>
          <p:nvPr/>
        </p:nvSpPr>
        <p:spPr>
          <a:xfrm>
            <a:off x="3502985" y="2268089"/>
            <a:ext cx="3277276"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DevOps teams can use generative AI to generate config files, deployment scripts, or documentation, saving time and improving quality.</a:t>
            </a:r>
          </a:p>
        </p:txBody>
      </p:sp>
      <p:sp>
        <p:nvSpPr>
          <p:cNvPr id="381" name="StaticPath"/>
          <p:cNvSpPr/>
          <p:nvPr/>
        </p:nvSpPr>
        <p:spPr>
          <a:xfrm>
            <a:off x="642760" y="3495528"/>
            <a:ext cx="157164" cy="157164"/>
          </a:xfrm>
          <a:prstGeom prst="rect">
            <a:avLst/>
          </a:prstGeom>
          <a:solidFill>
            <a:srgbClr val="3F51B5"/>
          </a:solidFill>
          <a:ln w="12700">
            <a:miter lim="400000"/>
          </a:ln>
        </p:spPr>
        <p:txBody>
          <a:bodyPr lIns="45719" rIns="45719"/>
          <a:lstStyle/>
          <a:p>
            <a:pPr/>
          </a:p>
        </p:txBody>
      </p:sp>
      <p:sp>
        <p:nvSpPr>
          <p:cNvPr id="382" name="Subtitle 3"/>
          <p:cNvSpPr txBox="1"/>
          <p:nvPr/>
        </p:nvSpPr>
        <p:spPr>
          <a:xfrm>
            <a:off x="1003805" y="3566402"/>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Common Examples</a:t>
            </a:r>
          </a:p>
        </p:txBody>
      </p:sp>
      <p:sp>
        <p:nvSpPr>
          <p:cNvPr id="383" name="Paragraph 3"/>
          <p:cNvSpPr txBox="1"/>
          <p:nvPr/>
        </p:nvSpPr>
        <p:spPr>
          <a:xfrm>
            <a:off x="3541072" y="3470901"/>
            <a:ext cx="3201102"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Tools like ChatGPT and GitHub Copilot showcase how generative AI can support day-to-day developer and ops work.</a:t>
            </a:r>
          </a:p>
        </p:txBody>
      </p:sp>
      <p:pic>
        <p:nvPicPr>
          <p:cNvPr id="384" name="Image" descr="Image"/>
          <p:cNvPicPr>
            <a:picLocks noChangeAspect="1"/>
          </p:cNvPicPr>
          <p:nvPr/>
        </p:nvPicPr>
        <p:blipFill>
          <a:blip r:embed="rId2">
            <a:extLst/>
          </a:blip>
          <a:stretch>
            <a:fillRect/>
          </a:stretch>
        </p:blipFill>
        <p:spPr>
          <a:xfrm>
            <a:off x="7013255" y="1890217"/>
            <a:ext cx="1659985" cy="1659985"/>
          </a:xfrm>
          <a:prstGeom prst="rect">
            <a:avLst/>
          </a:prstGeom>
          <a:ln w="12700">
            <a:miter lim="400000"/>
          </a:ln>
        </p:spPr>
      </p:pic>
    </p:spTree>
  </p:cSld>
  <p:clrMapOvr>
    <a:masterClrMapping/>
  </p:clrMapOvr>
  <p:transition xmlns:p14="http://schemas.microsoft.com/office/powerpoint/2010/main" spd="med" advClick="1"/>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6"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387"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388"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389" name="Title"/>
          <p:cNvSpPr txBox="1"/>
          <p:nvPr/>
        </p:nvSpPr>
        <p:spPr>
          <a:xfrm>
            <a:off x="1084985" y="531114"/>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What is Generative AI?</a:t>
            </a:r>
          </a:p>
        </p:txBody>
      </p:sp>
      <p:sp>
        <p:nvSpPr>
          <p:cNvPr id="390" name="StaticPath"/>
          <p:cNvSpPr/>
          <p:nvPr/>
        </p:nvSpPr>
        <p:spPr>
          <a:xfrm>
            <a:off x="687480" y="1405791"/>
            <a:ext cx="157164" cy="157164"/>
          </a:xfrm>
          <a:prstGeom prst="rect">
            <a:avLst/>
          </a:prstGeom>
          <a:solidFill>
            <a:srgbClr val="3F51B5"/>
          </a:solidFill>
          <a:ln w="12700">
            <a:miter lim="400000"/>
          </a:ln>
        </p:spPr>
        <p:txBody>
          <a:bodyPr lIns="45719" rIns="45719"/>
          <a:lstStyle/>
          <a:p>
            <a:pPr/>
          </a:p>
        </p:txBody>
      </p:sp>
      <p:sp>
        <p:nvSpPr>
          <p:cNvPr id="391" name="Subtitle 1"/>
          <p:cNvSpPr txBox="1"/>
          <p:nvPr/>
        </p:nvSpPr>
        <p:spPr>
          <a:xfrm>
            <a:off x="1016521" y="1367556"/>
            <a:ext cx="2678574"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Creating, Not Just Analyzing</a:t>
            </a:r>
          </a:p>
        </p:txBody>
      </p:sp>
      <p:sp>
        <p:nvSpPr>
          <p:cNvPr id="392" name="Paragraph 1"/>
          <p:cNvSpPr txBox="1"/>
          <p:nvPr/>
        </p:nvSpPr>
        <p:spPr>
          <a:xfrm>
            <a:off x="3502985" y="1151952"/>
            <a:ext cx="3277276"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Generative AI refers to models that can produce new content—like code, text, or images—based on training data and patterns.</a:t>
            </a:r>
          </a:p>
        </p:txBody>
      </p:sp>
      <p:sp>
        <p:nvSpPr>
          <p:cNvPr id="393" name="StaticPath"/>
          <p:cNvSpPr/>
          <p:nvPr/>
        </p:nvSpPr>
        <p:spPr>
          <a:xfrm>
            <a:off x="657619" y="2403392"/>
            <a:ext cx="157164" cy="157164"/>
          </a:xfrm>
          <a:prstGeom prst="rect">
            <a:avLst/>
          </a:prstGeom>
          <a:solidFill>
            <a:srgbClr val="3F51B5"/>
          </a:solidFill>
          <a:ln w="12700">
            <a:miter lim="400000"/>
          </a:ln>
        </p:spPr>
        <p:txBody>
          <a:bodyPr lIns="45719" rIns="45719"/>
          <a:lstStyle/>
          <a:p>
            <a:pPr/>
          </a:p>
        </p:txBody>
      </p:sp>
      <p:sp>
        <p:nvSpPr>
          <p:cNvPr id="394" name="Subtitle 2"/>
          <p:cNvSpPr txBox="1"/>
          <p:nvPr/>
        </p:nvSpPr>
        <p:spPr>
          <a:xfrm>
            <a:off x="1003806" y="2365157"/>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Why It Matters in DevOps</a:t>
            </a:r>
          </a:p>
        </p:txBody>
      </p:sp>
      <p:sp>
        <p:nvSpPr>
          <p:cNvPr id="395" name="Paragraph 2"/>
          <p:cNvSpPr txBox="1"/>
          <p:nvPr/>
        </p:nvSpPr>
        <p:spPr>
          <a:xfrm>
            <a:off x="3502985" y="2268089"/>
            <a:ext cx="3277276"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DevOps teams can use generative AI to generate config files, deployment scripts, or documentation, saving time and improving quality.</a:t>
            </a:r>
          </a:p>
        </p:txBody>
      </p:sp>
      <p:sp>
        <p:nvSpPr>
          <p:cNvPr id="396" name="StaticPath"/>
          <p:cNvSpPr/>
          <p:nvPr/>
        </p:nvSpPr>
        <p:spPr>
          <a:xfrm>
            <a:off x="642760" y="3495528"/>
            <a:ext cx="157164" cy="157164"/>
          </a:xfrm>
          <a:prstGeom prst="rect">
            <a:avLst/>
          </a:prstGeom>
          <a:solidFill>
            <a:srgbClr val="3F51B5"/>
          </a:solidFill>
          <a:ln w="12700">
            <a:miter lim="400000"/>
          </a:ln>
        </p:spPr>
        <p:txBody>
          <a:bodyPr lIns="45719" rIns="45719"/>
          <a:lstStyle/>
          <a:p>
            <a:pPr/>
          </a:p>
        </p:txBody>
      </p:sp>
      <p:sp>
        <p:nvSpPr>
          <p:cNvPr id="397" name="Subtitle 3"/>
          <p:cNvSpPr txBox="1"/>
          <p:nvPr/>
        </p:nvSpPr>
        <p:spPr>
          <a:xfrm>
            <a:off x="1003805" y="3566402"/>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Common Examples</a:t>
            </a:r>
          </a:p>
        </p:txBody>
      </p:sp>
      <p:sp>
        <p:nvSpPr>
          <p:cNvPr id="398" name="Paragraph 3"/>
          <p:cNvSpPr txBox="1"/>
          <p:nvPr/>
        </p:nvSpPr>
        <p:spPr>
          <a:xfrm>
            <a:off x="3541072" y="3470901"/>
            <a:ext cx="3201102"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Tools like ChatGPT and GitHub Copilot showcase how generative AI can support day-to-day developer and ops work.</a:t>
            </a:r>
          </a:p>
        </p:txBody>
      </p:sp>
      <p:pic>
        <p:nvPicPr>
          <p:cNvPr id="399" name="Image" descr="Image"/>
          <p:cNvPicPr>
            <a:picLocks noChangeAspect="1"/>
          </p:cNvPicPr>
          <p:nvPr/>
        </p:nvPicPr>
        <p:blipFill>
          <a:blip r:embed="rId2">
            <a:extLst/>
          </a:blip>
          <a:stretch>
            <a:fillRect/>
          </a:stretch>
        </p:blipFill>
        <p:spPr>
          <a:xfrm>
            <a:off x="7013255" y="1890217"/>
            <a:ext cx="1659985" cy="1659985"/>
          </a:xfrm>
          <a:prstGeom prst="rect">
            <a:avLst/>
          </a:prstGeom>
          <a:ln w="12700">
            <a:miter lim="400000"/>
          </a:ln>
        </p:spPr>
      </p:pic>
    </p:spTree>
  </p:cSld>
  <p:clrMapOvr>
    <a:masterClrMapping/>
  </p:clrMapOvr>
  <p:transition xmlns:p14="http://schemas.microsoft.com/office/powerpoint/2010/main" spd="med" advClick="1"/>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1"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402"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403"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404" name="Title"/>
          <p:cNvSpPr txBox="1"/>
          <p:nvPr/>
        </p:nvSpPr>
        <p:spPr>
          <a:xfrm>
            <a:off x="1024486" y="538083"/>
            <a:ext cx="6121814" cy="3835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900">
                <a:latin typeface="OpenSans-Regular"/>
                <a:ea typeface="OpenSans-Regular"/>
                <a:cs typeface="OpenSans-Regular"/>
                <a:sym typeface="OpenSans-Regular"/>
              </a:defRPr>
            </a:lvl1pPr>
          </a:lstStyle>
          <a:p>
            <a:pPr/>
            <a:r>
              <a:t>LLMs: Large Language Models in DevOps</a:t>
            </a:r>
          </a:p>
        </p:txBody>
      </p:sp>
      <p:sp>
        <p:nvSpPr>
          <p:cNvPr id="405" name="StaticPath"/>
          <p:cNvSpPr/>
          <p:nvPr/>
        </p:nvSpPr>
        <p:spPr>
          <a:xfrm>
            <a:off x="704766" y="1388505"/>
            <a:ext cx="157164" cy="157164"/>
          </a:xfrm>
          <a:prstGeom prst="rect">
            <a:avLst/>
          </a:prstGeom>
          <a:solidFill>
            <a:srgbClr val="3F51B5"/>
          </a:solidFill>
          <a:ln w="12700">
            <a:miter lim="400000"/>
          </a:ln>
        </p:spPr>
        <p:txBody>
          <a:bodyPr lIns="45719" rIns="45719"/>
          <a:lstStyle/>
          <a:p>
            <a:pPr/>
          </a:p>
        </p:txBody>
      </p:sp>
      <p:sp>
        <p:nvSpPr>
          <p:cNvPr id="406" name="Subtitle 1"/>
          <p:cNvSpPr txBox="1"/>
          <p:nvPr/>
        </p:nvSpPr>
        <p:spPr>
          <a:xfrm>
            <a:off x="1033807" y="1343920"/>
            <a:ext cx="2678574"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What is an LLM?</a:t>
            </a:r>
          </a:p>
        </p:txBody>
      </p:sp>
      <p:sp>
        <p:nvSpPr>
          <p:cNvPr id="407" name="Paragraph 1"/>
          <p:cNvSpPr txBox="1"/>
          <p:nvPr/>
        </p:nvSpPr>
        <p:spPr>
          <a:xfrm>
            <a:off x="3005115" y="1147070"/>
            <a:ext cx="3612687"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LLMs are powerful AI systems trained on massive text datasets that understand and generate human-like language.</a:t>
            </a:r>
          </a:p>
        </p:txBody>
      </p:sp>
      <p:sp>
        <p:nvSpPr>
          <p:cNvPr id="408" name="StaticPath"/>
          <p:cNvSpPr/>
          <p:nvPr/>
        </p:nvSpPr>
        <p:spPr>
          <a:xfrm>
            <a:off x="674905" y="2386107"/>
            <a:ext cx="157164" cy="157164"/>
          </a:xfrm>
          <a:prstGeom prst="rect">
            <a:avLst/>
          </a:prstGeom>
          <a:solidFill>
            <a:srgbClr val="3F51B5"/>
          </a:solidFill>
          <a:ln w="12700">
            <a:miter lim="400000"/>
          </a:ln>
        </p:spPr>
        <p:txBody>
          <a:bodyPr lIns="45719" rIns="45719"/>
          <a:lstStyle/>
          <a:p>
            <a:pPr/>
          </a:p>
        </p:txBody>
      </p:sp>
      <p:sp>
        <p:nvSpPr>
          <p:cNvPr id="409" name="Subtitle 2"/>
          <p:cNvSpPr txBox="1"/>
          <p:nvPr/>
        </p:nvSpPr>
        <p:spPr>
          <a:xfrm>
            <a:off x="1021092" y="2341522"/>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Use in DevOps</a:t>
            </a:r>
          </a:p>
        </p:txBody>
      </p:sp>
      <p:sp>
        <p:nvSpPr>
          <p:cNvPr id="410" name="Paragraph 2"/>
          <p:cNvSpPr txBox="1"/>
          <p:nvPr/>
        </p:nvSpPr>
        <p:spPr>
          <a:xfrm>
            <a:off x="3005115" y="2043072"/>
            <a:ext cx="3282609"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They assist in writing shell scripts, analyzing logs, generating YAML files, and answering complex DevOps queries quickly.</a:t>
            </a:r>
          </a:p>
        </p:txBody>
      </p:sp>
      <p:sp>
        <p:nvSpPr>
          <p:cNvPr id="411" name="StaticPath"/>
          <p:cNvSpPr/>
          <p:nvPr/>
        </p:nvSpPr>
        <p:spPr>
          <a:xfrm>
            <a:off x="660046" y="3478242"/>
            <a:ext cx="157164" cy="157164"/>
          </a:xfrm>
          <a:prstGeom prst="rect">
            <a:avLst/>
          </a:prstGeom>
          <a:solidFill>
            <a:srgbClr val="3F51B5"/>
          </a:solidFill>
          <a:ln w="12700">
            <a:miter lim="400000"/>
          </a:ln>
        </p:spPr>
        <p:txBody>
          <a:bodyPr lIns="45719" rIns="45719"/>
          <a:lstStyle/>
          <a:p>
            <a:pPr/>
          </a:p>
        </p:txBody>
      </p:sp>
      <p:sp>
        <p:nvSpPr>
          <p:cNvPr id="412" name="Subtitle 3"/>
          <p:cNvSpPr txBox="1"/>
          <p:nvPr/>
        </p:nvSpPr>
        <p:spPr>
          <a:xfrm>
            <a:off x="1021091" y="35427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No Theory, Just Use</a:t>
            </a:r>
          </a:p>
        </p:txBody>
      </p:sp>
      <p:sp>
        <p:nvSpPr>
          <p:cNvPr id="413" name="Paragraph 3"/>
          <p:cNvSpPr txBox="1"/>
          <p:nvPr/>
        </p:nvSpPr>
        <p:spPr>
          <a:xfrm>
            <a:off x="3005115" y="3345916"/>
            <a:ext cx="3282609"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Without diving into neural network theory, LLMs work like smart assistants—ready to solve real-world DevOps problems.</a:t>
            </a:r>
          </a:p>
        </p:txBody>
      </p:sp>
      <p:pic>
        <p:nvPicPr>
          <p:cNvPr id="414" name="Image" descr="Image"/>
          <p:cNvPicPr>
            <a:picLocks noChangeAspect="1"/>
          </p:cNvPicPr>
          <p:nvPr/>
        </p:nvPicPr>
        <p:blipFill>
          <a:blip r:embed="rId2">
            <a:extLst/>
          </a:blip>
          <a:stretch>
            <a:fillRect/>
          </a:stretch>
        </p:blipFill>
        <p:spPr>
          <a:xfrm>
            <a:off x="6499325" y="1698801"/>
            <a:ext cx="1592782" cy="1592782"/>
          </a:xfrm>
          <a:prstGeom prst="rect">
            <a:avLst/>
          </a:prstGeom>
          <a:ln w="12700">
            <a:miter lim="400000"/>
          </a:ln>
        </p:spPr>
      </p:pic>
    </p:spTree>
  </p:cSld>
  <p:clrMapOvr>
    <a:masterClrMapping/>
  </p:clrMapOvr>
  <p:transition xmlns:p14="http://schemas.microsoft.com/office/powerpoint/2010/main" spd="med" advClick="1"/>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6"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417"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418"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419" name="Title"/>
          <p:cNvSpPr txBox="1"/>
          <p:nvPr/>
        </p:nvSpPr>
        <p:spPr>
          <a:xfrm>
            <a:off x="1129285" y="486755"/>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Prompt Engineering Basics</a:t>
            </a:r>
          </a:p>
        </p:txBody>
      </p:sp>
      <p:sp>
        <p:nvSpPr>
          <p:cNvPr id="420" name="StaticPath"/>
          <p:cNvSpPr/>
          <p:nvPr/>
        </p:nvSpPr>
        <p:spPr>
          <a:xfrm>
            <a:off x="670195" y="1362577"/>
            <a:ext cx="157164" cy="157164"/>
          </a:xfrm>
          <a:prstGeom prst="rect">
            <a:avLst/>
          </a:prstGeom>
          <a:solidFill>
            <a:srgbClr val="3F51B5"/>
          </a:solidFill>
          <a:ln w="12700">
            <a:miter lim="400000"/>
          </a:ln>
        </p:spPr>
        <p:txBody>
          <a:bodyPr lIns="45719" rIns="45719"/>
          <a:lstStyle/>
          <a:p>
            <a:pPr/>
          </a:p>
        </p:txBody>
      </p:sp>
      <p:sp>
        <p:nvSpPr>
          <p:cNvPr id="421" name="Subtitle 1"/>
          <p:cNvSpPr txBox="1"/>
          <p:nvPr/>
        </p:nvSpPr>
        <p:spPr>
          <a:xfrm>
            <a:off x="999236" y="1317992"/>
            <a:ext cx="2678574"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What is a Prompt?</a:t>
            </a:r>
          </a:p>
        </p:txBody>
      </p:sp>
      <p:sp>
        <p:nvSpPr>
          <p:cNvPr id="422" name="Paragraph 1"/>
          <p:cNvSpPr txBox="1"/>
          <p:nvPr/>
        </p:nvSpPr>
        <p:spPr>
          <a:xfrm>
            <a:off x="3584177" y="1121142"/>
            <a:ext cx="336880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 prompt is the input you give an AI model to get the desired output, like 'Write a bash script for CPU monitoring'.</a:t>
            </a:r>
          </a:p>
        </p:txBody>
      </p:sp>
      <p:sp>
        <p:nvSpPr>
          <p:cNvPr id="423" name="StaticPath"/>
          <p:cNvSpPr/>
          <p:nvPr/>
        </p:nvSpPr>
        <p:spPr>
          <a:xfrm>
            <a:off x="640334" y="2360178"/>
            <a:ext cx="157164" cy="157164"/>
          </a:xfrm>
          <a:prstGeom prst="rect">
            <a:avLst/>
          </a:prstGeom>
          <a:solidFill>
            <a:srgbClr val="3F51B5"/>
          </a:solidFill>
          <a:ln w="12700">
            <a:miter lim="400000"/>
          </a:ln>
        </p:spPr>
        <p:txBody>
          <a:bodyPr lIns="45719" rIns="45719"/>
          <a:lstStyle/>
          <a:p>
            <a:pPr/>
          </a:p>
        </p:txBody>
      </p:sp>
      <p:sp>
        <p:nvSpPr>
          <p:cNvPr id="424" name="Subtitle 2"/>
          <p:cNvSpPr txBox="1"/>
          <p:nvPr/>
        </p:nvSpPr>
        <p:spPr>
          <a:xfrm>
            <a:off x="986521" y="2315593"/>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Crafting Effective Prompts</a:t>
            </a:r>
          </a:p>
        </p:txBody>
      </p:sp>
      <p:sp>
        <p:nvSpPr>
          <p:cNvPr id="425" name="Paragraph 2"/>
          <p:cNvSpPr txBox="1"/>
          <p:nvPr/>
        </p:nvSpPr>
        <p:spPr>
          <a:xfrm>
            <a:off x="3584177" y="2118743"/>
            <a:ext cx="286661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Be specific, include context, and define format to get accurate responses from LLMs.</a:t>
            </a:r>
          </a:p>
        </p:txBody>
      </p:sp>
      <p:sp>
        <p:nvSpPr>
          <p:cNvPr id="426" name="StaticPath"/>
          <p:cNvSpPr/>
          <p:nvPr/>
        </p:nvSpPr>
        <p:spPr>
          <a:xfrm>
            <a:off x="625475" y="3452314"/>
            <a:ext cx="157164" cy="157164"/>
          </a:xfrm>
          <a:prstGeom prst="rect">
            <a:avLst/>
          </a:prstGeom>
          <a:solidFill>
            <a:srgbClr val="3F51B5"/>
          </a:solidFill>
          <a:ln w="12700">
            <a:miter lim="400000"/>
          </a:ln>
        </p:spPr>
        <p:txBody>
          <a:bodyPr lIns="45719" rIns="45719"/>
          <a:lstStyle/>
          <a:p>
            <a:pPr/>
          </a:p>
        </p:txBody>
      </p:sp>
      <p:sp>
        <p:nvSpPr>
          <p:cNvPr id="427" name="Subtitle 3"/>
          <p:cNvSpPr txBox="1"/>
          <p:nvPr/>
        </p:nvSpPr>
        <p:spPr>
          <a:xfrm>
            <a:off x="986520" y="3516838"/>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DevOps Use Cases</a:t>
            </a:r>
          </a:p>
        </p:txBody>
      </p:sp>
      <p:sp>
        <p:nvSpPr>
          <p:cNvPr id="428" name="Paragraph 3"/>
          <p:cNvSpPr txBox="1"/>
          <p:nvPr/>
        </p:nvSpPr>
        <p:spPr>
          <a:xfrm>
            <a:off x="3584177" y="3319988"/>
            <a:ext cx="286661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From CI/CD pipelines to infrastructure provisioning, prompts can drive AI to generate useful artifacts instantly.</a:t>
            </a:r>
          </a:p>
        </p:txBody>
      </p:sp>
      <p:pic>
        <p:nvPicPr>
          <p:cNvPr id="429" name="Image" descr="Image"/>
          <p:cNvPicPr>
            <a:picLocks noChangeAspect="1"/>
          </p:cNvPicPr>
          <p:nvPr/>
        </p:nvPicPr>
        <p:blipFill>
          <a:blip r:embed="rId2">
            <a:extLst/>
          </a:blip>
          <a:stretch>
            <a:fillRect/>
          </a:stretch>
        </p:blipFill>
        <p:spPr>
          <a:xfrm>
            <a:off x="6799300" y="1806784"/>
            <a:ext cx="1655801" cy="1655801"/>
          </a:xfrm>
          <a:prstGeom prst="rect">
            <a:avLst/>
          </a:prstGeom>
          <a:ln w="12700">
            <a:miter lim="400000"/>
          </a:ln>
        </p:spPr>
      </p:pic>
    </p:spTree>
  </p:cSld>
  <p:clrMapOvr>
    <a:masterClrMapping/>
  </p:clrMapOvr>
  <p:transition xmlns:p14="http://schemas.microsoft.com/office/powerpoint/2010/main" spd="med" advClick="1"/>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1"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432"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433"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434" name="StaticPath"/>
          <p:cNvSpPr/>
          <p:nvPr/>
        </p:nvSpPr>
        <p:spPr>
          <a:xfrm>
            <a:off x="345708" y="1226996"/>
            <a:ext cx="9144001" cy="2943226"/>
          </a:xfrm>
          <a:prstGeom prst="rect">
            <a:avLst/>
          </a:prstGeom>
          <a:solidFill>
            <a:srgbClr val="3F51B5">
              <a:alpha val="10000"/>
            </a:srgbClr>
          </a:solidFill>
          <a:ln w="12700">
            <a:miter lim="400000"/>
          </a:ln>
        </p:spPr>
        <p:txBody>
          <a:bodyPr lIns="45719" rIns="45719"/>
          <a:lstStyle/>
          <a:p>
            <a:pPr/>
          </a:p>
        </p:txBody>
      </p:sp>
      <p:sp>
        <p:nvSpPr>
          <p:cNvPr id="435" name="Title"/>
          <p:cNvSpPr txBox="1"/>
          <p:nvPr/>
        </p:nvSpPr>
        <p:spPr>
          <a:xfrm>
            <a:off x="1080902" y="537464"/>
            <a:ext cx="6121814"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latin typeface="OpenSans-Regular"/>
                <a:ea typeface="OpenSans-Regular"/>
                <a:cs typeface="OpenSans-Regular"/>
                <a:sym typeface="OpenSans-Regular"/>
              </a:defRPr>
            </a:lvl1pPr>
          </a:lstStyle>
          <a:p>
            <a:pPr/>
            <a:r>
              <a:t>Traditional Automation vs AI-Driven</a:t>
            </a:r>
          </a:p>
        </p:txBody>
      </p:sp>
      <p:sp>
        <p:nvSpPr>
          <p:cNvPr id="436" name="StaticPath"/>
          <p:cNvSpPr/>
          <p:nvPr/>
        </p:nvSpPr>
        <p:spPr>
          <a:xfrm>
            <a:off x="626981" y="1310721"/>
            <a:ext cx="157164" cy="157164"/>
          </a:xfrm>
          <a:prstGeom prst="rect">
            <a:avLst/>
          </a:prstGeom>
          <a:solidFill>
            <a:srgbClr val="3F51B5"/>
          </a:solidFill>
          <a:ln w="12700">
            <a:miter lim="400000"/>
          </a:ln>
        </p:spPr>
        <p:txBody>
          <a:bodyPr lIns="45719" rIns="45719"/>
          <a:lstStyle/>
          <a:p>
            <a:pPr/>
          </a:p>
        </p:txBody>
      </p:sp>
      <p:sp>
        <p:nvSpPr>
          <p:cNvPr id="437" name="Subtitle 1"/>
          <p:cNvSpPr txBox="1"/>
          <p:nvPr/>
        </p:nvSpPr>
        <p:spPr>
          <a:xfrm>
            <a:off x="956022" y="1285186"/>
            <a:ext cx="267857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Rule-Based vs Intelligent</a:t>
            </a:r>
          </a:p>
        </p:txBody>
      </p:sp>
      <p:sp>
        <p:nvSpPr>
          <p:cNvPr id="438" name="Paragraph 1"/>
          <p:cNvSpPr txBox="1"/>
          <p:nvPr/>
        </p:nvSpPr>
        <p:spPr>
          <a:xfrm>
            <a:off x="3118961" y="1220274"/>
            <a:ext cx="3597496"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Traditional DevOps automation relies on predefined rules. AI can adapt and learn from new data, making decisions without explicit instructions.</a:t>
            </a:r>
          </a:p>
        </p:txBody>
      </p:sp>
      <p:sp>
        <p:nvSpPr>
          <p:cNvPr id="439" name="StaticPath"/>
          <p:cNvSpPr/>
          <p:nvPr/>
        </p:nvSpPr>
        <p:spPr>
          <a:xfrm>
            <a:off x="597120" y="2308322"/>
            <a:ext cx="157164" cy="157164"/>
          </a:xfrm>
          <a:prstGeom prst="rect">
            <a:avLst/>
          </a:prstGeom>
          <a:solidFill>
            <a:srgbClr val="3F51B5"/>
          </a:solidFill>
          <a:ln w="12700">
            <a:miter lim="400000"/>
          </a:ln>
        </p:spPr>
        <p:txBody>
          <a:bodyPr lIns="45719" rIns="45719"/>
          <a:lstStyle/>
          <a:p>
            <a:pPr/>
          </a:p>
        </p:txBody>
      </p:sp>
      <p:sp>
        <p:nvSpPr>
          <p:cNvPr id="440" name="Subtitle 2"/>
          <p:cNvSpPr txBox="1"/>
          <p:nvPr/>
        </p:nvSpPr>
        <p:spPr>
          <a:xfrm>
            <a:off x="943307" y="2193887"/>
            <a:ext cx="2691290"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Static Scripts vs Dynamic Generation</a:t>
            </a:r>
          </a:p>
        </p:txBody>
      </p:sp>
      <p:sp>
        <p:nvSpPr>
          <p:cNvPr id="441" name="Paragraph 2"/>
          <p:cNvSpPr txBox="1"/>
          <p:nvPr/>
        </p:nvSpPr>
        <p:spPr>
          <a:xfrm>
            <a:off x="3116760" y="2221230"/>
            <a:ext cx="3503580"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enables dynamic creation of scripts and configurations tailored to real-time inputs and context.</a:t>
            </a:r>
          </a:p>
        </p:txBody>
      </p:sp>
      <p:sp>
        <p:nvSpPr>
          <p:cNvPr id="442" name="StaticPath"/>
          <p:cNvSpPr/>
          <p:nvPr/>
        </p:nvSpPr>
        <p:spPr>
          <a:xfrm>
            <a:off x="582261" y="3400458"/>
            <a:ext cx="157164" cy="157164"/>
          </a:xfrm>
          <a:prstGeom prst="rect">
            <a:avLst/>
          </a:prstGeom>
          <a:solidFill>
            <a:srgbClr val="3F51B5"/>
          </a:solidFill>
          <a:ln w="12700">
            <a:miter lim="400000"/>
          </a:ln>
        </p:spPr>
        <p:txBody>
          <a:bodyPr lIns="45719" rIns="45719"/>
          <a:lstStyle/>
          <a:p>
            <a:pPr/>
          </a:p>
        </p:txBody>
      </p:sp>
      <p:sp>
        <p:nvSpPr>
          <p:cNvPr id="443" name="Subtitle 3"/>
          <p:cNvSpPr txBox="1"/>
          <p:nvPr/>
        </p:nvSpPr>
        <p:spPr>
          <a:xfrm>
            <a:off x="943306" y="3484032"/>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Error Handling &amp; Recovery</a:t>
            </a:r>
          </a:p>
        </p:txBody>
      </p:sp>
      <p:sp>
        <p:nvSpPr>
          <p:cNvPr id="444" name="Paragraph 3"/>
          <p:cNvSpPr txBox="1"/>
          <p:nvPr/>
        </p:nvSpPr>
        <p:spPr>
          <a:xfrm>
            <a:off x="3165919" y="3166532"/>
            <a:ext cx="3405262" cy="904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systems detect anomalies and recommend or execute recovery actions autonomously, reducing downtime and human effort.</a:t>
            </a:r>
          </a:p>
        </p:txBody>
      </p:sp>
      <p:pic>
        <p:nvPicPr>
          <p:cNvPr id="445" name="Image" descr="Image"/>
          <p:cNvPicPr>
            <a:picLocks noChangeAspect="1"/>
          </p:cNvPicPr>
          <p:nvPr/>
        </p:nvPicPr>
        <p:blipFill>
          <a:blip r:embed="rId2">
            <a:extLst/>
          </a:blip>
          <a:stretch>
            <a:fillRect/>
          </a:stretch>
        </p:blipFill>
        <p:spPr>
          <a:xfrm>
            <a:off x="6711177" y="1860307"/>
            <a:ext cx="1676603" cy="1676603"/>
          </a:xfrm>
          <a:prstGeom prst="rect">
            <a:avLst/>
          </a:prstGeom>
          <a:ln w="12700">
            <a:miter lim="400000"/>
          </a:ln>
        </p:spPr>
      </p:pic>
    </p:spTree>
  </p:cSld>
  <p:clrMapOvr>
    <a:masterClrMapping/>
  </p:clrMapOvr>
  <p:transition xmlns:p14="http://schemas.microsoft.com/office/powerpoint/2010/main" spd="med" advClick="1"/>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7"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448"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449"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450" name="StaticPath"/>
          <p:cNvSpPr/>
          <p:nvPr/>
        </p:nvSpPr>
        <p:spPr>
          <a:xfrm>
            <a:off x="345708" y="1226996"/>
            <a:ext cx="9144001" cy="2943226"/>
          </a:xfrm>
          <a:prstGeom prst="rect">
            <a:avLst/>
          </a:prstGeom>
          <a:solidFill>
            <a:srgbClr val="3F51B5">
              <a:alpha val="10000"/>
            </a:srgbClr>
          </a:solidFill>
          <a:ln w="12700">
            <a:miter lim="400000"/>
          </a:ln>
        </p:spPr>
        <p:txBody>
          <a:bodyPr lIns="45719" rIns="45719"/>
          <a:lstStyle/>
          <a:p>
            <a:pPr/>
          </a:p>
        </p:txBody>
      </p:sp>
      <p:sp>
        <p:nvSpPr>
          <p:cNvPr id="451" name="Title"/>
          <p:cNvSpPr txBox="1"/>
          <p:nvPr/>
        </p:nvSpPr>
        <p:spPr>
          <a:xfrm>
            <a:off x="1036266" y="548400"/>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GitHub Copilot</a:t>
            </a:r>
          </a:p>
        </p:txBody>
      </p:sp>
      <p:sp>
        <p:nvSpPr>
          <p:cNvPr id="452" name="StaticPath"/>
          <p:cNvSpPr/>
          <p:nvPr/>
        </p:nvSpPr>
        <p:spPr>
          <a:xfrm>
            <a:off x="549197" y="1535432"/>
            <a:ext cx="157164" cy="157164"/>
          </a:xfrm>
          <a:prstGeom prst="rect">
            <a:avLst/>
          </a:prstGeom>
          <a:solidFill>
            <a:srgbClr val="3F51B5"/>
          </a:solidFill>
          <a:ln w="12700">
            <a:miter lim="400000"/>
          </a:ln>
        </p:spPr>
        <p:txBody>
          <a:bodyPr lIns="45719" rIns="45719"/>
          <a:lstStyle/>
          <a:p>
            <a:pPr/>
          </a:p>
        </p:txBody>
      </p:sp>
      <p:sp>
        <p:nvSpPr>
          <p:cNvPr id="453" name="Subtitle 1"/>
          <p:cNvSpPr txBox="1"/>
          <p:nvPr/>
        </p:nvSpPr>
        <p:spPr>
          <a:xfrm>
            <a:off x="878238" y="1490847"/>
            <a:ext cx="2678574"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AI-Powered Code Assistant</a:t>
            </a:r>
          </a:p>
        </p:txBody>
      </p:sp>
      <p:sp>
        <p:nvSpPr>
          <p:cNvPr id="454" name="Paragraph 1"/>
          <p:cNvSpPr txBox="1"/>
          <p:nvPr/>
        </p:nvSpPr>
        <p:spPr>
          <a:xfrm>
            <a:off x="3454536" y="1395030"/>
            <a:ext cx="3375317"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GitHub Copilot suggests whole lines or blocks of code as you type, trained on public codebases, including shell and infra scripts.</a:t>
            </a:r>
          </a:p>
        </p:txBody>
      </p:sp>
      <p:sp>
        <p:nvSpPr>
          <p:cNvPr id="455" name="StaticPath"/>
          <p:cNvSpPr/>
          <p:nvPr/>
        </p:nvSpPr>
        <p:spPr>
          <a:xfrm>
            <a:off x="519336" y="2533033"/>
            <a:ext cx="157164" cy="157164"/>
          </a:xfrm>
          <a:prstGeom prst="rect">
            <a:avLst/>
          </a:prstGeom>
          <a:solidFill>
            <a:srgbClr val="3F51B5"/>
          </a:solidFill>
          <a:ln w="12700">
            <a:miter lim="400000"/>
          </a:ln>
        </p:spPr>
        <p:txBody>
          <a:bodyPr lIns="45719" rIns="45719"/>
          <a:lstStyle/>
          <a:p>
            <a:pPr/>
          </a:p>
        </p:txBody>
      </p:sp>
      <p:sp>
        <p:nvSpPr>
          <p:cNvPr id="456" name="Subtitle 2"/>
          <p:cNvSpPr txBox="1"/>
          <p:nvPr/>
        </p:nvSpPr>
        <p:spPr>
          <a:xfrm>
            <a:off x="865523" y="2488448"/>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DevOps Use Cases</a:t>
            </a:r>
          </a:p>
        </p:txBody>
      </p:sp>
      <p:sp>
        <p:nvSpPr>
          <p:cNvPr id="457" name="Paragraph 2"/>
          <p:cNvSpPr txBox="1"/>
          <p:nvPr/>
        </p:nvSpPr>
        <p:spPr>
          <a:xfrm>
            <a:off x="3442486" y="2401440"/>
            <a:ext cx="3249254"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Copilot helps with writing CI/CD scripts, Dockerfiles, and configuration management in YAML or JSON.</a:t>
            </a:r>
          </a:p>
        </p:txBody>
      </p:sp>
      <p:sp>
        <p:nvSpPr>
          <p:cNvPr id="458" name="StaticPath"/>
          <p:cNvSpPr/>
          <p:nvPr/>
        </p:nvSpPr>
        <p:spPr>
          <a:xfrm>
            <a:off x="504477" y="3625169"/>
            <a:ext cx="157164" cy="157164"/>
          </a:xfrm>
          <a:prstGeom prst="rect">
            <a:avLst/>
          </a:prstGeom>
          <a:solidFill>
            <a:srgbClr val="3F51B5"/>
          </a:solidFill>
          <a:ln w="12700">
            <a:miter lim="400000"/>
          </a:ln>
        </p:spPr>
        <p:txBody>
          <a:bodyPr lIns="45719" rIns="45719"/>
          <a:lstStyle/>
          <a:p>
            <a:pPr/>
          </a:p>
        </p:txBody>
      </p:sp>
      <p:sp>
        <p:nvSpPr>
          <p:cNvPr id="459" name="Subtitle 3"/>
          <p:cNvSpPr txBox="1"/>
          <p:nvPr/>
        </p:nvSpPr>
        <p:spPr>
          <a:xfrm>
            <a:off x="865522" y="3689693"/>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Pros &amp; Watch-outs</a:t>
            </a:r>
          </a:p>
        </p:txBody>
      </p:sp>
      <p:sp>
        <p:nvSpPr>
          <p:cNvPr id="460" name="Paragraph 3"/>
          <p:cNvSpPr txBox="1"/>
          <p:nvPr/>
        </p:nvSpPr>
        <p:spPr>
          <a:xfrm>
            <a:off x="3442486" y="3485482"/>
            <a:ext cx="3249254"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Accelerates development, but results should be reviewed for accuracy and security, especially in ops code.</a:t>
            </a:r>
          </a:p>
        </p:txBody>
      </p:sp>
      <p:pic>
        <p:nvPicPr>
          <p:cNvPr id="461" name="Image" descr="Image"/>
          <p:cNvPicPr>
            <a:picLocks noChangeAspect="1"/>
          </p:cNvPicPr>
          <p:nvPr/>
        </p:nvPicPr>
        <p:blipFill>
          <a:blip r:embed="rId2">
            <a:extLst/>
          </a:blip>
          <a:stretch>
            <a:fillRect/>
          </a:stretch>
        </p:blipFill>
        <p:spPr>
          <a:xfrm>
            <a:off x="6673760" y="2221822"/>
            <a:ext cx="1681542" cy="1681541"/>
          </a:xfrm>
          <a:prstGeom prst="rect">
            <a:avLst/>
          </a:prstGeom>
          <a:ln w="12700">
            <a:miter lim="400000"/>
          </a:ln>
        </p:spPr>
      </p:pic>
    </p:spTree>
  </p:cSld>
  <p:clrMapOvr>
    <a:masterClrMapping/>
  </p:clrMapOvr>
  <p:transition xmlns:p14="http://schemas.microsoft.com/office/powerpoint/2010/main" spd="med" advClick="1"/>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3"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464"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465"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466" name="StaticPath"/>
          <p:cNvSpPr/>
          <p:nvPr/>
        </p:nvSpPr>
        <p:spPr>
          <a:xfrm>
            <a:off x="345708" y="1226996"/>
            <a:ext cx="9144001" cy="2943226"/>
          </a:xfrm>
          <a:prstGeom prst="rect">
            <a:avLst/>
          </a:prstGeom>
          <a:solidFill>
            <a:srgbClr val="3F51B5">
              <a:alpha val="10000"/>
            </a:srgbClr>
          </a:solidFill>
          <a:ln w="12700">
            <a:miter lim="400000"/>
          </a:ln>
        </p:spPr>
        <p:txBody>
          <a:bodyPr lIns="45719" rIns="45719"/>
          <a:lstStyle/>
          <a:p>
            <a:pPr/>
          </a:p>
        </p:txBody>
      </p:sp>
      <p:sp>
        <p:nvSpPr>
          <p:cNvPr id="467" name="Title"/>
          <p:cNvSpPr txBox="1"/>
          <p:nvPr/>
        </p:nvSpPr>
        <p:spPr>
          <a:xfrm>
            <a:off x="1093628" y="548411"/>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Amazon CodeWhisperer</a:t>
            </a:r>
          </a:p>
        </p:txBody>
      </p:sp>
      <p:sp>
        <p:nvSpPr>
          <p:cNvPr id="468" name="StaticPath"/>
          <p:cNvSpPr/>
          <p:nvPr/>
        </p:nvSpPr>
        <p:spPr>
          <a:xfrm>
            <a:off x="531911" y="1544074"/>
            <a:ext cx="157164" cy="157164"/>
          </a:xfrm>
          <a:prstGeom prst="rect">
            <a:avLst/>
          </a:prstGeom>
          <a:solidFill>
            <a:srgbClr val="3F51B5"/>
          </a:solidFill>
          <a:ln w="12700">
            <a:miter lim="400000"/>
          </a:ln>
        </p:spPr>
        <p:txBody>
          <a:bodyPr lIns="45719" rIns="45719"/>
          <a:lstStyle/>
          <a:p>
            <a:pPr/>
          </a:p>
        </p:txBody>
      </p:sp>
      <p:sp>
        <p:nvSpPr>
          <p:cNvPr id="469" name="Subtitle 1"/>
          <p:cNvSpPr txBox="1"/>
          <p:nvPr/>
        </p:nvSpPr>
        <p:spPr>
          <a:xfrm>
            <a:off x="860952" y="1404239"/>
            <a:ext cx="2678575"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Developer-Focused AI Suggestions</a:t>
            </a:r>
          </a:p>
        </p:txBody>
      </p:sp>
      <p:sp>
        <p:nvSpPr>
          <p:cNvPr id="470" name="Paragraph 1"/>
          <p:cNvSpPr txBox="1"/>
          <p:nvPr/>
        </p:nvSpPr>
        <p:spPr>
          <a:xfrm>
            <a:off x="3342181" y="1255015"/>
            <a:ext cx="3563498"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Amazon CodeWhisperer is an AI coding companion that provides real-time code recommendations tailored to AWS services.</a:t>
            </a:r>
          </a:p>
        </p:txBody>
      </p:sp>
      <p:sp>
        <p:nvSpPr>
          <p:cNvPr id="471" name="StaticPath"/>
          <p:cNvSpPr/>
          <p:nvPr/>
        </p:nvSpPr>
        <p:spPr>
          <a:xfrm>
            <a:off x="502050" y="2541676"/>
            <a:ext cx="157164" cy="157164"/>
          </a:xfrm>
          <a:prstGeom prst="rect">
            <a:avLst/>
          </a:prstGeom>
          <a:solidFill>
            <a:srgbClr val="3F51B5"/>
          </a:solidFill>
          <a:ln w="12700">
            <a:miter lim="400000"/>
          </a:ln>
        </p:spPr>
        <p:txBody>
          <a:bodyPr lIns="45719" rIns="45719"/>
          <a:lstStyle/>
          <a:p>
            <a:pPr/>
          </a:p>
        </p:txBody>
      </p:sp>
      <p:sp>
        <p:nvSpPr>
          <p:cNvPr id="472" name="Subtitle 2"/>
          <p:cNvSpPr txBox="1"/>
          <p:nvPr/>
        </p:nvSpPr>
        <p:spPr>
          <a:xfrm>
            <a:off x="848237" y="2503441"/>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DevOps-Relevant Features</a:t>
            </a:r>
          </a:p>
        </p:txBody>
      </p:sp>
      <p:sp>
        <p:nvSpPr>
          <p:cNvPr id="473" name="Paragraph 2"/>
          <p:cNvSpPr txBox="1"/>
          <p:nvPr/>
        </p:nvSpPr>
        <p:spPr>
          <a:xfrm>
            <a:off x="3330131" y="2261425"/>
            <a:ext cx="3365559"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Supports languages like Python, Bash, and JavaScript—useful for scripting automation and managing infrastructure.</a:t>
            </a:r>
          </a:p>
        </p:txBody>
      </p:sp>
      <p:sp>
        <p:nvSpPr>
          <p:cNvPr id="474" name="StaticPath"/>
          <p:cNvSpPr/>
          <p:nvPr/>
        </p:nvSpPr>
        <p:spPr>
          <a:xfrm>
            <a:off x="487191" y="3633811"/>
            <a:ext cx="157164" cy="157164"/>
          </a:xfrm>
          <a:prstGeom prst="rect">
            <a:avLst/>
          </a:prstGeom>
          <a:solidFill>
            <a:srgbClr val="3F51B5"/>
          </a:solidFill>
          <a:ln w="12700">
            <a:miter lim="400000"/>
          </a:ln>
        </p:spPr>
        <p:txBody>
          <a:bodyPr lIns="45719" rIns="45719"/>
          <a:lstStyle/>
          <a:p>
            <a:pPr/>
          </a:p>
        </p:txBody>
      </p:sp>
      <p:sp>
        <p:nvSpPr>
          <p:cNvPr id="475" name="Subtitle 3"/>
          <p:cNvSpPr txBox="1"/>
          <p:nvPr/>
        </p:nvSpPr>
        <p:spPr>
          <a:xfrm>
            <a:off x="848236" y="3704685"/>
            <a:ext cx="269129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Enterprise Ready</a:t>
            </a:r>
          </a:p>
        </p:txBody>
      </p:sp>
      <p:sp>
        <p:nvSpPr>
          <p:cNvPr id="476" name="Paragraph 3"/>
          <p:cNvSpPr txBox="1"/>
          <p:nvPr/>
        </p:nvSpPr>
        <p:spPr>
          <a:xfrm>
            <a:off x="3330131" y="3345466"/>
            <a:ext cx="3587598"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Offers integrations with AWS IAM, logging, and enterprise-grade security for DevOps workflows.</a:t>
            </a:r>
          </a:p>
        </p:txBody>
      </p:sp>
      <p:pic>
        <p:nvPicPr>
          <p:cNvPr id="477" name="Image" descr="Image"/>
          <p:cNvPicPr>
            <a:picLocks noChangeAspect="1"/>
          </p:cNvPicPr>
          <p:nvPr/>
        </p:nvPicPr>
        <p:blipFill>
          <a:blip r:embed="rId2">
            <a:extLst/>
          </a:blip>
          <a:stretch>
            <a:fillRect/>
          </a:stretch>
        </p:blipFill>
        <p:spPr>
          <a:xfrm>
            <a:off x="6841523" y="1590270"/>
            <a:ext cx="1613033" cy="1613033"/>
          </a:xfrm>
          <a:prstGeom prst="rect">
            <a:avLst/>
          </a:prstGeom>
          <a:ln w="12700">
            <a:miter lim="400000"/>
          </a:ln>
        </p:spPr>
      </p:pic>
    </p:spTree>
  </p:cSld>
  <p:clrMapOvr>
    <a:masterClrMapping/>
  </p:clrMapOvr>
  <p:transition xmlns:p14="http://schemas.microsoft.com/office/powerpoint/2010/main" spd="med" advClick="1"/>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9"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480"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481"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482" name="Title"/>
          <p:cNvSpPr txBox="1"/>
          <p:nvPr/>
        </p:nvSpPr>
        <p:spPr>
          <a:xfrm>
            <a:off x="1023379" y="608899"/>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OpenAI API</a:t>
            </a:r>
          </a:p>
        </p:txBody>
      </p:sp>
      <p:sp>
        <p:nvSpPr>
          <p:cNvPr id="483" name="StaticPath"/>
          <p:cNvSpPr/>
          <p:nvPr/>
        </p:nvSpPr>
        <p:spPr>
          <a:xfrm>
            <a:off x="601053" y="1379863"/>
            <a:ext cx="157164" cy="157164"/>
          </a:xfrm>
          <a:prstGeom prst="rect">
            <a:avLst/>
          </a:prstGeom>
          <a:solidFill>
            <a:srgbClr val="3F51B5"/>
          </a:solidFill>
          <a:ln w="12700">
            <a:miter lim="400000"/>
          </a:ln>
        </p:spPr>
        <p:txBody>
          <a:bodyPr lIns="45719" rIns="45719"/>
          <a:lstStyle/>
          <a:p>
            <a:pPr/>
          </a:p>
        </p:txBody>
      </p:sp>
      <p:sp>
        <p:nvSpPr>
          <p:cNvPr id="484" name="Subtitle 1"/>
          <p:cNvSpPr txBox="1"/>
          <p:nvPr/>
        </p:nvSpPr>
        <p:spPr>
          <a:xfrm>
            <a:off x="930094" y="1335278"/>
            <a:ext cx="2678574"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Flexible LLM Capabilities</a:t>
            </a:r>
          </a:p>
        </p:txBody>
      </p:sp>
      <p:sp>
        <p:nvSpPr>
          <p:cNvPr id="485" name="Paragraph 1"/>
          <p:cNvSpPr txBox="1"/>
          <p:nvPr/>
        </p:nvSpPr>
        <p:spPr>
          <a:xfrm>
            <a:off x="3281682" y="1311308"/>
            <a:ext cx="369729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OpenAI's GPT-based API allows DevOps teams to integrate intelligent chat, document generation, and scripting assistance into tools.</a:t>
            </a:r>
          </a:p>
        </p:txBody>
      </p:sp>
      <p:sp>
        <p:nvSpPr>
          <p:cNvPr id="486" name="StaticPath"/>
          <p:cNvSpPr/>
          <p:nvPr/>
        </p:nvSpPr>
        <p:spPr>
          <a:xfrm>
            <a:off x="571192" y="2377464"/>
            <a:ext cx="157164" cy="157164"/>
          </a:xfrm>
          <a:prstGeom prst="rect">
            <a:avLst/>
          </a:prstGeom>
          <a:solidFill>
            <a:srgbClr val="3F51B5"/>
          </a:solidFill>
          <a:ln w="12700">
            <a:miter lim="400000"/>
          </a:ln>
        </p:spPr>
        <p:txBody>
          <a:bodyPr lIns="45719" rIns="45719"/>
          <a:lstStyle/>
          <a:p>
            <a:pPr/>
          </a:p>
        </p:txBody>
      </p:sp>
      <p:sp>
        <p:nvSpPr>
          <p:cNvPr id="487" name="Subtitle 2"/>
          <p:cNvSpPr txBox="1"/>
          <p:nvPr/>
        </p:nvSpPr>
        <p:spPr>
          <a:xfrm>
            <a:off x="917379" y="2332879"/>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DevOps Integration</a:t>
            </a:r>
          </a:p>
        </p:txBody>
      </p:sp>
      <p:sp>
        <p:nvSpPr>
          <p:cNvPr id="488" name="Paragraph 2"/>
          <p:cNvSpPr txBox="1"/>
          <p:nvPr/>
        </p:nvSpPr>
        <p:spPr>
          <a:xfrm>
            <a:off x="3269632" y="2317718"/>
            <a:ext cx="343676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Useful for log summarization, YAML generation, and explaining error messages in plain English.</a:t>
            </a:r>
          </a:p>
        </p:txBody>
      </p:sp>
      <p:sp>
        <p:nvSpPr>
          <p:cNvPr id="489" name="StaticPath"/>
          <p:cNvSpPr/>
          <p:nvPr/>
        </p:nvSpPr>
        <p:spPr>
          <a:xfrm>
            <a:off x="556333" y="3469600"/>
            <a:ext cx="157164" cy="157164"/>
          </a:xfrm>
          <a:prstGeom prst="rect">
            <a:avLst/>
          </a:prstGeom>
          <a:solidFill>
            <a:srgbClr val="3F51B5"/>
          </a:solidFill>
          <a:ln w="12700">
            <a:miter lim="400000"/>
          </a:ln>
        </p:spPr>
        <p:txBody>
          <a:bodyPr lIns="45719" rIns="45719"/>
          <a:lstStyle/>
          <a:p>
            <a:pPr/>
          </a:p>
        </p:txBody>
      </p:sp>
      <p:sp>
        <p:nvSpPr>
          <p:cNvPr id="490" name="Subtitle 3"/>
          <p:cNvSpPr txBox="1"/>
          <p:nvPr/>
        </p:nvSpPr>
        <p:spPr>
          <a:xfrm>
            <a:off x="917378" y="3534124"/>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Use Responsibly</a:t>
            </a:r>
          </a:p>
        </p:txBody>
      </p:sp>
      <p:sp>
        <p:nvSpPr>
          <p:cNvPr id="491" name="Paragraph 3"/>
          <p:cNvSpPr txBox="1"/>
          <p:nvPr/>
        </p:nvSpPr>
        <p:spPr>
          <a:xfrm>
            <a:off x="3269632" y="3401759"/>
            <a:ext cx="3436761"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While powerful, API usage should include safety guards, token limits, and audit trails in DevOps environments.</a:t>
            </a:r>
          </a:p>
        </p:txBody>
      </p:sp>
      <p:pic>
        <p:nvPicPr>
          <p:cNvPr id="492" name="Image" descr="Image"/>
          <p:cNvPicPr>
            <a:picLocks noChangeAspect="1"/>
          </p:cNvPicPr>
          <p:nvPr/>
        </p:nvPicPr>
        <p:blipFill>
          <a:blip r:embed="rId2">
            <a:extLst/>
          </a:blip>
          <a:stretch>
            <a:fillRect/>
          </a:stretch>
        </p:blipFill>
        <p:spPr>
          <a:xfrm>
            <a:off x="6933196" y="1801320"/>
            <a:ext cx="1733837" cy="1733837"/>
          </a:xfrm>
          <a:prstGeom prst="rect">
            <a:avLst/>
          </a:prstGeom>
          <a:ln w="12700">
            <a:miter lim="400000"/>
          </a:ln>
        </p:spPr>
      </p:pic>
    </p:spTree>
  </p:cSld>
  <p:clrMapOvr>
    <a:masterClrMapping/>
  </p:clrMapOvr>
  <p:transition xmlns:p14="http://schemas.microsoft.com/office/powerpoint/2010/main" spd="med" advClick="1"/>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4"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495"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496"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497" name="Title"/>
          <p:cNvSpPr txBox="1"/>
          <p:nvPr/>
        </p:nvSpPr>
        <p:spPr>
          <a:xfrm>
            <a:off x="1024486" y="303094"/>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Ansible + AI Integrations</a:t>
            </a:r>
          </a:p>
        </p:txBody>
      </p:sp>
      <p:sp>
        <p:nvSpPr>
          <p:cNvPr id="498" name="StaticPath"/>
          <p:cNvSpPr/>
          <p:nvPr/>
        </p:nvSpPr>
        <p:spPr>
          <a:xfrm>
            <a:off x="557840" y="1302078"/>
            <a:ext cx="157164" cy="157164"/>
          </a:xfrm>
          <a:prstGeom prst="rect">
            <a:avLst/>
          </a:prstGeom>
          <a:solidFill>
            <a:srgbClr val="3F51B5"/>
          </a:solidFill>
          <a:ln w="12700">
            <a:miter lim="400000"/>
          </a:ln>
        </p:spPr>
        <p:txBody>
          <a:bodyPr lIns="45719" rIns="45719"/>
          <a:lstStyle/>
          <a:p>
            <a:pPr/>
          </a:p>
        </p:txBody>
      </p:sp>
      <p:sp>
        <p:nvSpPr>
          <p:cNvPr id="499" name="Subtitle 1"/>
          <p:cNvSpPr txBox="1"/>
          <p:nvPr/>
        </p:nvSpPr>
        <p:spPr>
          <a:xfrm>
            <a:off x="886881" y="1276543"/>
            <a:ext cx="2678574"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Smart Configuration Management</a:t>
            </a:r>
          </a:p>
        </p:txBody>
      </p:sp>
      <p:sp>
        <p:nvSpPr>
          <p:cNvPr id="500" name="Paragraph 1"/>
          <p:cNvSpPr txBox="1"/>
          <p:nvPr/>
        </p:nvSpPr>
        <p:spPr>
          <a:xfrm>
            <a:off x="3540963" y="1103883"/>
            <a:ext cx="3501649"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Ansible modules can be extended with AI to predict deployment issues, validate playbooks, and generate templated configs.</a:t>
            </a:r>
          </a:p>
        </p:txBody>
      </p:sp>
      <p:sp>
        <p:nvSpPr>
          <p:cNvPr id="501" name="StaticPath"/>
          <p:cNvSpPr/>
          <p:nvPr/>
        </p:nvSpPr>
        <p:spPr>
          <a:xfrm>
            <a:off x="527979" y="2299679"/>
            <a:ext cx="157164" cy="157164"/>
          </a:xfrm>
          <a:prstGeom prst="rect">
            <a:avLst/>
          </a:prstGeom>
          <a:solidFill>
            <a:srgbClr val="3F51B5"/>
          </a:solidFill>
          <a:ln w="12700">
            <a:miter lim="400000"/>
          </a:ln>
        </p:spPr>
        <p:txBody>
          <a:bodyPr lIns="45719" rIns="45719"/>
          <a:lstStyle/>
          <a:p>
            <a:pPr/>
          </a:p>
        </p:txBody>
      </p:sp>
      <p:sp>
        <p:nvSpPr>
          <p:cNvPr id="502" name="Subtitle 2"/>
          <p:cNvSpPr txBox="1"/>
          <p:nvPr/>
        </p:nvSpPr>
        <p:spPr>
          <a:xfrm>
            <a:off x="874166" y="2274144"/>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Intelligent Playbook Reviews</a:t>
            </a:r>
          </a:p>
        </p:txBody>
      </p:sp>
      <p:sp>
        <p:nvSpPr>
          <p:cNvPr id="503" name="Paragraph 2"/>
          <p:cNvSpPr txBox="1"/>
          <p:nvPr/>
        </p:nvSpPr>
        <p:spPr>
          <a:xfrm>
            <a:off x="3528913" y="2110292"/>
            <a:ext cx="3380246"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can audit or suggest improvements in playbooks based on past runbooks and common patterns.</a:t>
            </a:r>
          </a:p>
        </p:txBody>
      </p:sp>
      <p:sp>
        <p:nvSpPr>
          <p:cNvPr id="504" name="StaticPath"/>
          <p:cNvSpPr/>
          <p:nvPr/>
        </p:nvSpPr>
        <p:spPr>
          <a:xfrm>
            <a:off x="513120" y="3506115"/>
            <a:ext cx="157164" cy="157164"/>
          </a:xfrm>
          <a:prstGeom prst="rect">
            <a:avLst/>
          </a:prstGeom>
          <a:solidFill>
            <a:srgbClr val="3F51B5"/>
          </a:solidFill>
          <a:ln w="12700">
            <a:miter lim="400000"/>
          </a:ln>
        </p:spPr>
        <p:txBody>
          <a:bodyPr lIns="45719" rIns="45719"/>
          <a:lstStyle/>
          <a:p>
            <a:pPr/>
          </a:p>
        </p:txBody>
      </p:sp>
      <p:sp>
        <p:nvSpPr>
          <p:cNvPr id="505" name="Subtitle 3"/>
          <p:cNvSpPr txBox="1"/>
          <p:nvPr/>
        </p:nvSpPr>
        <p:spPr>
          <a:xfrm>
            <a:off x="874165" y="3475389"/>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Faster Remediation</a:t>
            </a:r>
          </a:p>
        </p:txBody>
      </p:sp>
      <p:sp>
        <p:nvSpPr>
          <p:cNvPr id="506" name="Paragraph 3"/>
          <p:cNvSpPr txBox="1"/>
          <p:nvPr/>
        </p:nvSpPr>
        <p:spPr>
          <a:xfrm>
            <a:off x="3528913" y="3295934"/>
            <a:ext cx="3525749"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 tools can read Ansible logs and recommend fixes for failed runs automatically.</a:t>
            </a:r>
          </a:p>
        </p:txBody>
      </p:sp>
      <p:pic>
        <p:nvPicPr>
          <p:cNvPr id="507" name="Image" descr="Image"/>
          <p:cNvPicPr>
            <a:picLocks noChangeAspect="1"/>
          </p:cNvPicPr>
          <p:nvPr/>
        </p:nvPicPr>
        <p:blipFill>
          <a:blip r:embed="rId2">
            <a:extLst/>
          </a:blip>
          <a:stretch>
            <a:fillRect/>
          </a:stretch>
        </p:blipFill>
        <p:spPr>
          <a:xfrm>
            <a:off x="6812185" y="1637096"/>
            <a:ext cx="1647435" cy="1647434"/>
          </a:xfrm>
          <a:prstGeom prst="rect">
            <a:avLst/>
          </a:prstGeom>
          <a:ln w="12700">
            <a:miter lim="400000"/>
          </a:ln>
        </p:spPr>
      </p:pic>
    </p:spTree>
  </p:cSld>
  <p:clrMapOvr>
    <a:masterClrMapping/>
  </p:clrMapOvr>
  <p:transition xmlns:p14="http://schemas.microsoft.com/office/powerpoint/2010/main" spd="med" advClick="1"/>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9" name="StaticPath"/>
          <p:cNvSpPr/>
          <p:nvPr/>
        </p:nvSpPr>
        <p:spPr>
          <a:xfrm>
            <a:off x="7143750" y="0"/>
            <a:ext cx="2000250" cy="5143500"/>
          </a:xfrm>
          <a:prstGeom prst="rect">
            <a:avLst/>
          </a:prstGeom>
          <a:solidFill>
            <a:srgbClr val="FF9800"/>
          </a:solidFill>
          <a:ln w="12700">
            <a:miter lim="400000"/>
          </a:ln>
        </p:spPr>
        <p:txBody>
          <a:bodyPr lIns="45719" rIns="45719"/>
          <a:lstStyle/>
          <a:p>
            <a:pPr/>
          </a:p>
        </p:txBody>
      </p:sp>
      <p:sp>
        <p:nvSpPr>
          <p:cNvPr id="510"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511"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512" name="Title"/>
          <p:cNvSpPr txBox="1"/>
          <p:nvPr/>
        </p:nvSpPr>
        <p:spPr>
          <a:xfrm>
            <a:off x="895302" y="453330"/>
            <a:ext cx="6121814"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Kubernetes with AI Monitoring</a:t>
            </a:r>
          </a:p>
        </p:txBody>
      </p:sp>
      <p:sp>
        <p:nvSpPr>
          <p:cNvPr id="513" name="StaticPath"/>
          <p:cNvSpPr/>
          <p:nvPr/>
        </p:nvSpPr>
        <p:spPr>
          <a:xfrm>
            <a:off x="670195" y="1302078"/>
            <a:ext cx="157164" cy="157164"/>
          </a:xfrm>
          <a:prstGeom prst="rect">
            <a:avLst/>
          </a:prstGeom>
          <a:solidFill>
            <a:srgbClr val="3F51B5"/>
          </a:solidFill>
          <a:ln w="12700">
            <a:miter lim="400000"/>
          </a:ln>
        </p:spPr>
        <p:txBody>
          <a:bodyPr lIns="45719" rIns="45719"/>
          <a:lstStyle/>
          <a:p>
            <a:pPr/>
          </a:p>
        </p:txBody>
      </p:sp>
      <p:sp>
        <p:nvSpPr>
          <p:cNvPr id="514" name="Subtitle 1"/>
          <p:cNvSpPr txBox="1"/>
          <p:nvPr/>
        </p:nvSpPr>
        <p:spPr>
          <a:xfrm>
            <a:off x="999236" y="1187643"/>
            <a:ext cx="2678574"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Complex System, Smarter Monitoring</a:t>
            </a:r>
          </a:p>
        </p:txBody>
      </p:sp>
      <p:sp>
        <p:nvSpPr>
          <p:cNvPr id="515" name="Paragraph 1"/>
          <p:cNvSpPr txBox="1"/>
          <p:nvPr/>
        </p:nvSpPr>
        <p:spPr>
          <a:xfrm>
            <a:off x="3065614" y="1095240"/>
            <a:ext cx="3933210"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AI-enhanced monitoring solutions can detect issues in Kubernetes clusters before they escalate by analyzing logs, metrics, and trends.</a:t>
            </a:r>
          </a:p>
        </p:txBody>
      </p:sp>
      <p:sp>
        <p:nvSpPr>
          <p:cNvPr id="516" name="StaticPath"/>
          <p:cNvSpPr/>
          <p:nvPr/>
        </p:nvSpPr>
        <p:spPr>
          <a:xfrm>
            <a:off x="640334" y="2299679"/>
            <a:ext cx="157164" cy="157164"/>
          </a:xfrm>
          <a:prstGeom prst="rect">
            <a:avLst/>
          </a:prstGeom>
          <a:solidFill>
            <a:srgbClr val="3F51B5"/>
          </a:solidFill>
          <a:ln w="12700">
            <a:miter lim="400000"/>
          </a:ln>
        </p:spPr>
        <p:txBody>
          <a:bodyPr lIns="45719" rIns="45719"/>
          <a:lstStyle/>
          <a:p>
            <a:pPr/>
          </a:p>
        </p:txBody>
      </p:sp>
      <p:sp>
        <p:nvSpPr>
          <p:cNvPr id="517" name="Subtitle 2"/>
          <p:cNvSpPr txBox="1"/>
          <p:nvPr/>
        </p:nvSpPr>
        <p:spPr>
          <a:xfrm>
            <a:off x="986521" y="2274144"/>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Root Cause Analysis</a:t>
            </a:r>
          </a:p>
        </p:txBody>
      </p:sp>
      <p:sp>
        <p:nvSpPr>
          <p:cNvPr id="518" name="Paragraph 2"/>
          <p:cNvSpPr txBox="1"/>
          <p:nvPr/>
        </p:nvSpPr>
        <p:spPr>
          <a:xfrm>
            <a:off x="3053564" y="2101650"/>
            <a:ext cx="3853265" cy="701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Machine learning models help trace performance issues to their source faster than traditional dashboards.</a:t>
            </a:r>
          </a:p>
        </p:txBody>
      </p:sp>
      <p:sp>
        <p:nvSpPr>
          <p:cNvPr id="519" name="StaticPath"/>
          <p:cNvSpPr/>
          <p:nvPr/>
        </p:nvSpPr>
        <p:spPr>
          <a:xfrm>
            <a:off x="625475" y="3391815"/>
            <a:ext cx="157164" cy="157164"/>
          </a:xfrm>
          <a:prstGeom prst="rect">
            <a:avLst/>
          </a:prstGeom>
          <a:solidFill>
            <a:srgbClr val="3F51B5"/>
          </a:solidFill>
          <a:ln w="12700">
            <a:miter lim="400000"/>
          </a:ln>
        </p:spPr>
        <p:txBody>
          <a:bodyPr lIns="45719" rIns="45719"/>
          <a:lstStyle/>
          <a:p>
            <a:pPr/>
          </a:p>
        </p:txBody>
      </p:sp>
      <p:sp>
        <p:nvSpPr>
          <p:cNvPr id="520" name="Subtitle 3"/>
          <p:cNvSpPr txBox="1"/>
          <p:nvPr/>
        </p:nvSpPr>
        <p:spPr>
          <a:xfrm>
            <a:off x="986520" y="3475389"/>
            <a:ext cx="2691290" cy="269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200">
                <a:latin typeface="OpenSans-Bold"/>
                <a:ea typeface="OpenSans-Bold"/>
                <a:cs typeface="OpenSans-Bold"/>
                <a:sym typeface="OpenSans-Bold"/>
              </a:defRPr>
            </a:lvl1pPr>
          </a:lstStyle>
          <a:p>
            <a:pPr/>
            <a:r>
              <a:t>Better Scaling Decisions</a:t>
            </a:r>
          </a:p>
        </p:txBody>
      </p:sp>
      <p:sp>
        <p:nvSpPr>
          <p:cNvPr id="521" name="Paragraph 3"/>
          <p:cNvSpPr txBox="1"/>
          <p:nvPr/>
        </p:nvSpPr>
        <p:spPr>
          <a:xfrm>
            <a:off x="3053564" y="3287292"/>
            <a:ext cx="3573052"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Predictive scaling uses AI to allocate or remove resources proactively based on usage patterns.</a:t>
            </a:r>
          </a:p>
        </p:txBody>
      </p:sp>
      <p:pic>
        <p:nvPicPr>
          <p:cNvPr id="522" name="Image" descr="Image"/>
          <p:cNvPicPr>
            <a:picLocks noChangeAspect="1"/>
          </p:cNvPicPr>
          <p:nvPr/>
        </p:nvPicPr>
        <p:blipFill>
          <a:blip r:embed="rId2">
            <a:extLst/>
          </a:blip>
          <a:stretch>
            <a:fillRect/>
          </a:stretch>
        </p:blipFill>
        <p:spPr>
          <a:xfrm>
            <a:off x="6825788" y="1817865"/>
            <a:ext cx="1507770" cy="1507770"/>
          </a:xfrm>
          <a:prstGeom prst="rect">
            <a:avLst/>
          </a:prstGeom>
          <a:ln w="12700">
            <a:miter lim="400000"/>
          </a:ln>
        </p:spPr>
      </p:pic>
    </p:spTree>
  </p:cSld>
  <p:clrMapOvr>
    <a:masterClrMapping/>
  </p:clrMapOvr>
  <p:transition xmlns:p14="http://schemas.microsoft.com/office/powerpoint/2010/main" spd="med" advClick="1"/>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4" name="StaticPath"/>
          <p:cNvSpPr/>
          <p:nvPr/>
        </p:nvSpPr>
        <p:spPr>
          <a:xfrm>
            <a:off x="7204249" y="0"/>
            <a:ext cx="2000251" cy="5143501"/>
          </a:xfrm>
          <a:prstGeom prst="rect">
            <a:avLst/>
          </a:prstGeom>
          <a:solidFill>
            <a:srgbClr val="FF9800"/>
          </a:solidFill>
          <a:ln w="12700">
            <a:miter lim="400000"/>
          </a:ln>
        </p:spPr>
        <p:txBody>
          <a:bodyPr lIns="45719" rIns="45719"/>
          <a:lstStyle/>
          <a:p>
            <a:pPr/>
          </a:p>
        </p:txBody>
      </p:sp>
      <p:sp>
        <p:nvSpPr>
          <p:cNvPr id="525" name="StaticPath"/>
          <p:cNvSpPr/>
          <p:nvPr/>
        </p:nvSpPr>
        <p:spPr>
          <a:xfrm>
            <a:off x="-1309688" y="3810000"/>
            <a:ext cx="1737362" cy="1737361"/>
          </a:xfrm>
          <a:prstGeom prst="ellipse">
            <a:avLst/>
          </a:prstGeom>
          <a:solidFill>
            <a:srgbClr val="000000">
              <a:alpha val="0"/>
            </a:srgbClr>
          </a:solidFill>
          <a:ln w="211667">
            <a:solidFill>
              <a:srgbClr val="FF9800"/>
            </a:solidFill>
          </a:ln>
        </p:spPr>
        <p:txBody>
          <a:bodyPr lIns="45719" rIns="45719"/>
          <a:lstStyle/>
          <a:p>
            <a:pPr/>
          </a:p>
        </p:txBody>
      </p:sp>
      <p:sp>
        <p:nvSpPr>
          <p:cNvPr id="526" name="StaticPath"/>
          <p:cNvSpPr/>
          <p:nvPr/>
        </p:nvSpPr>
        <p:spPr>
          <a:xfrm>
            <a:off x="285750" y="204788"/>
            <a:ext cx="482919" cy="482919"/>
          </a:xfrm>
          <a:prstGeom prst="ellipse">
            <a:avLst/>
          </a:prstGeom>
          <a:solidFill>
            <a:srgbClr val="000000"/>
          </a:solidFill>
          <a:ln w="12700">
            <a:miter lim="400000"/>
          </a:ln>
        </p:spPr>
        <p:txBody>
          <a:bodyPr lIns="45719" rIns="45719"/>
          <a:lstStyle/>
          <a:p>
            <a:pPr/>
          </a:p>
        </p:txBody>
      </p:sp>
      <p:sp>
        <p:nvSpPr>
          <p:cNvPr id="527" name="Title"/>
          <p:cNvSpPr txBox="1"/>
          <p:nvPr/>
        </p:nvSpPr>
        <p:spPr>
          <a:xfrm>
            <a:off x="1833360" y="373285"/>
            <a:ext cx="5266326"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000">
                <a:solidFill>
                  <a:srgbClr val="333333"/>
                </a:solidFill>
                <a:latin typeface="OpenSans-Bold"/>
                <a:ea typeface="OpenSans-Bold"/>
                <a:cs typeface="OpenSans-Bold"/>
                <a:sym typeface="OpenSans-Bold"/>
              </a:defRPr>
            </a:lvl1pPr>
          </a:lstStyle>
          <a:p>
            <a:pPr/>
            <a:r>
              <a:t>Summary: Popular AI Tools for DevOps</a:t>
            </a:r>
          </a:p>
        </p:txBody>
      </p:sp>
      <p:pic>
        <p:nvPicPr>
          <p:cNvPr id="528" name="Image" descr="Image"/>
          <p:cNvPicPr>
            <a:picLocks noChangeAspect="1"/>
          </p:cNvPicPr>
          <p:nvPr/>
        </p:nvPicPr>
        <p:blipFill>
          <a:blip r:embed="rId2">
            <a:extLst/>
          </a:blip>
          <a:stretch>
            <a:fillRect/>
          </a:stretch>
        </p:blipFill>
        <p:spPr>
          <a:xfrm>
            <a:off x="263914" y="1190939"/>
            <a:ext cx="2476501" cy="2476501"/>
          </a:xfrm>
          <a:prstGeom prst="rect">
            <a:avLst/>
          </a:prstGeom>
          <a:ln w="12700">
            <a:miter lim="400000"/>
          </a:ln>
        </p:spPr>
      </p:pic>
      <p:sp>
        <p:nvSpPr>
          <p:cNvPr id="529" name="StaticPath"/>
          <p:cNvSpPr/>
          <p:nvPr/>
        </p:nvSpPr>
        <p:spPr>
          <a:xfrm rot="5401800">
            <a:off x="3211722" y="1262965"/>
            <a:ext cx="282894" cy="242471"/>
          </a:xfrm>
          <a:prstGeom prst="rect">
            <a:avLst/>
          </a:prstGeom>
          <a:solidFill>
            <a:srgbClr val="3F51B5"/>
          </a:solidFill>
          <a:ln w="12700">
            <a:miter lim="400000"/>
          </a:ln>
        </p:spPr>
        <p:txBody>
          <a:bodyPr lIns="45719" rIns="45719"/>
          <a:lstStyle/>
          <a:p>
            <a:pPr/>
          </a:p>
        </p:txBody>
      </p:sp>
      <p:sp>
        <p:nvSpPr>
          <p:cNvPr id="530" name="Bullet text 1"/>
          <p:cNvSpPr txBox="1"/>
          <p:nvPr/>
        </p:nvSpPr>
        <p:spPr>
          <a:xfrm>
            <a:off x="3644308" y="1261605"/>
            <a:ext cx="3289746"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atin typeface="OpenSans-Regular"/>
                <a:ea typeface="OpenSans-Regular"/>
                <a:cs typeface="OpenSans-Regular"/>
                <a:sym typeface="OpenSans-Regular"/>
              </a:defRPr>
            </a:lvl1pPr>
          </a:lstStyle>
          <a:p>
            <a:pPr/>
            <a:r>
              <a:t>GitHub Copilot – Code generation and suggestions</a:t>
            </a:r>
          </a:p>
        </p:txBody>
      </p:sp>
      <p:sp>
        <p:nvSpPr>
          <p:cNvPr id="531" name="StaticPath"/>
          <p:cNvSpPr/>
          <p:nvPr/>
        </p:nvSpPr>
        <p:spPr>
          <a:xfrm rot="5401800">
            <a:off x="3211722" y="1834465"/>
            <a:ext cx="282894" cy="242471"/>
          </a:xfrm>
          <a:prstGeom prst="rect">
            <a:avLst/>
          </a:prstGeom>
          <a:solidFill>
            <a:srgbClr val="3F51B5"/>
          </a:solidFill>
          <a:ln w="12700">
            <a:miter lim="400000"/>
          </a:ln>
        </p:spPr>
        <p:txBody>
          <a:bodyPr lIns="45719" rIns="45719"/>
          <a:lstStyle/>
          <a:p>
            <a:pPr/>
          </a:p>
        </p:txBody>
      </p:sp>
      <p:sp>
        <p:nvSpPr>
          <p:cNvPr id="532" name="Bullet text 2"/>
          <p:cNvSpPr txBox="1"/>
          <p:nvPr/>
        </p:nvSpPr>
        <p:spPr>
          <a:xfrm>
            <a:off x="3644308" y="1756905"/>
            <a:ext cx="3289746"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atin typeface="OpenSans-Regular"/>
                <a:ea typeface="OpenSans-Regular"/>
                <a:cs typeface="OpenSans-Regular"/>
                <a:sym typeface="OpenSans-Regular"/>
              </a:defRPr>
            </a:lvl1pPr>
          </a:lstStyle>
          <a:p>
            <a:pPr/>
            <a:r>
              <a:t>Amazon CodeWhisperer – AWS-optimized coding assistant</a:t>
            </a:r>
          </a:p>
        </p:txBody>
      </p:sp>
      <p:sp>
        <p:nvSpPr>
          <p:cNvPr id="533" name="StaticPath"/>
          <p:cNvSpPr/>
          <p:nvPr/>
        </p:nvSpPr>
        <p:spPr>
          <a:xfrm rot="5401800">
            <a:off x="3211722" y="2405965"/>
            <a:ext cx="282894" cy="242471"/>
          </a:xfrm>
          <a:prstGeom prst="rect">
            <a:avLst/>
          </a:prstGeom>
          <a:solidFill>
            <a:srgbClr val="3F51B5"/>
          </a:solidFill>
          <a:ln w="12700">
            <a:miter lim="400000"/>
          </a:ln>
        </p:spPr>
        <p:txBody>
          <a:bodyPr lIns="45719" rIns="45719"/>
          <a:lstStyle/>
          <a:p>
            <a:pPr/>
          </a:p>
        </p:txBody>
      </p:sp>
      <p:sp>
        <p:nvSpPr>
          <p:cNvPr id="534" name="Bullet text 3"/>
          <p:cNvSpPr txBox="1"/>
          <p:nvPr/>
        </p:nvSpPr>
        <p:spPr>
          <a:xfrm>
            <a:off x="3644308" y="2328405"/>
            <a:ext cx="3289746"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atin typeface="OpenSans-Regular"/>
                <a:ea typeface="OpenSans-Regular"/>
                <a:cs typeface="OpenSans-Regular"/>
                <a:sym typeface="OpenSans-Regular"/>
              </a:defRPr>
            </a:lvl1pPr>
          </a:lstStyle>
          <a:p>
            <a:pPr/>
            <a:r>
              <a:t>OpenAI API – Flexible LLM integration for custom workflows</a:t>
            </a:r>
          </a:p>
        </p:txBody>
      </p:sp>
      <p:sp>
        <p:nvSpPr>
          <p:cNvPr id="535" name="StaticPath"/>
          <p:cNvSpPr/>
          <p:nvPr/>
        </p:nvSpPr>
        <p:spPr>
          <a:xfrm rot="5401800">
            <a:off x="3211722" y="2977465"/>
            <a:ext cx="282894" cy="242471"/>
          </a:xfrm>
          <a:prstGeom prst="rect">
            <a:avLst/>
          </a:prstGeom>
          <a:solidFill>
            <a:srgbClr val="3F51B5"/>
          </a:solidFill>
          <a:ln w="12700">
            <a:miter lim="400000"/>
          </a:ln>
        </p:spPr>
        <p:txBody>
          <a:bodyPr lIns="45719" rIns="45719"/>
          <a:lstStyle/>
          <a:p>
            <a:pPr/>
          </a:p>
        </p:txBody>
      </p:sp>
      <p:sp>
        <p:nvSpPr>
          <p:cNvPr id="536" name="Bullet text 4"/>
          <p:cNvSpPr txBox="1"/>
          <p:nvPr/>
        </p:nvSpPr>
        <p:spPr>
          <a:xfrm>
            <a:off x="3644308" y="2899905"/>
            <a:ext cx="3289746"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atin typeface="OpenSans-Regular"/>
                <a:ea typeface="OpenSans-Regular"/>
                <a:cs typeface="OpenSans-Regular"/>
                <a:sym typeface="OpenSans-Regular"/>
              </a:defRPr>
            </a:lvl1pPr>
          </a:lstStyle>
          <a:p>
            <a:pPr/>
            <a:r>
              <a:t>Ansible + AI – Smarter playbook validation and automation</a:t>
            </a:r>
          </a:p>
        </p:txBody>
      </p:sp>
      <p:sp>
        <p:nvSpPr>
          <p:cNvPr id="537" name="StaticPath"/>
          <p:cNvSpPr/>
          <p:nvPr/>
        </p:nvSpPr>
        <p:spPr>
          <a:xfrm rot="5401800">
            <a:off x="3211722" y="3548965"/>
            <a:ext cx="282894" cy="242471"/>
          </a:xfrm>
          <a:prstGeom prst="rect">
            <a:avLst/>
          </a:prstGeom>
          <a:solidFill>
            <a:srgbClr val="3F51B5"/>
          </a:solidFill>
          <a:ln w="12700">
            <a:miter lim="400000"/>
          </a:ln>
        </p:spPr>
        <p:txBody>
          <a:bodyPr lIns="45719" rIns="45719"/>
          <a:lstStyle/>
          <a:p>
            <a:pPr/>
          </a:p>
        </p:txBody>
      </p:sp>
      <p:sp>
        <p:nvSpPr>
          <p:cNvPr id="538" name="Bullet text 5"/>
          <p:cNvSpPr txBox="1"/>
          <p:nvPr/>
        </p:nvSpPr>
        <p:spPr>
          <a:xfrm>
            <a:off x="3644308" y="3547605"/>
            <a:ext cx="3289746" cy="243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000">
                <a:latin typeface="OpenSans-Regular"/>
                <a:ea typeface="OpenSans-Regular"/>
                <a:cs typeface="OpenSans-Regular"/>
                <a:sym typeface="OpenSans-Regular"/>
              </a:defRPr>
            </a:lvl1pPr>
          </a:lstStyle>
          <a:p>
            <a:pPr/>
            <a:r>
              <a:t>Kubernetes AI Tools – Predictive monitoring and scaling</a:t>
            </a:r>
          </a:p>
        </p:txBody>
      </p:sp>
    </p:spTree>
  </p:cSld>
  <p:clrMapOvr>
    <a:masterClrMapping/>
  </p:clrMapOvr>
  <p:transition xmlns:p14="http://schemas.microsoft.com/office/powerpoint/2010/main" spd="med" advClick="1"/>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0" name="StaticPath"/>
          <p:cNvSpPr/>
          <p:nvPr/>
        </p:nvSpPr>
        <p:spPr>
          <a:xfrm>
            <a:off x="-842581" y="437150"/>
            <a:ext cx="4014788" cy="4014788"/>
          </a:xfrm>
          <a:prstGeom prst="ellipse">
            <a:avLst/>
          </a:prstGeom>
          <a:solidFill>
            <a:srgbClr val="000000">
              <a:alpha val="4000"/>
            </a:srgbClr>
          </a:solidFill>
          <a:ln w="12700">
            <a:miter lim="400000"/>
          </a:ln>
        </p:spPr>
        <p:txBody>
          <a:bodyPr lIns="45719" rIns="45719"/>
          <a:lstStyle/>
          <a:p>
            <a:pPr/>
          </a:p>
        </p:txBody>
      </p:sp>
      <p:sp>
        <p:nvSpPr>
          <p:cNvPr id="541" name="Title"/>
          <p:cNvSpPr txBox="1"/>
          <p:nvPr/>
        </p:nvSpPr>
        <p:spPr>
          <a:xfrm>
            <a:off x="331136" y="2170454"/>
            <a:ext cx="3375709" cy="802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2300">
                <a:latin typeface="OpenSans-Bold"/>
                <a:ea typeface="OpenSans-Bold"/>
                <a:cs typeface="OpenSans-Bold"/>
                <a:sym typeface="OpenSans-Bold"/>
              </a:defRPr>
            </a:lvl1pPr>
          </a:lstStyle>
          <a:p>
            <a:pPr/>
            <a:r>
              <a:t>Looking Ahead: Your Role in AI + DevOps</a:t>
            </a:r>
          </a:p>
        </p:txBody>
      </p:sp>
      <p:sp>
        <p:nvSpPr>
          <p:cNvPr id="542" name="StaticPath"/>
          <p:cNvSpPr/>
          <p:nvPr/>
        </p:nvSpPr>
        <p:spPr>
          <a:xfrm>
            <a:off x="6677738" y="195072"/>
            <a:ext cx="911545" cy="911544"/>
          </a:xfrm>
          <a:prstGeom prst="ellipse">
            <a:avLst/>
          </a:prstGeom>
          <a:solidFill>
            <a:srgbClr val="000000"/>
          </a:solidFill>
          <a:ln w="12700">
            <a:miter lim="400000"/>
          </a:ln>
        </p:spPr>
        <p:txBody>
          <a:bodyPr lIns="45719" rIns="45719"/>
          <a:lstStyle/>
          <a:p>
            <a:pPr/>
          </a:p>
        </p:txBody>
      </p:sp>
      <p:sp>
        <p:nvSpPr>
          <p:cNvPr id="543" name="StaticPath"/>
          <p:cNvSpPr/>
          <p:nvPr/>
        </p:nvSpPr>
        <p:spPr>
          <a:xfrm>
            <a:off x="7963375" y="4002547"/>
            <a:ext cx="677229" cy="677229"/>
          </a:xfrm>
          <a:prstGeom prst="ellipse">
            <a:avLst/>
          </a:prstGeom>
          <a:solidFill>
            <a:srgbClr val="FF9800"/>
          </a:solidFill>
          <a:ln w="12700">
            <a:miter lim="400000"/>
          </a:ln>
        </p:spPr>
        <p:txBody>
          <a:bodyPr lIns="45719" rIns="45719"/>
          <a:lstStyle/>
          <a:p>
            <a:pPr/>
          </a:p>
        </p:txBody>
      </p:sp>
      <p:sp>
        <p:nvSpPr>
          <p:cNvPr id="544" name="StaticPath"/>
          <p:cNvSpPr/>
          <p:nvPr/>
        </p:nvSpPr>
        <p:spPr>
          <a:xfrm>
            <a:off x="-1162718" y="-991077"/>
            <a:ext cx="2514601" cy="2514601"/>
          </a:xfrm>
          <a:prstGeom prst="ellipse">
            <a:avLst/>
          </a:prstGeom>
          <a:solidFill>
            <a:srgbClr val="000000">
              <a:alpha val="0"/>
            </a:srgbClr>
          </a:solidFill>
          <a:ln w="423332">
            <a:solidFill>
              <a:srgbClr val="FF9800"/>
            </a:solidFill>
          </a:ln>
        </p:spPr>
        <p:txBody>
          <a:bodyPr lIns="45719" rIns="45719"/>
          <a:lstStyle/>
          <a:p>
            <a:pPr/>
          </a:p>
        </p:txBody>
      </p:sp>
      <p:sp>
        <p:nvSpPr>
          <p:cNvPr id="545" name="Question topic"/>
          <p:cNvSpPr txBox="1"/>
          <p:nvPr/>
        </p:nvSpPr>
        <p:spPr>
          <a:xfrm>
            <a:off x="2996326" y="687006"/>
            <a:ext cx="2194562"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400">
                <a:latin typeface="OpenSans-Regular"/>
                <a:ea typeface="OpenSans-Regular"/>
                <a:cs typeface="OpenSans-Regular"/>
                <a:sym typeface="OpenSans-Regular"/>
              </a:defRPr>
            </a:lvl1pPr>
          </a:lstStyle>
          <a:p>
            <a:pPr/>
            <a:r>
              <a:t>Student Reflection</a:t>
            </a:r>
          </a:p>
        </p:txBody>
      </p:sp>
      <p:sp>
        <p:nvSpPr>
          <p:cNvPr id="546" name="Text"/>
          <p:cNvSpPr txBox="1"/>
          <p:nvPr/>
        </p:nvSpPr>
        <p:spPr>
          <a:xfrm>
            <a:off x="4038030" y="3144904"/>
            <a:ext cx="3547264" cy="9804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latin typeface="OpenSans-Regular"/>
                <a:ea typeface="OpenSans-Regular"/>
                <a:cs typeface="OpenSans-Regular"/>
                <a:sym typeface="OpenSans-Regular"/>
              </a:defRPr>
            </a:lvl1pPr>
          </a:lstStyle>
          <a:p>
            <a:pPr/>
            <a:r>
              <a:t>As future engineers, you will shape how AI transforms DevOps. Think critically about automation, ethics, and innovation. Ask yourself how you would approach integrating AI into your own workflows.</a:t>
            </a:r>
          </a:p>
        </p:txBody>
      </p:sp>
      <p:sp>
        <p:nvSpPr>
          <p:cNvPr id="547" name="Question"/>
          <p:cNvSpPr txBox="1"/>
          <p:nvPr/>
        </p:nvSpPr>
        <p:spPr>
          <a:xfrm>
            <a:off x="4805858" y="1846105"/>
            <a:ext cx="2289812" cy="447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lgn="ctr">
              <a:defRPr sz="1200">
                <a:latin typeface="OpenSans-Regular"/>
                <a:ea typeface="OpenSans-Regular"/>
                <a:cs typeface="OpenSans-Regular"/>
                <a:sym typeface="OpenSans-Regular"/>
              </a:defRPr>
            </a:lvl1pPr>
          </a:lstStyle>
          <a:p>
            <a:pPr/>
            <a:r>
              <a:t>How ready is your DevOps pipeline for AI?</a:t>
            </a:r>
          </a:p>
        </p:txBody>
      </p:sp>
      <p:sp>
        <p:nvSpPr>
          <p:cNvPr id="548" name="StaticPath"/>
          <p:cNvSpPr/>
          <p:nvPr/>
        </p:nvSpPr>
        <p:spPr>
          <a:xfrm>
            <a:off x="2976228" y="323230"/>
            <a:ext cx="2128840" cy="1020130"/>
          </a:xfrm>
          <a:prstGeom prst="ellipse">
            <a:avLst/>
          </a:prstGeom>
          <a:solidFill>
            <a:srgbClr val="000000">
              <a:alpha val="0"/>
            </a:srgbClr>
          </a:solidFill>
          <a:ln w="12700">
            <a:solidFill>
              <a:srgbClr val="000000"/>
            </a:solidFill>
          </a:ln>
        </p:spPr>
        <p:txBody>
          <a:bodyPr lIns="45719" rIns="45719"/>
          <a:lstStyle/>
          <a:p>
            <a:pPr/>
          </a:p>
        </p:txBody>
      </p:sp>
    </p:spTree>
  </p:cSld>
  <p:clrMapOvr>
    <a:masterClrMapping/>
  </p:clrMapOvr>
  <p:transition xmlns:p14="http://schemas.microsoft.com/office/powerpoint/2010/main" spd="med" advClick="1"/>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50"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551" name="Title"/>
          <p:cNvSpPr txBox="1"/>
          <p:nvPr/>
        </p:nvSpPr>
        <p:spPr>
          <a:xfrm>
            <a:off x="358997" y="658462"/>
            <a:ext cx="6121813"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latin typeface="OpenSans-Regular"/>
                <a:ea typeface="OpenSans-Regular"/>
                <a:cs typeface="OpenSans-Regular"/>
                <a:sym typeface="OpenSans-Regular"/>
              </a:defRPr>
            </a:lvl1pPr>
          </a:lstStyle>
          <a:p>
            <a:pPr/>
            <a:r>
              <a:t>Hands-On Project: VM Health Checker</a:t>
            </a:r>
          </a:p>
        </p:txBody>
      </p:sp>
      <p:sp>
        <p:nvSpPr>
          <p:cNvPr id="552"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553"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554" name="Subtitle 1"/>
          <p:cNvSpPr txBox="1"/>
          <p:nvPr/>
        </p:nvSpPr>
        <p:spPr>
          <a:xfrm>
            <a:off x="610313" y="2188614"/>
            <a:ext cx="2678575"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What You'll Build</a:t>
            </a:r>
          </a:p>
        </p:txBody>
      </p:sp>
      <p:sp>
        <p:nvSpPr>
          <p:cNvPr id="555"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 bash script that checks key system parameters—CPU usage, memory, and disk space—and reports health status.</a:t>
            </a:r>
          </a:p>
        </p:txBody>
      </p:sp>
      <p:sp>
        <p:nvSpPr>
          <p:cNvPr id="556"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557" name="Subtitle 2"/>
          <p:cNvSpPr txBox="1"/>
          <p:nvPr/>
        </p:nvSpPr>
        <p:spPr>
          <a:xfrm>
            <a:off x="597599" y="3186216"/>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Interactive Mode with 'explain'</a:t>
            </a:r>
          </a:p>
        </p:txBody>
      </p:sp>
      <p:sp>
        <p:nvSpPr>
          <p:cNvPr id="558"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The script accepts an 'explain' argument to provide a detailed, user-friendly summary of the VM's condition.</a:t>
            </a:r>
          </a:p>
        </p:txBody>
      </p:sp>
      <p:sp>
        <p:nvSpPr>
          <p:cNvPr id="559"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560" name="Subtitle 3"/>
          <p:cNvSpPr txBox="1"/>
          <p:nvPr/>
        </p:nvSpPr>
        <p:spPr>
          <a:xfrm>
            <a:off x="597598" y="4387460"/>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DevOps Impact</a:t>
            </a:r>
          </a:p>
        </p:txBody>
      </p:sp>
      <p:sp>
        <p:nvSpPr>
          <p:cNvPr id="561"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Automating health checks helps teams monitor system integrity and proactively detect issues before outages occur.</a:t>
            </a:r>
          </a:p>
        </p:txBody>
      </p:sp>
      <p:sp>
        <p:nvSpPr>
          <p:cNvPr id="562" name="StaticPath"/>
          <p:cNvSpPr/>
          <p:nvPr/>
        </p:nvSpPr>
        <p:spPr>
          <a:xfrm rot="10800000">
            <a:off x="6963417" y="277939"/>
            <a:ext cx="48579" cy="1157289"/>
          </a:xfrm>
          <a:prstGeom prst="rect">
            <a:avLst/>
          </a:prstGeom>
          <a:solidFill>
            <a:srgbClr val="3F51B5"/>
          </a:solidFill>
          <a:ln w="12700">
            <a:miter lim="400000"/>
          </a:ln>
        </p:spPr>
        <p:txBody>
          <a:bodyPr lIns="45719" rIns="45719"/>
          <a:lstStyle/>
          <a:p>
            <a:pPr/>
          </a:p>
        </p:txBody>
      </p:sp>
      <p:sp>
        <p:nvSpPr>
          <p:cNvPr id="563"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564"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565" name="Image" descr="Image"/>
          <p:cNvPicPr>
            <a:picLocks noChangeAspect="1"/>
          </p:cNvPicPr>
          <p:nvPr/>
        </p:nvPicPr>
        <p:blipFill>
          <a:blip r:embed="rId2">
            <a:extLst/>
          </a:blip>
          <a:stretch>
            <a:fillRect/>
          </a:stretch>
        </p:blipFill>
        <p:spPr>
          <a:xfrm>
            <a:off x="7201941" y="161916"/>
            <a:ext cx="1598052" cy="1598052"/>
          </a:xfrm>
          <a:prstGeom prst="rect">
            <a:avLst/>
          </a:prstGeom>
          <a:ln w="12700">
            <a:miter lim="400000"/>
          </a:ln>
        </p:spPr>
      </p:pic>
    </p:spTree>
  </p:cSld>
  <p:clrMapOvr>
    <a:masterClrMapping/>
  </p:clrMapOvr>
  <p:transition xmlns:p14="http://schemas.microsoft.com/office/powerpoint/2010/main" spd="med" advClick="1"/>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7"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568"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1: GitHub Repository Setup</a:t>
            </a:r>
          </a:p>
        </p:txBody>
      </p:sp>
      <p:sp>
        <p:nvSpPr>
          <p:cNvPr id="569"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570"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571" name="Subtitle 1"/>
          <p:cNvSpPr txBox="1"/>
          <p:nvPr/>
        </p:nvSpPr>
        <p:spPr>
          <a:xfrm>
            <a:off x="610313" y="2175914"/>
            <a:ext cx="2678575"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Create Your Repo</a:t>
            </a:r>
          </a:p>
        </p:txBody>
      </p:sp>
      <p:sp>
        <p:nvSpPr>
          <p:cNvPr id="572"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Start by creating a new GitHub repository named `vm-health-check`. Initialize it with a README and a `.gitignore` for shell scripts.</a:t>
            </a:r>
          </a:p>
        </p:txBody>
      </p:sp>
      <p:sp>
        <p:nvSpPr>
          <p:cNvPr id="573"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574" name="Subtitle 2"/>
          <p:cNvSpPr txBox="1"/>
          <p:nvPr/>
        </p:nvSpPr>
        <p:spPr>
          <a:xfrm>
            <a:off x="597599" y="3173516"/>
            <a:ext cx="269129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Folder Structure</a:t>
            </a:r>
          </a:p>
        </p:txBody>
      </p:sp>
      <p:sp>
        <p:nvSpPr>
          <p:cNvPr id="575"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Organize your files with a clear folder structure, e.g., `scripts/health_check.sh` and `docs/usage.md`.</a:t>
            </a:r>
          </a:p>
        </p:txBody>
      </p:sp>
      <p:sp>
        <p:nvSpPr>
          <p:cNvPr id="576"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577" name="Subtitle 3"/>
          <p:cNvSpPr txBox="1"/>
          <p:nvPr/>
        </p:nvSpPr>
        <p:spPr>
          <a:xfrm>
            <a:off x="597598" y="4374760"/>
            <a:ext cx="269129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Version Control</a:t>
            </a:r>
          </a:p>
        </p:txBody>
      </p:sp>
      <p:sp>
        <p:nvSpPr>
          <p:cNvPr id="578"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Commit changes regularly with meaningful messages to track script improvements.</a:t>
            </a:r>
          </a:p>
        </p:txBody>
      </p:sp>
      <p:sp>
        <p:nvSpPr>
          <p:cNvPr id="579" name="StaticPath"/>
          <p:cNvSpPr/>
          <p:nvPr/>
        </p:nvSpPr>
        <p:spPr>
          <a:xfrm rot="10800000">
            <a:off x="6963417" y="219605"/>
            <a:ext cx="48579" cy="1157289"/>
          </a:xfrm>
          <a:prstGeom prst="rect">
            <a:avLst/>
          </a:prstGeom>
          <a:solidFill>
            <a:srgbClr val="3F51B5"/>
          </a:solidFill>
          <a:ln w="12700">
            <a:miter lim="400000"/>
          </a:ln>
        </p:spPr>
        <p:txBody>
          <a:bodyPr lIns="45719" rIns="45719"/>
          <a:lstStyle/>
          <a:p>
            <a:pPr/>
          </a:p>
        </p:txBody>
      </p:sp>
      <p:sp>
        <p:nvSpPr>
          <p:cNvPr id="580"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581"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582" name="Image" descr="Image"/>
          <p:cNvPicPr>
            <a:picLocks noChangeAspect="1"/>
          </p:cNvPicPr>
          <p:nvPr/>
        </p:nvPicPr>
        <p:blipFill>
          <a:blip r:embed="rId2">
            <a:extLst/>
          </a:blip>
          <a:stretch>
            <a:fillRect/>
          </a:stretch>
        </p:blipFill>
        <p:spPr>
          <a:xfrm>
            <a:off x="7200251" y="53437"/>
            <a:ext cx="1606292" cy="1606292"/>
          </a:xfrm>
          <a:prstGeom prst="rect">
            <a:avLst/>
          </a:prstGeom>
          <a:ln w="12700">
            <a:miter lim="400000"/>
          </a:ln>
        </p:spPr>
      </p:pic>
    </p:spTree>
  </p:cSld>
  <p:clrMapOvr>
    <a:masterClrMapping/>
  </p:clrMapOvr>
  <p:transition xmlns:p14="http://schemas.microsoft.com/office/powerpoint/2010/main" spd="med" advClick="1"/>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4"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585" name="Title"/>
          <p:cNvSpPr txBox="1"/>
          <p:nvPr/>
        </p:nvSpPr>
        <p:spPr>
          <a:xfrm>
            <a:off x="358997" y="658462"/>
            <a:ext cx="6121813"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latin typeface="OpenSans-Regular"/>
                <a:ea typeface="OpenSans-Regular"/>
                <a:cs typeface="OpenSans-Regular"/>
                <a:sym typeface="OpenSans-Regular"/>
              </a:defRPr>
            </a:lvl1pPr>
          </a:lstStyle>
          <a:p>
            <a:pPr/>
            <a:r>
              <a:t>Step 2: Script Structure Overview</a:t>
            </a:r>
          </a:p>
        </p:txBody>
      </p:sp>
      <p:sp>
        <p:nvSpPr>
          <p:cNvPr id="586"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587"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588"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Shell Script Entry Point</a:t>
            </a:r>
          </a:p>
        </p:txBody>
      </p:sp>
      <p:sp>
        <p:nvSpPr>
          <p:cNvPr id="589"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Create a `health_check.sh` file with a `main()` function. Use modular functions for CPU, memory, and disk checks.</a:t>
            </a:r>
          </a:p>
        </p:txBody>
      </p:sp>
      <p:sp>
        <p:nvSpPr>
          <p:cNvPr id="590"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591"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Argument Parsing</a:t>
            </a:r>
          </a:p>
        </p:txBody>
      </p:sp>
      <p:sp>
        <p:nvSpPr>
          <p:cNvPr id="592"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Support `--explain` using a `case` block or `getopts` to trigger a verbose summary mode.</a:t>
            </a:r>
          </a:p>
        </p:txBody>
      </p:sp>
      <p:sp>
        <p:nvSpPr>
          <p:cNvPr id="593"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594"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Execution Flow</a:t>
            </a:r>
          </a:p>
        </p:txBody>
      </p:sp>
      <p:sp>
        <p:nvSpPr>
          <p:cNvPr id="595"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Check parameters &gt; run health checks &gt; generate output &gt; optionally display explanations.</a:t>
            </a:r>
          </a:p>
        </p:txBody>
      </p:sp>
      <p:sp>
        <p:nvSpPr>
          <p:cNvPr id="596" name="StaticPath"/>
          <p:cNvSpPr/>
          <p:nvPr/>
        </p:nvSpPr>
        <p:spPr>
          <a:xfrm rot="10800000">
            <a:off x="6963417" y="206505"/>
            <a:ext cx="48579" cy="1157289"/>
          </a:xfrm>
          <a:prstGeom prst="rect">
            <a:avLst/>
          </a:prstGeom>
          <a:solidFill>
            <a:srgbClr val="3F51B5"/>
          </a:solidFill>
          <a:ln w="12700">
            <a:miter lim="400000"/>
          </a:ln>
        </p:spPr>
        <p:txBody>
          <a:bodyPr lIns="45719" rIns="45719"/>
          <a:lstStyle/>
          <a:p>
            <a:pPr/>
          </a:p>
        </p:txBody>
      </p:sp>
      <p:sp>
        <p:nvSpPr>
          <p:cNvPr id="597"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598"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599" name="Image" descr="Image"/>
          <p:cNvPicPr>
            <a:picLocks noChangeAspect="1"/>
          </p:cNvPicPr>
          <p:nvPr/>
        </p:nvPicPr>
        <p:blipFill>
          <a:blip r:embed="rId2">
            <a:extLst/>
          </a:blip>
          <a:stretch>
            <a:fillRect/>
          </a:stretch>
        </p:blipFill>
        <p:spPr>
          <a:xfrm>
            <a:off x="7168364" y="148870"/>
            <a:ext cx="1611098" cy="1611098"/>
          </a:xfrm>
          <a:prstGeom prst="rect">
            <a:avLst/>
          </a:prstGeom>
          <a:ln w="12700">
            <a:miter lim="400000"/>
          </a:ln>
        </p:spPr>
      </p:pic>
    </p:spTree>
  </p:cSld>
  <p:clrMapOvr>
    <a:masterClrMapping/>
  </p:clrMapOvr>
  <p:transition xmlns:p14="http://schemas.microsoft.com/office/powerpoint/2010/main" spd="med" advClick="1"/>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1"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602"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3: CPU Health Check</a:t>
            </a:r>
          </a:p>
        </p:txBody>
      </p:sp>
      <p:sp>
        <p:nvSpPr>
          <p:cNvPr id="603"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604"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605"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CPU Usage Monitoring</a:t>
            </a:r>
          </a:p>
        </p:txBody>
      </p:sp>
      <p:sp>
        <p:nvSpPr>
          <p:cNvPr id="606"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`top`, `mpstat`, or `/proc/stat` to gather CPU usage. For example: `top -bn1 | grep 'Cpu(s)'`.</a:t>
            </a:r>
          </a:p>
        </p:txBody>
      </p:sp>
      <p:sp>
        <p:nvSpPr>
          <p:cNvPr id="607"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608"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Set Thresholds</a:t>
            </a:r>
          </a:p>
        </p:txBody>
      </p:sp>
      <p:sp>
        <p:nvSpPr>
          <p:cNvPr id="609"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Compare current usage against a defined threshold (e.g., 85%) to determine health status.</a:t>
            </a:r>
          </a:p>
        </p:txBody>
      </p:sp>
      <p:sp>
        <p:nvSpPr>
          <p:cNvPr id="610"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611"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Script Snippet</a:t>
            </a:r>
          </a:p>
        </p:txBody>
      </p:sp>
      <p:sp>
        <p:nvSpPr>
          <p:cNvPr id="612"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Example: `if (( $(echo "$cpu &gt; 85" | bc -l) )); then echo "High CPU usage"; fi`</a:t>
            </a:r>
          </a:p>
        </p:txBody>
      </p:sp>
      <p:sp>
        <p:nvSpPr>
          <p:cNvPr id="613" name="StaticPath"/>
          <p:cNvSpPr/>
          <p:nvPr/>
        </p:nvSpPr>
        <p:spPr>
          <a:xfrm rot="10800000">
            <a:off x="6963417" y="277939"/>
            <a:ext cx="48579" cy="1157289"/>
          </a:xfrm>
          <a:prstGeom prst="rect">
            <a:avLst/>
          </a:prstGeom>
          <a:solidFill>
            <a:srgbClr val="3F51B5"/>
          </a:solidFill>
          <a:ln w="12700">
            <a:miter lim="400000"/>
          </a:ln>
        </p:spPr>
        <p:txBody>
          <a:bodyPr lIns="45719" rIns="45719"/>
          <a:lstStyle/>
          <a:p>
            <a:pPr/>
          </a:p>
        </p:txBody>
      </p:sp>
      <p:sp>
        <p:nvSpPr>
          <p:cNvPr id="614"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615"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616" name="Image" descr="Image"/>
          <p:cNvPicPr>
            <a:picLocks noChangeAspect="1"/>
          </p:cNvPicPr>
          <p:nvPr/>
        </p:nvPicPr>
        <p:blipFill>
          <a:blip r:embed="rId2">
            <a:extLst/>
          </a:blip>
          <a:stretch>
            <a:fillRect/>
          </a:stretch>
        </p:blipFill>
        <p:spPr>
          <a:xfrm>
            <a:off x="7222064" y="182040"/>
            <a:ext cx="1577929" cy="1577928"/>
          </a:xfrm>
          <a:prstGeom prst="rect">
            <a:avLst/>
          </a:prstGeom>
          <a:ln w="12700">
            <a:miter lim="400000"/>
          </a:ln>
        </p:spPr>
      </p:pic>
    </p:spTree>
  </p:cSld>
  <p:clrMapOvr>
    <a:masterClrMapping/>
  </p:clrMapOvr>
  <p:transition xmlns:p14="http://schemas.microsoft.com/office/powerpoint/2010/main" spd="med" advClick="1"/>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8"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619"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4: Memory Health Check</a:t>
            </a:r>
          </a:p>
        </p:txBody>
      </p:sp>
      <p:sp>
        <p:nvSpPr>
          <p:cNvPr id="620"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621"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622"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Capture Memory Usage</a:t>
            </a:r>
          </a:p>
        </p:txBody>
      </p:sp>
      <p:sp>
        <p:nvSpPr>
          <p:cNvPr id="623"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`free -m` to retrieve memory statistics and calculate usage: `used/total` * 100.</a:t>
            </a:r>
          </a:p>
        </p:txBody>
      </p:sp>
      <p:sp>
        <p:nvSpPr>
          <p:cNvPr id="624"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625"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Set Safe Threshold</a:t>
            </a:r>
          </a:p>
        </p:txBody>
      </p:sp>
      <p:sp>
        <p:nvSpPr>
          <p:cNvPr id="626"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 usage over 90% might indicate memory pressure. Flag as 'Warning' or 'Critical' accordingly.</a:t>
            </a:r>
          </a:p>
        </p:txBody>
      </p:sp>
      <p:sp>
        <p:nvSpPr>
          <p:cNvPr id="627"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628"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Script Snippet</a:t>
            </a:r>
          </a:p>
        </p:txBody>
      </p:sp>
      <p:sp>
        <p:nvSpPr>
          <p:cNvPr id="629"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Example: `mem_usage=$(free | awk '/Mem/ { printf("%.2f", $3/$2 * 100.0) }')`</a:t>
            </a:r>
          </a:p>
        </p:txBody>
      </p:sp>
      <p:sp>
        <p:nvSpPr>
          <p:cNvPr id="630" name="StaticPath"/>
          <p:cNvSpPr/>
          <p:nvPr/>
        </p:nvSpPr>
        <p:spPr>
          <a:xfrm rot="10800000">
            <a:off x="6963417" y="226155"/>
            <a:ext cx="48579" cy="1157289"/>
          </a:xfrm>
          <a:prstGeom prst="rect">
            <a:avLst/>
          </a:prstGeom>
          <a:solidFill>
            <a:srgbClr val="3F51B5"/>
          </a:solidFill>
          <a:ln w="12700">
            <a:miter lim="400000"/>
          </a:ln>
        </p:spPr>
        <p:txBody>
          <a:bodyPr lIns="45719" rIns="45719"/>
          <a:lstStyle/>
          <a:p>
            <a:pPr/>
          </a:p>
        </p:txBody>
      </p:sp>
      <p:sp>
        <p:nvSpPr>
          <p:cNvPr id="631"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632"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633" name="Image" descr="Image"/>
          <p:cNvPicPr>
            <a:picLocks noChangeAspect="1"/>
          </p:cNvPicPr>
          <p:nvPr/>
        </p:nvPicPr>
        <p:blipFill>
          <a:blip r:embed="rId2">
            <a:extLst/>
          </a:blip>
          <a:stretch>
            <a:fillRect/>
          </a:stretch>
        </p:blipFill>
        <p:spPr>
          <a:xfrm>
            <a:off x="7080122" y="26132"/>
            <a:ext cx="1733837" cy="1733836"/>
          </a:xfrm>
          <a:prstGeom prst="rect">
            <a:avLst/>
          </a:prstGeom>
          <a:ln w="12700">
            <a:miter lim="400000"/>
          </a:ln>
        </p:spPr>
      </p:pic>
    </p:spTree>
  </p:cSld>
  <p:clrMapOvr>
    <a:masterClrMapping/>
  </p:clrMapOvr>
  <p:transition xmlns:p14="http://schemas.microsoft.com/office/powerpoint/2010/main" spd="med" advClick="1"/>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5"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636"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5: Disk Space Check</a:t>
            </a:r>
          </a:p>
        </p:txBody>
      </p:sp>
      <p:sp>
        <p:nvSpPr>
          <p:cNvPr id="637"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638"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639" name="Subtitle 1"/>
          <p:cNvSpPr txBox="1"/>
          <p:nvPr/>
        </p:nvSpPr>
        <p:spPr>
          <a:xfrm>
            <a:off x="610313" y="2175914"/>
            <a:ext cx="2678575"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Gather Disk Usage</a:t>
            </a:r>
          </a:p>
        </p:txBody>
      </p:sp>
      <p:sp>
        <p:nvSpPr>
          <p:cNvPr id="640"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`df -h /` or `df --output=pcent / | tail -1` to get the root filesystem's usage percentage.</a:t>
            </a:r>
          </a:p>
        </p:txBody>
      </p:sp>
      <p:sp>
        <p:nvSpPr>
          <p:cNvPr id="641"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642" name="Subtitle 2"/>
          <p:cNvSpPr txBox="1"/>
          <p:nvPr/>
        </p:nvSpPr>
        <p:spPr>
          <a:xfrm>
            <a:off x="597599" y="3173516"/>
            <a:ext cx="269129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Threshold Alerts</a:t>
            </a:r>
          </a:p>
        </p:txBody>
      </p:sp>
      <p:sp>
        <p:nvSpPr>
          <p:cNvPr id="643"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Mark disks as unhealthy if usage exceeds, say, 80%. Show warnings in red or bold terminal output.</a:t>
            </a:r>
          </a:p>
        </p:txBody>
      </p:sp>
      <p:sp>
        <p:nvSpPr>
          <p:cNvPr id="644"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645" name="Subtitle 3"/>
          <p:cNvSpPr txBox="1"/>
          <p:nvPr/>
        </p:nvSpPr>
        <p:spPr>
          <a:xfrm>
            <a:off x="597598" y="4374760"/>
            <a:ext cx="2691290" cy="3200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500">
                <a:latin typeface="OpenSans-Bold"/>
                <a:ea typeface="OpenSans-Bold"/>
                <a:cs typeface="OpenSans-Bold"/>
                <a:sym typeface="OpenSans-Bold"/>
              </a:defRPr>
            </a:lvl1pPr>
          </a:lstStyle>
          <a:p>
            <a:pPr/>
            <a:r>
              <a:t>Script Snippet</a:t>
            </a:r>
          </a:p>
        </p:txBody>
      </p:sp>
      <p:sp>
        <p:nvSpPr>
          <p:cNvPr id="646" name="Paragraph 3"/>
          <p:cNvSpPr txBox="1"/>
          <p:nvPr/>
        </p:nvSpPr>
        <p:spPr>
          <a:xfrm>
            <a:off x="3675839" y="4460589"/>
            <a:ext cx="5147311"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disk_usage=$(df / | awk 'END { print $5 }' | sed 's/%//')</a:t>
            </a:r>
          </a:p>
        </p:txBody>
      </p:sp>
      <p:sp>
        <p:nvSpPr>
          <p:cNvPr id="647" name="StaticPath"/>
          <p:cNvSpPr/>
          <p:nvPr/>
        </p:nvSpPr>
        <p:spPr>
          <a:xfrm rot="10800000">
            <a:off x="6963417" y="236624"/>
            <a:ext cx="48579" cy="1157289"/>
          </a:xfrm>
          <a:prstGeom prst="rect">
            <a:avLst/>
          </a:prstGeom>
          <a:solidFill>
            <a:srgbClr val="3F51B5"/>
          </a:solidFill>
          <a:ln w="12700">
            <a:miter lim="400000"/>
          </a:ln>
        </p:spPr>
        <p:txBody>
          <a:bodyPr lIns="45719" rIns="45719"/>
          <a:lstStyle/>
          <a:p>
            <a:pPr/>
          </a:p>
        </p:txBody>
      </p:sp>
      <p:sp>
        <p:nvSpPr>
          <p:cNvPr id="648"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649"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650" name="Image" descr="Image"/>
          <p:cNvPicPr>
            <a:picLocks noChangeAspect="1"/>
          </p:cNvPicPr>
          <p:nvPr/>
        </p:nvPicPr>
        <p:blipFill>
          <a:blip r:embed="rId2">
            <a:extLst/>
          </a:blip>
          <a:stretch>
            <a:fillRect/>
          </a:stretch>
        </p:blipFill>
        <p:spPr>
          <a:xfrm>
            <a:off x="7203182" y="51627"/>
            <a:ext cx="1609911" cy="1609912"/>
          </a:xfrm>
          <a:prstGeom prst="rect">
            <a:avLst/>
          </a:prstGeom>
          <a:ln w="12700">
            <a:miter lim="400000"/>
          </a:ln>
        </p:spPr>
      </p:pic>
    </p:spTree>
  </p:cSld>
  <p:clrMapOvr>
    <a:masterClrMapping/>
  </p:clrMapOvr>
  <p:transition xmlns:p14="http://schemas.microsoft.com/office/powerpoint/2010/main" spd="med" advClick="1"/>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52"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653" name="Title"/>
          <p:cNvSpPr txBox="1"/>
          <p:nvPr/>
        </p:nvSpPr>
        <p:spPr>
          <a:xfrm>
            <a:off x="358997" y="658462"/>
            <a:ext cx="6121813"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latin typeface="OpenSans-Regular"/>
                <a:ea typeface="OpenSans-Regular"/>
                <a:cs typeface="OpenSans-Regular"/>
                <a:sym typeface="OpenSans-Regular"/>
              </a:defRPr>
            </a:lvl1pPr>
          </a:lstStyle>
          <a:p>
            <a:pPr/>
            <a:r>
              <a:t>Step 6: Combine All Health Metrics</a:t>
            </a:r>
          </a:p>
        </p:txBody>
      </p:sp>
      <p:sp>
        <p:nvSpPr>
          <p:cNvPr id="654"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655"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656"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Unified Health Logic</a:t>
            </a:r>
          </a:p>
        </p:txBody>
      </p:sp>
      <p:sp>
        <p:nvSpPr>
          <p:cNvPr id="657"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Run all three checks—CPU, memory, and disk—and aggregate their results into a single status report.</a:t>
            </a:r>
          </a:p>
        </p:txBody>
      </p:sp>
      <p:sp>
        <p:nvSpPr>
          <p:cNvPr id="658"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659"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Visual Output</a:t>
            </a:r>
          </a:p>
        </p:txBody>
      </p:sp>
      <p:sp>
        <p:nvSpPr>
          <p:cNvPr id="660" name="Paragraph 2"/>
          <p:cNvSpPr txBox="1"/>
          <p:nvPr/>
        </p:nvSpPr>
        <p:spPr>
          <a:xfrm>
            <a:off x="3675839" y="3243197"/>
            <a:ext cx="5147311" cy="561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colors and symbols (✓ / ⚠️ / ✗) to show system health per category.</a:t>
            </a:r>
          </a:p>
        </p:txBody>
      </p:sp>
      <p:sp>
        <p:nvSpPr>
          <p:cNvPr id="661"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662"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Return Codes</a:t>
            </a:r>
          </a:p>
        </p:txBody>
      </p:sp>
      <p:sp>
        <p:nvSpPr>
          <p:cNvPr id="663"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Return specific exit codes (0: OK, 1: Warning, 2: Critical) to allow integration with cron or monitoring systems.</a:t>
            </a:r>
          </a:p>
        </p:txBody>
      </p:sp>
      <p:sp>
        <p:nvSpPr>
          <p:cNvPr id="664" name="StaticPath"/>
          <p:cNvSpPr/>
          <p:nvPr/>
        </p:nvSpPr>
        <p:spPr>
          <a:xfrm rot="10800000">
            <a:off x="6909672" y="277939"/>
            <a:ext cx="48579" cy="1157289"/>
          </a:xfrm>
          <a:prstGeom prst="rect">
            <a:avLst/>
          </a:prstGeom>
          <a:solidFill>
            <a:srgbClr val="3F51B5"/>
          </a:solidFill>
          <a:ln w="12700">
            <a:miter lim="400000"/>
          </a:ln>
        </p:spPr>
        <p:txBody>
          <a:bodyPr lIns="45719" rIns="45719"/>
          <a:lstStyle/>
          <a:p>
            <a:pPr/>
          </a:p>
        </p:txBody>
      </p:sp>
      <p:sp>
        <p:nvSpPr>
          <p:cNvPr id="665"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666"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667" name="Image" descr="Image"/>
          <p:cNvPicPr>
            <a:picLocks noChangeAspect="1"/>
          </p:cNvPicPr>
          <p:nvPr/>
        </p:nvPicPr>
        <p:blipFill>
          <a:blip r:embed="rId2">
            <a:extLst/>
          </a:blip>
          <a:stretch>
            <a:fillRect/>
          </a:stretch>
        </p:blipFill>
        <p:spPr>
          <a:xfrm>
            <a:off x="7224921" y="140840"/>
            <a:ext cx="1543809" cy="1543809"/>
          </a:xfrm>
          <a:prstGeom prst="rect">
            <a:avLst/>
          </a:prstGeom>
          <a:ln w="12700">
            <a:miter lim="400000"/>
          </a:ln>
        </p:spPr>
      </p:pic>
    </p:spTree>
  </p:cSld>
  <p:clrMapOvr>
    <a:masterClrMapping/>
  </p:clrMapOvr>
  <p:transition xmlns:p14="http://schemas.microsoft.com/office/powerpoint/2010/main" spd="med" advClick="1"/>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69"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670" name="Title"/>
          <p:cNvSpPr txBox="1"/>
          <p:nvPr/>
        </p:nvSpPr>
        <p:spPr>
          <a:xfrm>
            <a:off x="358997" y="658462"/>
            <a:ext cx="6121813"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latin typeface="OpenSans-Regular"/>
                <a:ea typeface="OpenSans-Regular"/>
                <a:cs typeface="OpenSans-Regular"/>
                <a:sym typeface="OpenSans-Regular"/>
              </a:defRPr>
            </a:lvl1pPr>
          </a:lstStyle>
          <a:p>
            <a:pPr/>
            <a:r>
              <a:t>Step 7: Implement --explain Argument</a:t>
            </a:r>
          </a:p>
        </p:txBody>
      </p:sp>
      <p:sp>
        <p:nvSpPr>
          <p:cNvPr id="671"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672"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673" name="Subtitle 1"/>
          <p:cNvSpPr txBox="1"/>
          <p:nvPr/>
        </p:nvSpPr>
        <p:spPr>
          <a:xfrm>
            <a:off x="610313" y="2188614"/>
            <a:ext cx="2678575"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Extended Output Mode</a:t>
            </a:r>
          </a:p>
        </p:txBody>
      </p:sp>
      <p:sp>
        <p:nvSpPr>
          <p:cNvPr id="674"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Add logic to detect `--explain` and display verbose descriptions for each metric's status.</a:t>
            </a:r>
          </a:p>
        </p:txBody>
      </p:sp>
      <p:sp>
        <p:nvSpPr>
          <p:cNvPr id="675"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676" name="Subtitle 2"/>
          <p:cNvSpPr txBox="1"/>
          <p:nvPr/>
        </p:nvSpPr>
        <p:spPr>
          <a:xfrm>
            <a:off x="597599" y="3186216"/>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Human-Friendly Language</a:t>
            </a:r>
          </a:p>
        </p:txBody>
      </p:sp>
      <p:sp>
        <p:nvSpPr>
          <p:cNvPr id="677"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Translate raw values into plain language. For example, 'CPU usage is above threshold. This may affect performance.'</a:t>
            </a:r>
          </a:p>
        </p:txBody>
      </p:sp>
      <p:sp>
        <p:nvSpPr>
          <p:cNvPr id="678"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679" name="Subtitle 3"/>
          <p:cNvSpPr txBox="1"/>
          <p:nvPr/>
        </p:nvSpPr>
        <p:spPr>
          <a:xfrm>
            <a:off x="597598" y="4387460"/>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Optional JSON or Markdown</a:t>
            </a:r>
          </a:p>
        </p:txBody>
      </p:sp>
      <p:sp>
        <p:nvSpPr>
          <p:cNvPr id="680"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Support output in structured formats for integration with monitoring tools or dashboards.</a:t>
            </a:r>
          </a:p>
        </p:txBody>
      </p:sp>
      <p:sp>
        <p:nvSpPr>
          <p:cNvPr id="681" name="StaticPath"/>
          <p:cNvSpPr/>
          <p:nvPr/>
        </p:nvSpPr>
        <p:spPr>
          <a:xfrm rot="10800000">
            <a:off x="6963417" y="206505"/>
            <a:ext cx="48579" cy="1157289"/>
          </a:xfrm>
          <a:prstGeom prst="rect">
            <a:avLst/>
          </a:prstGeom>
          <a:solidFill>
            <a:srgbClr val="3F51B5"/>
          </a:solidFill>
          <a:ln w="12700">
            <a:miter lim="400000"/>
          </a:ln>
        </p:spPr>
        <p:txBody>
          <a:bodyPr lIns="45719" rIns="45719"/>
          <a:lstStyle/>
          <a:p>
            <a:pPr/>
          </a:p>
        </p:txBody>
      </p:sp>
      <p:sp>
        <p:nvSpPr>
          <p:cNvPr id="682"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683"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684" name="Image" descr="Image"/>
          <p:cNvPicPr>
            <a:picLocks noChangeAspect="1"/>
          </p:cNvPicPr>
          <p:nvPr/>
        </p:nvPicPr>
        <p:blipFill>
          <a:blip r:embed="rId2">
            <a:extLst/>
          </a:blip>
          <a:stretch>
            <a:fillRect/>
          </a:stretch>
        </p:blipFill>
        <p:spPr>
          <a:xfrm>
            <a:off x="7143012" y="151912"/>
            <a:ext cx="1608057" cy="1608056"/>
          </a:xfrm>
          <a:prstGeom prst="rect">
            <a:avLst/>
          </a:prstGeom>
          <a:ln w="12700">
            <a:miter lim="400000"/>
          </a:ln>
        </p:spPr>
      </p:pic>
    </p:spTree>
  </p:cSld>
  <p:clrMapOvr>
    <a:masterClrMapping/>
  </p:clrMapOvr>
  <p:transition xmlns:p14="http://schemas.microsoft.com/office/powerpoint/2010/main" spd="med" advClick="1"/>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86"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687"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8: Add Logging &amp; Formatting</a:t>
            </a:r>
          </a:p>
        </p:txBody>
      </p:sp>
      <p:sp>
        <p:nvSpPr>
          <p:cNvPr id="688"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689"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690"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Log Important Events</a:t>
            </a:r>
          </a:p>
        </p:txBody>
      </p:sp>
      <p:sp>
        <p:nvSpPr>
          <p:cNvPr id="691"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`logger` or redirect output to a log file for tracking script execution and results.</a:t>
            </a:r>
          </a:p>
        </p:txBody>
      </p:sp>
      <p:sp>
        <p:nvSpPr>
          <p:cNvPr id="692"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693"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Terminal Aesthetics</a:t>
            </a:r>
          </a:p>
        </p:txBody>
      </p:sp>
      <p:sp>
        <p:nvSpPr>
          <p:cNvPr id="694"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ANSI color codes for red (critical), yellow (warning), and green (healthy) statuses to improve readability.</a:t>
            </a:r>
          </a:p>
        </p:txBody>
      </p:sp>
      <p:sp>
        <p:nvSpPr>
          <p:cNvPr id="695"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696"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Error Handling</a:t>
            </a:r>
          </a:p>
        </p:txBody>
      </p:sp>
      <p:sp>
        <p:nvSpPr>
          <p:cNvPr id="697"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Include fallback logic for missing tools or malformed inputs to make the script robust.</a:t>
            </a:r>
          </a:p>
        </p:txBody>
      </p:sp>
      <p:sp>
        <p:nvSpPr>
          <p:cNvPr id="698" name="StaticPath"/>
          <p:cNvSpPr/>
          <p:nvPr/>
        </p:nvSpPr>
        <p:spPr>
          <a:xfrm rot="10800000">
            <a:off x="6963417" y="277939"/>
            <a:ext cx="48579" cy="1157289"/>
          </a:xfrm>
          <a:prstGeom prst="rect">
            <a:avLst/>
          </a:prstGeom>
          <a:solidFill>
            <a:srgbClr val="3F51B5"/>
          </a:solidFill>
          <a:ln w="12700">
            <a:miter lim="400000"/>
          </a:ln>
        </p:spPr>
        <p:txBody>
          <a:bodyPr lIns="45719" rIns="45719"/>
          <a:lstStyle/>
          <a:p>
            <a:pPr/>
          </a:p>
        </p:txBody>
      </p:sp>
      <p:sp>
        <p:nvSpPr>
          <p:cNvPr id="699"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700"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701" name="Image" descr="Image"/>
          <p:cNvPicPr>
            <a:picLocks noChangeAspect="1"/>
          </p:cNvPicPr>
          <p:nvPr/>
        </p:nvPicPr>
        <p:blipFill>
          <a:blip r:embed="rId2">
            <a:extLst/>
          </a:blip>
          <a:stretch>
            <a:fillRect/>
          </a:stretch>
        </p:blipFill>
        <p:spPr>
          <a:xfrm>
            <a:off x="7138208" y="26132"/>
            <a:ext cx="1733837" cy="1733836"/>
          </a:xfrm>
          <a:prstGeom prst="rect">
            <a:avLst/>
          </a:prstGeom>
          <a:ln w="12700">
            <a:miter lim="400000"/>
          </a:ln>
        </p:spPr>
      </p:pic>
    </p:spTree>
  </p:cSld>
  <p:clrMapOvr>
    <a:masterClrMapping/>
  </p:clrMapOvr>
  <p:transition xmlns:p14="http://schemas.microsoft.com/office/powerpoint/2010/main" spd="med" advClick="1"/>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03"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704"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9: Test Across VM Types</a:t>
            </a:r>
          </a:p>
        </p:txBody>
      </p:sp>
      <p:sp>
        <p:nvSpPr>
          <p:cNvPr id="705"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706"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707" name="Subtitle 1"/>
          <p:cNvSpPr txBox="1"/>
          <p:nvPr/>
        </p:nvSpPr>
        <p:spPr>
          <a:xfrm>
            <a:off x="610313" y="2188614"/>
            <a:ext cx="2678575"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Run on Different Environments</a:t>
            </a:r>
          </a:p>
        </p:txBody>
      </p:sp>
      <p:sp>
        <p:nvSpPr>
          <p:cNvPr id="708"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Test the script on small, medium, and large VMs to ensure thresholds are realistic across contexts.</a:t>
            </a:r>
          </a:p>
        </p:txBody>
      </p:sp>
      <p:sp>
        <p:nvSpPr>
          <p:cNvPr id="709"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710" name="Subtitle 2"/>
          <p:cNvSpPr txBox="1"/>
          <p:nvPr/>
        </p:nvSpPr>
        <p:spPr>
          <a:xfrm>
            <a:off x="597599" y="3186216"/>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Validate --explain Output</a:t>
            </a:r>
          </a:p>
        </p:txBody>
      </p:sp>
      <p:sp>
        <p:nvSpPr>
          <p:cNvPr id="711"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Check if the extended output works as expected across varied loads and edge cases.</a:t>
            </a:r>
          </a:p>
        </p:txBody>
      </p:sp>
      <p:sp>
        <p:nvSpPr>
          <p:cNvPr id="712"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713" name="Subtitle 3"/>
          <p:cNvSpPr txBox="1"/>
          <p:nvPr/>
        </p:nvSpPr>
        <p:spPr>
          <a:xfrm>
            <a:off x="597598" y="4387460"/>
            <a:ext cx="2691290" cy="2946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300">
                <a:latin typeface="OpenSans-Bold"/>
                <a:ea typeface="OpenSans-Bold"/>
                <a:cs typeface="OpenSans-Bold"/>
                <a:sym typeface="OpenSans-Bold"/>
              </a:defRPr>
            </a:lvl1pPr>
          </a:lstStyle>
          <a:p>
            <a:pPr/>
            <a:r>
              <a:t>Automate Testing</a:t>
            </a:r>
          </a:p>
        </p:txBody>
      </p:sp>
      <p:sp>
        <p:nvSpPr>
          <p:cNvPr id="714"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cron jobs or CI pipelines to run and verify health checks periodically.</a:t>
            </a:r>
          </a:p>
        </p:txBody>
      </p:sp>
      <p:sp>
        <p:nvSpPr>
          <p:cNvPr id="715" name="StaticPath"/>
          <p:cNvSpPr/>
          <p:nvPr/>
        </p:nvSpPr>
        <p:spPr>
          <a:xfrm rot="10800000">
            <a:off x="6963417" y="206505"/>
            <a:ext cx="48579" cy="1157289"/>
          </a:xfrm>
          <a:prstGeom prst="rect">
            <a:avLst/>
          </a:prstGeom>
          <a:solidFill>
            <a:srgbClr val="3F51B5"/>
          </a:solidFill>
          <a:ln w="12700">
            <a:miter lim="400000"/>
          </a:ln>
        </p:spPr>
        <p:txBody>
          <a:bodyPr lIns="45719" rIns="45719"/>
          <a:lstStyle/>
          <a:p>
            <a:pPr/>
          </a:p>
        </p:txBody>
      </p:sp>
      <p:sp>
        <p:nvSpPr>
          <p:cNvPr id="716"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717"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718" name="Image" descr="Image"/>
          <p:cNvPicPr>
            <a:picLocks noChangeAspect="1"/>
          </p:cNvPicPr>
          <p:nvPr/>
        </p:nvPicPr>
        <p:blipFill>
          <a:blip r:embed="rId2">
            <a:extLst/>
          </a:blip>
          <a:stretch>
            <a:fillRect/>
          </a:stretch>
        </p:blipFill>
        <p:spPr>
          <a:xfrm>
            <a:off x="7129433" y="124752"/>
            <a:ext cx="1635216" cy="1635216"/>
          </a:xfrm>
          <a:prstGeom prst="rect">
            <a:avLst/>
          </a:prstGeom>
          <a:ln w="12700">
            <a:miter lim="400000"/>
          </a:ln>
        </p:spPr>
      </p:pic>
    </p:spTree>
  </p:cSld>
  <p:clrMapOvr>
    <a:masterClrMapping/>
  </p:clrMapOvr>
  <p:transition xmlns:p14="http://schemas.microsoft.com/office/powerpoint/2010/main" spd="med" advClick="1"/>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0"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721"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10: Script Usage Examples</a:t>
            </a:r>
          </a:p>
        </p:txBody>
      </p:sp>
      <p:sp>
        <p:nvSpPr>
          <p:cNvPr id="722"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723"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724"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Basic Execution</a:t>
            </a:r>
          </a:p>
        </p:txBody>
      </p:sp>
      <p:sp>
        <p:nvSpPr>
          <p:cNvPr id="725"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Run `./health_check.sh` to print the current health status of the VM to the terminal.</a:t>
            </a:r>
          </a:p>
        </p:txBody>
      </p:sp>
      <p:sp>
        <p:nvSpPr>
          <p:cNvPr id="726"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727"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Verbose Mode</a:t>
            </a:r>
          </a:p>
        </p:txBody>
      </p:sp>
      <p:sp>
        <p:nvSpPr>
          <p:cNvPr id="728"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Run `./health_check.sh --explain` to get detailed output explaining each metric and its implications.</a:t>
            </a:r>
          </a:p>
        </p:txBody>
      </p:sp>
      <p:sp>
        <p:nvSpPr>
          <p:cNvPr id="729"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730"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Automated Monitoring</a:t>
            </a:r>
          </a:p>
        </p:txBody>
      </p:sp>
      <p:sp>
        <p:nvSpPr>
          <p:cNvPr id="731"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Integrate into cron with `*/15 * * * * /path/to/health_check.sh &gt;&gt; /var/log/vm_health.log`</a:t>
            </a:r>
          </a:p>
        </p:txBody>
      </p:sp>
      <p:sp>
        <p:nvSpPr>
          <p:cNvPr id="732" name="StaticPath"/>
          <p:cNvSpPr/>
          <p:nvPr/>
        </p:nvSpPr>
        <p:spPr>
          <a:xfrm rot="10800000">
            <a:off x="6909672" y="186854"/>
            <a:ext cx="48579" cy="1157289"/>
          </a:xfrm>
          <a:prstGeom prst="rect">
            <a:avLst/>
          </a:prstGeom>
          <a:solidFill>
            <a:srgbClr val="3F51B5"/>
          </a:solidFill>
          <a:ln w="12700">
            <a:miter lim="400000"/>
          </a:ln>
        </p:spPr>
        <p:txBody>
          <a:bodyPr lIns="45719" rIns="45719"/>
          <a:lstStyle/>
          <a:p>
            <a:pPr/>
          </a:p>
        </p:txBody>
      </p:sp>
      <p:sp>
        <p:nvSpPr>
          <p:cNvPr id="733"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734"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735" name="Image" descr="Image"/>
          <p:cNvPicPr>
            <a:picLocks noChangeAspect="1"/>
          </p:cNvPicPr>
          <p:nvPr/>
        </p:nvPicPr>
        <p:blipFill>
          <a:blip r:embed="rId2">
            <a:extLst/>
          </a:blip>
          <a:stretch>
            <a:fillRect/>
          </a:stretch>
        </p:blipFill>
        <p:spPr>
          <a:xfrm>
            <a:off x="7080122" y="26132"/>
            <a:ext cx="1733837" cy="1733836"/>
          </a:xfrm>
          <a:prstGeom prst="rect">
            <a:avLst/>
          </a:prstGeom>
          <a:ln w="12700">
            <a:miter lim="400000"/>
          </a:ln>
        </p:spPr>
      </p:pic>
    </p:spTree>
  </p:cSld>
  <p:clrMapOvr>
    <a:masterClrMapping/>
  </p:clrMapOvr>
  <p:transition xmlns:p14="http://schemas.microsoft.com/office/powerpoint/2010/main" spd="med" advClick="1"/>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37"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738" name="Title"/>
          <p:cNvSpPr txBox="1"/>
          <p:nvPr/>
        </p:nvSpPr>
        <p:spPr>
          <a:xfrm>
            <a:off x="358997" y="658462"/>
            <a:ext cx="6121813" cy="3962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000">
                <a:latin typeface="OpenSans-Regular"/>
                <a:ea typeface="OpenSans-Regular"/>
                <a:cs typeface="OpenSans-Regular"/>
                <a:sym typeface="OpenSans-Regular"/>
              </a:defRPr>
            </a:lvl1pPr>
          </a:lstStyle>
          <a:p>
            <a:pPr/>
            <a:r>
              <a:t>Step 11: Automate Health Monitoring</a:t>
            </a:r>
          </a:p>
        </p:txBody>
      </p:sp>
      <p:sp>
        <p:nvSpPr>
          <p:cNvPr id="739"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740"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741"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Using Cron Jobs</a:t>
            </a:r>
          </a:p>
        </p:txBody>
      </p:sp>
      <p:sp>
        <p:nvSpPr>
          <p:cNvPr id="742"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Schedule the script to run periodically using `crontab -e` with your preferred timing interval.</a:t>
            </a:r>
          </a:p>
        </p:txBody>
      </p:sp>
      <p:sp>
        <p:nvSpPr>
          <p:cNvPr id="743"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744"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Email Alerts</a:t>
            </a:r>
          </a:p>
        </p:txBody>
      </p:sp>
      <p:sp>
        <p:nvSpPr>
          <p:cNvPr id="745"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`mail` or `sendmail` to notify ops teams of unhealthy statuses directly from the script.</a:t>
            </a:r>
          </a:p>
        </p:txBody>
      </p:sp>
      <p:sp>
        <p:nvSpPr>
          <p:cNvPr id="746"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747"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Integrate with Dashboards</a:t>
            </a:r>
          </a:p>
        </p:txBody>
      </p:sp>
      <p:sp>
        <p:nvSpPr>
          <p:cNvPr id="748"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Log results in a format consumable by Prometheus/Grafana or custom monitoring UIs.</a:t>
            </a:r>
          </a:p>
        </p:txBody>
      </p:sp>
      <p:sp>
        <p:nvSpPr>
          <p:cNvPr id="749" name="StaticPath"/>
          <p:cNvSpPr/>
          <p:nvPr/>
        </p:nvSpPr>
        <p:spPr>
          <a:xfrm rot="10800000">
            <a:off x="6909672" y="167204"/>
            <a:ext cx="48579" cy="1157289"/>
          </a:xfrm>
          <a:prstGeom prst="rect">
            <a:avLst/>
          </a:prstGeom>
          <a:solidFill>
            <a:srgbClr val="3F51B5"/>
          </a:solidFill>
          <a:ln w="12700">
            <a:miter lim="400000"/>
          </a:ln>
        </p:spPr>
        <p:txBody>
          <a:bodyPr lIns="45719" rIns="45719"/>
          <a:lstStyle/>
          <a:p>
            <a:pPr/>
          </a:p>
        </p:txBody>
      </p:sp>
      <p:sp>
        <p:nvSpPr>
          <p:cNvPr id="750"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751"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752" name="Image" descr="Image"/>
          <p:cNvPicPr>
            <a:picLocks noChangeAspect="1"/>
          </p:cNvPicPr>
          <p:nvPr/>
        </p:nvPicPr>
        <p:blipFill>
          <a:blip r:embed="rId2">
            <a:extLst/>
          </a:blip>
          <a:stretch>
            <a:fillRect/>
          </a:stretch>
        </p:blipFill>
        <p:spPr>
          <a:xfrm>
            <a:off x="7080122" y="26132"/>
            <a:ext cx="1733837" cy="1733836"/>
          </a:xfrm>
          <a:prstGeom prst="rect">
            <a:avLst/>
          </a:prstGeom>
          <a:ln w="12700">
            <a:miter lim="400000"/>
          </a:ln>
        </p:spPr>
      </p:pic>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4" name="StaticPath"/>
          <p:cNvSpPr/>
          <p:nvPr/>
        </p:nvSpPr>
        <p:spPr>
          <a:xfrm>
            <a:off x="0" y="2143125"/>
            <a:ext cx="9144000" cy="2943225"/>
          </a:xfrm>
          <a:prstGeom prst="rect">
            <a:avLst/>
          </a:prstGeom>
          <a:solidFill>
            <a:srgbClr val="3F51B5">
              <a:alpha val="10000"/>
            </a:srgbClr>
          </a:solidFill>
          <a:ln w="12700">
            <a:miter lim="400000"/>
          </a:ln>
        </p:spPr>
        <p:txBody>
          <a:bodyPr lIns="45719" rIns="45719"/>
          <a:lstStyle/>
          <a:p>
            <a:pPr/>
          </a:p>
        </p:txBody>
      </p:sp>
      <p:sp>
        <p:nvSpPr>
          <p:cNvPr id="755" name="Title"/>
          <p:cNvSpPr txBox="1"/>
          <p:nvPr/>
        </p:nvSpPr>
        <p:spPr>
          <a:xfrm>
            <a:off x="358997" y="652112"/>
            <a:ext cx="6121813" cy="4089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2100">
                <a:latin typeface="OpenSans-Regular"/>
                <a:ea typeface="OpenSans-Regular"/>
                <a:cs typeface="OpenSans-Regular"/>
                <a:sym typeface="OpenSans-Regular"/>
              </a:defRPr>
            </a:lvl1pPr>
          </a:lstStyle>
          <a:p>
            <a:pPr/>
            <a:r>
              <a:t>Step 12: Walkthrough Demo</a:t>
            </a:r>
          </a:p>
        </p:txBody>
      </p:sp>
      <p:sp>
        <p:nvSpPr>
          <p:cNvPr id="756" name="StaticPath"/>
          <p:cNvSpPr/>
          <p:nvPr/>
        </p:nvSpPr>
        <p:spPr>
          <a:xfrm>
            <a:off x="313277" y="518111"/>
            <a:ext cx="4726305" cy="42864"/>
          </a:xfrm>
          <a:prstGeom prst="rect">
            <a:avLst/>
          </a:prstGeom>
          <a:solidFill>
            <a:srgbClr val="3F51B5"/>
          </a:solidFill>
          <a:ln w="12700">
            <a:miter lim="400000"/>
          </a:ln>
        </p:spPr>
        <p:txBody>
          <a:bodyPr lIns="45719" rIns="45719"/>
          <a:lstStyle/>
          <a:p>
            <a:pPr/>
          </a:p>
        </p:txBody>
      </p:sp>
      <p:sp>
        <p:nvSpPr>
          <p:cNvPr id="757" name="StaticPath"/>
          <p:cNvSpPr/>
          <p:nvPr/>
        </p:nvSpPr>
        <p:spPr>
          <a:xfrm>
            <a:off x="281272" y="2226849"/>
            <a:ext cx="157164" cy="157164"/>
          </a:xfrm>
          <a:prstGeom prst="rect">
            <a:avLst/>
          </a:prstGeom>
          <a:solidFill>
            <a:srgbClr val="3F51B5"/>
          </a:solidFill>
          <a:ln w="12700">
            <a:miter lim="400000"/>
          </a:ln>
        </p:spPr>
        <p:txBody>
          <a:bodyPr lIns="45719" rIns="45719"/>
          <a:lstStyle/>
          <a:p>
            <a:pPr/>
          </a:p>
        </p:txBody>
      </p:sp>
      <p:sp>
        <p:nvSpPr>
          <p:cNvPr id="758" name="Subtitle 1"/>
          <p:cNvSpPr txBox="1"/>
          <p:nvPr/>
        </p:nvSpPr>
        <p:spPr>
          <a:xfrm>
            <a:off x="610313" y="2182264"/>
            <a:ext cx="2678575"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Demo Objectives</a:t>
            </a:r>
          </a:p>
        </p:txBody>
      </p:sp>
      <p:sp>
        <p:nvSpPr>
          <p:cNvPr id="759" name="Paragraph 1"/>
          <p:cNvSpPr txBox="1"/>
          <p:nvPr/>
        </p:nvSpPr>
        <p:spPr>
          <a:xfrm>
            <a:off x="3687890" y="2268537"/>
            <a:ext cx="5147310"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Show how the script runs, outputs statuses, and responds to `--explain`.</a:t>
            </a:r>
          </a:p>
        </p:txBody>
      </p:sp>
      <p:sp>
        <p:nvSpPr>
          <p:cNvPr id="760" name="StaticPath"/>
          <p:cNvSpPr/>
          <p:nvPr/>
        </p:nvSpPr>
        <p:spPr>
          <a:xfrm>
            <a:off x="251412" y="3224451"/>
            <a:ext cx="157164" cy="157164"/>
          </a:xfrm>
          <a:prstGeom prst="rect">
            <a:avLst/>
          </a:prstGeom>
          <a:solidFill>
            <a:srgbClr val="3F51B5"/>
          </a:solidFill>
          <a:ln w="12700">
            <a:miter lim="400000"/>
          </a:ln>
        </p:spPr>
        <p:txBody>
          <a:bodyPr lIns="45719" rIns="45719"/>
          <a:lstStyle/>
          <a:p>
            <a:pPr/>
          </a:p>
        </p:txBody>
      </p:sp>
      <p:sp>
        <p:nvSpPr>
          <p:cNvPr id="761" name="Subtitle 2"/>
          <p:cNvSpPr txBox="1"/>
          <p:nvPr/>
        </p:nvSpPr>
        <p:spPr>
          <a:xfrm>
            <a:off x="597599" y="3179866"/>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Recording or Live Run</a:t>
            </a:r>
          </a:p>
        </p:txBody>
      </p:sp>
      <p:sp>
        <p:nvSpPr>
          <p:cNvPr id="762" name="Paragraph 2"/>
          <p:cNvSpPr txBox="1"/>
          <p:nvPr/>
        </p:nvSpPr>
        <p:spPr>
          <a:xfrm>
            <a:off x="3675839" y="3274947"/>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Use screen recording or live terminal share to walk through setup, usage, and output.</a:t>
            </a:r>
          </a:p>
        </p:txBody>
      </p:sp>
      <p:sp>
        <p:nvSpPr>
          <p:cNvPr id="763" name="StaticPath"/>
          <p:cNvSpPr/>
          <p:nvPr/>
        </p:nvSpPr>
        <p:spPr>
          <a:xfrm>
            <a:off x="236553" y="4316586"/>
            <a:ext cx="157163" cy="157164"/>
          </a:xfrm>
          <a:prstGeom prst="rect">
            <a:avLst/>
          </a:prstGeom>
          <a:solidFill>
            <a:srgbClr val="3F51B5"/>
          </a:solidFill>
          <a:ln w="12700">
            <a:miter lim="400000"/>
          </a:ln>
        </p:spPr>
        <p:txBody>
          <a:bodyPr lIns="45719" rIns="45719"/>
          <a:lstStyle/>
          <a:p>
            <a:pPr/>
          </a:p>
        </p:txBody>
      </p:sp>
      <p:sp>
        <p:nvSpPr>
          <p:cNvPr id="764" name="Subtitle 3"/>
          <p:cNvSpPr txBox="1"/>
          <p:nvPr/>
        </p:nvSpPr>
        <p:spPr>
          <a:xfrm>
            <a:off x="597598" y="4381110"/>
            <a:ext cx="2691290" cy="3073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b="1" sz="1400">
                <a:latin typeface="OpenSans-Bold"/>
                <a:ea typeface="OpenSans-Bold"/>
                <a:cs typeface="OpenSans-Bold"/>
                <a:sym typeface="OpenSans-Bold"/>
              </a:defRPr>
            </a:lvl1pPr>
          </a:lstStyle>
          <a:p>
            <a:pPr/>
            <a:r>
              <a:t>Validation</a:t>
            </a:r>
          </a:p>
        </p:txBody>
      </p:sp>
      <p:sp>
        <p:nvSpPr>
          <p:cNvPr id="765" name="Paragraph 3"/>
          <p:cNvSpPr txBox="1"/>
          <p:nvPr/>
        </p:nvSpPr>
        <p:spPr>
          <a:xfrm>
            <a:off x="3675839" y="4358989"/>
            <a:ext cx="5147311" cy="49784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300">
                <a:latin typeface="OpenSans-Regular"/>
                <a:ea typeface="OpenSans-Regular"/>
                <a:cs typeface="OpenSans-Regular"/>
                <a:sym typeface="OpenSans-Regular"/>
              </a:defRPr>
            </a:lvl1pPr>
          </a:lstStyle>
          <a:p>
            <a:pPr/>
            <a:r>
              <a:t>Confirm script behavior under high CPU, low memory, or full disk scenarios.</a:t>
            </a:r>
          </a:p>
        </p:txBody>
      </p:sp>
      <p:sp>
        <p:nvSpPr>
          <p:cNvPr id="766" name="StaticPath"/>
          <p:cNvSpPr/>
          <p:nvPr/>
        </p:nvSpPr>
        <p:spPr>
          <a:xfrm rot="10800000">
            <a:off x="6909877" y="226155"/>
            <a:ext cx="48579" cy="1157289"/>
          </a:xfrm>
          <a:prstGeom prst="rect">
            <a:avLst/>
          </a:prstGeom>
          <a:solidFill>
            <a:srgbClr val="3F51B5"/>
          </a:solidFill>
          <a:ln w="12700">
            <a:miter lim="400000"/>
          </a:ln>
        </p:spPr>
        <p:txBody>
          <a:bodyPr lIns="45719" rIns="45719"/>
          <a:lstStyle/>
          <a:p>
            <a:pPr/>
          </a:p>
        </p:txBody>
      </p:sp>
      <p:sp>
        <p:nvSpPr>
          <p:cNvPr id="767" name="StaticPath"/>
          <p:cNvSpPr/>
          <p:nvPr/>
        </p:nvSpPr>
        <p:spPr>
          <a:xfrm>
            <a:off x="7014019" y="1813989"/>
            <a:ext cx="1263016" cy="37149"/>
          </a:xfrm>
          <a:prstGeom prst="rect">
            <a:avLst/>
          </a:prstGeom>
          <a:solidFill>
            <a:srgbClr val="3F51B5"/>
          </a:solidFill>
          <a:ln w="12700">
            <a:miter lim="400000"/>
          </a:ln>
        </p:spPr>
        <p:txBody>
          <a:bodyPr lIns="45719" rIns="45719"/>
          <a:lstStyle/>
          <a:p>
            <a:pPr/>
          </a:p>
        </p:txBody>
      </p:sp>
      <p:sp>
        <p:nvSpPr>
          <p:cNvPr id="768" name="StaticPath"/>
          <p:cNvSpPr/>
          <p:nvPr/>
        </p:nvSpPr>
        <p:spPr>
          <a:xfrm rot="10800000">
            <a:off x="8935831" y="272653"/>
            <a:ext cx="48579" cy="1157288"/>
          </a:xfrm>
          <a:prstGeom prst="rect">
            <a:avLst/>
          </a:prstGeom>
          <a:solidFill>
            <a:srgbClr val="3F51B5"/>
          </a:solidFill>
          <a:ln w="12700">
            <a:miter lim="400000"/>
          </a:ln>
        </p:spPr>
        <p:txBody>
          <a:bodyPr lIns="45719" rIns="45719"/>
          <a:lstStyle/>
          <a:p>
            <a:pPr/>
          </a:p>
        </p:txBody>
      </p:sp>
      <p:pic>
        <p:nvPicPr>
          <p:cNvPr id="769" name="Image" descr="Image"/>
          <p:cNvPicPr>
            <a:picLocks noChangeAspect="1"/>
          </p:cNvPicPr>
          <p:nvPr/>
        </p:nvPicPr>
        <p:blipFill>
          <a:blip r:embed="rId2">
            <a:extLst/>
          </a:blip>
          <a:stretch>
            <a:fillRect/>
          </a:stretch>
        </p:blipFill>
        <p:spPr>
          <a:xfrm>
            <a:off x="7162337" y="134892"/>
            <a:ext cx="1569408" cy="1569408"/>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